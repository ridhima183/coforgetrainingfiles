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389" r:id="rId4"/>
    <p:sldId id="259" r:id="rId5"/>
    <p:sldId id="260" r:id="rId6"/>
    <p:sldId id="288" r:id="rId7"/>
    <p:sldId id="289" r:id="rId8"/>
    <p:sldId id="290" r:id="rId9"/>
    <p:sldId id="291" r:id="rId10"/>
    <p:sldId id="261" r:id="rId11"/>
    <p:sldId id="287" r:id="rId12"/>
    <p:sldId id="391" r:id="rId13"/>
    <p:sldId id="292" r:id="rId14"/>
    <p:sldId id="390" r:id="rId15"/>
    <p:sldId id="293" r:id="rId16"/>
    <p:sldId id="294" r:id="rId17"/>
    <p:sldId id="295" r:id="rId18"/>
    <p:sldId id="257" r:id="rId19"/>
    <p:sldId id="262" r:id="rId20"/>
    <p:sldId id="368" r:id="rId21"/>
    <p:sldId id="369" r:id="rId22"/>
    <p:sldId id="263" r:id="rId23"/>
    <p:sldId id="264" r:id="rId24"/>
    <p:sldId id="265" r:id="rId25"/>
    <p:sldId id="266" r:id="rId26"/>
    <p:sldId id="267" r:id="rId27"/>
    <p:sldId id="268" r:id="rId28"/>
    <p:sldId id="269" r:id="rId29"/>
    <p:sldId id="279" r:id="rId30"/>
    <p:sldId id="280" r:id="rId31"/>
    <p:sldId id="281" r:id="rId32"/>
    <p:sldId id="282" r:id="rId33"/>
    <p:sldId id="283" r:id="rId34"/>
    <p:sldId id="370" r:id="rId35"/>
    <p:sldId id="371" r:id="rId36"/>
    <p:sldId id="372" r:id="rId37"/>
    <p:sldId id="285" r:id="rId38"/>
    <p:sldId id="286" r:id="rId39"/>
    <p:sldId id="270" r:id="rId40"/>
    <p:sldId id="271" r:id="rId41"/>
    <p:sldId id="296" r:id="rId42"/>
    <p:sldId id="297" r:id="rId43"/>
    <p:sldId id="299" r:id="rId44"/>
    <p:sldId id="300" r:id="rId45"/>
    <p:sldId id="301" r:id="rId46"/>
    <p:sldId id="302" r:id="rId47"/>
    <p:sldId id="303" r:id="rId48"/>
    <p:sldId id="304" r:id="rId49"/>
    <p:sldId id="305" r:id="rId50"/>
    <p:sldId id="306" r:id="rId51"/>
    <p:sldId id="313" r:id="rId52"/>
    <p:sldId id="307" r:id="rId53"/>
    <p:sldId id="308" r:id="rId54"/>
    <p:sldId id="309" r:id="rId55"/>
    <p:sldId id="310" r:id="rId56"/>
    <p:sldId id="311" r:id="rId57"/>
    <p:sldId id="278" r:id="rId58"/>
    <p:sldId id="314" r:id="rId59"/>
    <p:sldId id="315" r:id="rId60"/>
    <p:sldId id="316" r:id="rId61"/>
    <p:sldId id="317" r:id="rId62"/>
    <p:sldId id="318" r:id="rId63"/>
    <p:sldId id="319" r:id="rId64"/>
    <p:sldId id="321" r:id="rId65"/>
    <p:sldId id="320" r:id="rId66"/>
    <p:sldId id="322" r:id="rId67"/>
    <p:sldId id="383" r:id="rId68"/>
    <p:sldId id="384" r:id="rId69"/>
    <p:sldId id="324" r:id="rId70"/>
    <p:sldId id="326" r:id="rId71"/>
    <p:sldId id="382" r:id="rId72"/>
    <p:sldId id="333" r:id="rId73"/>
    <p:sldId id="334" r:id="rId74"/>
    <p:sldId id="327" r:id="rId75"/>
    <p:sldId id="328" r:id="rId76"/>
    <p:sldId id="329" r:id="rId77"/>
    <p:sldId id="330" r:id="rId78"/>
    <p:sldId id="331" r:id="rId79"/>
    <p:sldId id="332" r:id="rId80"/>
    <p:sldId id="392" r:id="rId81"/>
    <p:sldId id="393" r:id="rId82"/>
    <p:sldId id="394" r:id="rId83"/>
    <p:sldId id="335" r:id="rId84"/>
    <p:sldId id="336" r:id="rId85"/>
    <p:sldId id="337" r:id="rId86"/>
    <p:sldId id="338" r:id="rId87"/>
    <p:sldId id="339" r:id="rId88"/>
    <p:sldId id="398" r:id="rId89"/>
    <p:sldId id="399" r:id="rId90"/>
    <p:sldId id="340" r:id="rId91"/>
    <p:sldId id="341" r:id="rId92"/>
    <p:sldId id="342" r:id="rId93"/>
    <p:sldId id="343" r:id="rId94"/>
    <p:sldId id="344" r:id="rId95"/>
    <p:sldId id="345" r:id="rId96"/>
    <p:sldId id="346" r:id="rId97"/>
    <p:sldId id="347" r:id="rId98"/>
    <p:sldId id="395" r:id="rId99"/>
    <p:sldId id="396" r:id="rId100"/>
    <p:sldId id="397" r:id="rId101"/>
    <p:sldId id="348" r:id="rId102"/>
    <p:sldId id="349" r:id="rId103"/>
    <p:sldId id="350" r:id="rId104"/>
    <p:sldId id="351" r:id="rId105"/>
    <p:sldId id="352" r:id="rId106"/>
    <p:sldId id="353" r:id="rId107"/>
    <p:sldId id="386" r:id="rId108"/>
    <p:sldId id="387" r:id="rId109"/>
    <p:sldId id="388" r:id="rId110"/>
    <p:sldId id="354" r:id="rId111"/>
    <p:sldId id="385" r:id="rId112"/>
    <p:sldId id="355" r:id="rId113"/>
    <p:sldId id="356" r:id="rId114"/>
    <p:sldId id="357" r:id="rId115"/>
    <p:sldId id="358" r:id="rId116"/>
    <p:sldId id="359" r:id="rId117"/>
    <p:sldId id="360" r:id="rId118"/>
    <p:sldId id="361" r:id="rId119"/>
    <p:sldId id="373" r:id="rId120"/>
    <p:sldId id="374" r:id="rId121"/>
    <p:sldId id="375" r:id="rId122"/>
    <p:sldId id="376" r:id="rId123"/>
    <p:sldId id="377" r:id="rId124"/>
    <p:sldId id="378" r:id="rId125"/>
    <p:sldId id="379" r:id="rId126"/>
    <p:sldId id="380" r:id="rId127"/>
    <p:sldId id="381" r:id="rId128"/>
    <p:sldId id="362" r:id="rId129"/>
    <p:sldId id="367" r:id="rId130"/>
    <p:sldId id="363" r:id="rId131"/>
    <p:sldId id="364" r:id="rId132"/>
    <p:sldId id="365" r:id="rId133"/>
    <p:sldId id="366" r:id="rId1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4A37D0-4F08-476A-B4DD-D67CD59C0A71}" type="doc">
      <dgm:prSet loTypeId="urn:microsoft.com/office/officeart/2008/layout/LinedList" loCatId="list" qsTypeId="urn:microsoft.com/office/officeart/2005/8/quickstyle/3d1" qsCatId="3D" csTypeId="urn:microsoft.com/office/officeart/2005/8/colors/accent1_1" csCatId="accent1" phldr="1"/>
      <dgm:spPr/>
      <dgm:t>
        <a:bodyPr/>
        <a:lstStyle/>
        <a:p>
          <a:endParaRPr lang="en-IN"/>
        </a:p>
      </dgm:t>
    </dgm:pt>
    <dgm:pt modelId="{E9EC74E6-72C1-4015-96E0-0E720A7C1F79}">
      <dgm:prSet custT="1"/>
      <dgm:spPr/>
      <dgm:t>
        <a:bodyPr/>
        <a:lstStyle/>
        <a:p>
          <a:r>
            <a:rPr lang="en-IN" sz="1800" b="1" i="0" dirty="0"/>
            <a:t>Data integrity refers to the overall accuracy, completeness, and consistency of data. </a:t>
          </a:r>
          <a:endParaRPr lang="en-IN" sz="1800" dirty="0"/>
        </a:p>
      </dgm:t>
    </dgm:pt>
    <dgm:pt modelId="{C4A79970-4171-46FE-B6E3-63E00072CD87}" type="parTrans" cxnId="{BE6E4796-EDD3-41AC-9D2C-7EF5029397C8}">
      <dgm:prSet/>
      <dgm:spPr/>
      <dgm:t>
        <a:bodyPr/>
        <a:lstStyle/>
        <a:p>
          <a:endParaRPr lang="en-IN" sz="2400"/>
        </a:p>
      </dgm:t>
    </dgm:pt>
    <dgm:pt modelId="{4BB39D51-4FBB-4922-A012-6383C2C71AA9}" type="sibTrans" cxnId="{BE6E4796-EDD3-41AC-9D2C-7EF5029397C8}">
      <dgm:prSet/>
      <dgm:spPr/>
      <dgm:t>
        <a:bodyPr/>
        <a:lstStyle/>
        <a:p>
          <a:endParaRPr lang="en-IN" sz="2400"/>
        </a:p>
      </dgm:t>
    </dgm:pt>
    <dgm:pt modelId="{40D35C27-88E3-463F-B92D-5AB37001C2A3}">
      <dgm:prSet custT="1"/>
      <dgm:spPr/>
      <dgm:t>
        <a:bodyPr/>
        <a:lstStyle/>
        <a:p>
          <a:r>
            <a:rPr lang="en-IN" sz="1800" b="1" i="0" dirty="0"/>
            <a:t>It is maintained by a collection of processes, rules, and standards implemented during the design phase.</a:t>
          </a:r>
          <a:r>
            <a:rPr lang="en-IN" sz="1800" b="0" i="0" dirty="0"/>
            <a:t> </a:t>
          </a:r>
          <a:endParaRPr lang="en-IN" sz="1800" dirty="0"/>
        </a:p>
      </dgm:t>
    </dgm:pt>
    <dgm:pt modelId="{0AD14274-D081-4EC9-96E4-E2342D375B51}" type="parTrans" cxnId="{819E7958-4369-4860-8E04-5F15FE83D1AE}">
      <dgm:prSet/>
      <dgm:spPr/>
      <dgm:t>
        <a:bodyPr/>
        <a:lstStyle/>
        <a:p>
          <a:endParaRPr lang="en-IN" sz="2400"/>
        </a:p>
      </dgm:t>
    </dgm:pt>
    <dgm:pt modelId="{C04969BC-ABFB-492A-8582-A9901F7A66BD}" type="sibTrans" cxnId="{819E7958-4369-4860-8E04-5F15FE83D1AE}">
      <dgm:prSet/>
      <dgm:spPr/>
      <dgm:t>
        <a:bodyPr/>
        <a:lstStyle/>
        <a:p>
          <a:endParaRPr lang="en-IN" sz="2400"/>
        </a:p>
      </dgm:t>
    </dgm:pt>
    <dgm:pt modelId="{DF425BE8-26B4-4605-99D1-6DC2CE658EF2}">
      <dgm:prSet custT="1"/>
      <dgm:spPr/>
      <dgm:t>
        <a:bodyPr/>
        <a:lstStyle/>
        <a:p>
          <a:r>
            <a:rPr lang="en-IN" sz="1800" b="1" i="0" dirty="0"/>
            <a:t>When the integrity of data is secure, the information stored in a database will remain complete, accurate, and reliable no matter how long it’s stored or how often it’s accessed. </a:t>
          </a:r>
          <a:endParaRPr lang="en-IN" sz="1800" b="1" dirty="0"/>
        </a:p>
      </dgm:t>
    </dgm:pt>
    <dgm:pt modelId="{29115A3A-C3A0-4BD7-8556-9720B34C7299}" type="parTrans" cxnId="{FEA7A231-E03C-40E5-8996-7E83902C17C8}">
      <dgm:prSet/>
      <dgm:spPr/>
      <dgm:t>
        <a:bodyPr/>
        <a:lstStyle/>
        <a:p>
          <a:endParaRPr lang="en-IN" sz="2400"/>
        </a:p>
      </dgm:t>
    </dgm:pt>
    <dgm:pt modelId="{996AA302-57AC-4467-9796-221D84AC3EED}" type="sibTrans" cxnId="{FEA7A231-E03C-40E5-8996-7E83902C17C8}">
      <dgm:prSet/>
      <dgm:spPr/>
      <dgm:t>
        <a:bodyPr/>
        <a:lstStyle/>
        <a:p>
          <a:endParaRPr lang="en-IN" sz="2400"/>
        </a:p>
      </dgm:t>
    </dgm:pt>
    <dgm:pt modelId="{15C7221C-0D43-43BE-83B2-EF111DBAF92E}">
      <dgm:prSet custT="1"/>
      <dgm:spPr/>
      <dgm:t>
        <a:bodyPr/>
        <a:lstStyle/>
        <a:p>
          <a:r>
            <a:rPr lang="en-IN" sz="1800" b="1" i="0" dirty="0"/>
            <a:t>Data integrity also ensures that your data is safe from any outside forces.</a:t>
          </a:r>
          <a:endParaRPr lang="en-IN" sz="1800" b="1" dirty="0"/>
        </a:p>
      </dgm:t>
    </dgm:pt>
    <dgm:pt modelId="{EAC28F03-9D55-42E4-8D77-FEA69E6D2455}" type="parTrans" cxnId="{D601E0AD-8239-46D9-BB9B-1FD7ACA2DDEE}">
      <dgm:prSet/>
      <dgm:spPr/>
      <dgm:t>
        <a:bodyPr/>
        <a:lstStyle/>
        <a:p>
          <a:endParaRPr lang="en-IN" sz="2400"/>
        </a:p>
      </dgm:t>
    </dgm:pt>
    <dgm:pt modelId="{466819B2-DCFA-4E0A-9DB9-20D9E138A2C5}" type="sibTrans" cxnId="{D601E0AD-8239-46D9-BB9B-1FD7ACA2DDEE}">
      <dgm:prSet/>
      <dgm:spPr/>
      <dgm:t>
        <a:bodyPr/>
        <a:lstStyle/>
        <a:p>
          <a:endParaRPr lang="en-IN" sz="2400"/>
        </a:p>
      </dgm:t>
    </dgm:pt>
    <dgm:pt modelId="{AABD6AF8-5E53-4B10-BF9A-8E2F8741ED49}">
      <dgm:prSet custT="1"/>
      <dgm:spPr/>
      <dgm:t>
        <a:bodyPr/>
        <a:lstStyle/>
        <a:p>
          <a:r>
            <a:rPr lang="en-IN" sz="1800" b="1" i="0" dirty="0"/>
            <a:t>There are the different categories of data integrity exist with each RDBMS</a:t>
          </a:r>
          <a:endParaRPr lang="en-IN" sz="1800" b="1" dirty="0"/>
        </a:p>
      </dgm:t>
    </dgm:pt>
    <dgm:pt modelId="{324141A3-42E9-43E0-8900-A669B0729199}" type="parTrans" cxnId="{F575C340-0508-4C12-829F-B3BD6BC7F91C}">
      <dgm:prSet/>
      <dgm:spPr/>
      <dgm:t>
        <a:bodyPr/>
        <a:lstStyle/>
        <a:p>
          <a:endParaRPr lang="en-IN" sz="2400"/>
        </a:p>
      </dgm:t>
    </dgm:pt>
    <dgm:pt modelId="{20086122-6B06-41CD-B6C5-7FB54B86F368}" type="sibTrans" cxnId="{F575C340-0508-4C12-829F-B3BD6BC7F91C}">
      <dgm:prSet/>
      <dgm:spPr/>
      <dgm:t>
        <a:bodyPr/>
        <a:lstStyle/>
        <a:p>
          <a:endParaRPr lang="en-IN" sz="2400"/>
        </a:p>
      </dgm:t>
    </dgm:pt>
    <dgm:pt modelId="{808B7C1E-257F-4DC9-B0C5-73D21B0B8B7E}" type="pres">
      <dgm:prSet presAssocID="{7D4A37D0-4F08-476A-B4DD-D67CD59C0A71}" presName="vert0" presStyleCnt="0">
        <dgm:presLayoutVars>
          <dgm:dir/>
          <dgm:animOne val="branch"/>
          <dgm:animLvl val="lvl"/>
        </dgm:presLayoutVars>
      </dgm:prSet>
      <dgm:spPr/>
    </dgm:pt>
    <dgm:pt modelId="{F5F31ED9-FA53-4093-BB5B-3F1805D91003}" type="pres">
      <dgm:prSet presAssocID="{E9EC74E6-72C1-4015-96E0-0E720A7C1F79}" presName="thickLine" presStyleLbl="alignNode1" presStyleIdx="0" presStyleCnt="5"/>
      <dgm:spPr/>
    </dgm:pt>
    <dgm:pt modelId="{5D600489-758E-4425-B268-493CBAB6FA8F}" type="pres">
      <dgm:prSet presAssocID="{E9EC74E6-72C1-4015-96E0-0E720A7C1F79}" presName="horz1" presStyleCnt="0"/>
      <dgm:spPr/>
    </dgm:pt>
    <dgm:pt modelId="{CAAAAF3B-40B4-4D9C-9809-F8EF3B2106E6}" type="pres">
      <dgm:prSet presAssocID="{E9EC74E6-72C1-4015-96E0-0E720A7C1F79}" presName="tx1" presStyleLbl="revTx" presStyleIdx="0" presStyleCnt="5"/>
      <dgm:spPr/>
    </dgm:pt>
    <dgm:pt modelId="{217800AC-CC23-4BEC-B9AC-EFAB8DBE1729}" type="pres">
      <dgm:prSet presAssocID="{E9EC74E6-72C1-4015-96E0-0E720A7C1F79}" presName="vert1" presStyleCnt="0"/>
      <dgm:spPr/>
    </dgm:pt>
    <dgm:pt modelId="{146C1A91-F934-441D-A841-D757029C155B}" type="pres">
      <dgm:prSet presAssocID="{40D35C27-88E3-463F-B92D-5AB37001C2A3}" presName="thickLine" presStyleLbl="alignNode1" presStyleIdx="1" presStyleCnt="5"/>
      <dgm:spPr/>
    </dgm:pt>
    <dgm:pt modelId="{A734799C-22FD-4B27-B6B0-678AC004A8D1}" type="pres">
      <dgm:prSet presAssocID="{40D35C27-88E3-463F-B92D-5AB37001C2A3}" presName="horz1" presStyleCnt="0"/>
      <dgm:spPr/>
    </dgm:pt>
    <dgm:pt modelId="{F48A7F92-984F-4BCF-8565-06AF971846E2}" type="pres">
      <dgm:prSet presAssocID="{40D35C27-88E3-463F-B92D-5AB37001C2A3}" presName="tx1" presStyleLbl="revTx" presStyleIdx="1" presStyleCnt="5"/>
      <dgm:spPr/>
    </dgm:pt>
    <dgm:pt modelId="{EB60A9C0-F57F-40D4-9275-9966210A5901}" type="pres">
      <dgm:prSet presAssocID="{40D35C27-88E3-463F-B92D-5AB37001C2A3}" presName="vert1" presStyleCnt="0"/>
      <dgm:spPr/>
    </dgm:pt>
    <dgm:pt modelId="{72C52171-A1CE-436D-BEAD-BCC02380F342}" type="pres">
      <dgm:prSet presAssocID="{DF425BE8-26B4-4605-99D1-6DC2CE658EF2}" presName="thickLine" presStyleLbl="alignNode1" presStyleIdx="2" presStyleCnt="5"/>
      <dgm:spPr/>
    </dgm:pt>
    <dgm:pt modelId="{528E2C4E-9AFB-4D15-B9DB-6167D0130238}" type="pres">
      <dgm:prSet presAssocID="{DF425BE8-26B4-4605-99D1-6DC2CE658EF2}" presName="horz1" presStyleCnt="0"/>
      <dgm:spPr/>
    </dgm:pt>
    <dgm:pt modelId="{7D2F299F-241E-445A-ADEB-550A42637286}" type="pres">
      <dgm:prSet presAssocID="{DF425BE8-26B4-4605-99D1-6DC2CE658EF2}" presName="tx1" presStyleLbl="revTx" presStyleIdx="2" presStyleCnt="5"/>
      <dgm:spPr/>
    </dgm:pt>
    <dgm:pt modelId="{2AF49588-AC56-42A8-9B85-934C77F6A452}" type="pres">
      <dgm:prSet presAssocID="{DF425BE8-26B4-4605-99D1-6DC2CE658EF2}" presName="vert1" presStyleCnt="0"/>
      <dgm:spPr/>
    </dgm:pt>
    <dgm:pt modelId="{58BFE6E3-D0F2-4C96-BFDE-06A074243A4A}" type="pres">
      <dgm:prSet presAssocID="{15C7221C-0D43-43BE-83B2-EF111DBAF92E}" presName="thickLine" presStyleLbl="alignNode1" presStyleIdx="3" presStyleCnt="5"/>
      <dgm:spPr/>
    </dgm:pt>
    <dgm:pt modelId="{AD60B642-891A-4F22-B320-1A3B97C40D68}" type="pres">
      <dgm:prSet presAssocID="{15C7221C-0D43-43BE-83B2-EF111DBAF92E}" presName="horz1" presStyleCnt="0"/>
      <dgm:spPr/>
    </dgm:pt>
    <dgm:pt modelId="{49C9C20A-C840-4CF8-A16E-6635EA0D07FF}" type="pres">
      <dgm:prSet presAssocID="{15C7221C-0D43-43BE-83B2-EF111DBAF92E}" presName="tx1" presStyleLbl="revTx" presStyleIdx="3" presStyleCnt="5"/>
      <dgm:spPr/>
    </dgm:pt>
    <dgm:pt modelId="{A7054342-B93A-42E0-91FC-9414DB7452B8}" type="pres">
      <dgm:prSet presAssocID="{15C7221C-0D43-43BE-83B2-EF111DBAF92E}" presName="vert1" presStyleCnt="0"/>
      <dgm:spPr/>
    </dgm:pt>
    <dgm:pt modelId="{10F8B246-D188-4AAB-8459-6012CB5A0683}" type="pres">
      <dgm:prSet presAssocID="{AABD6AF8-5E53-4B10-BF9A-8E2F8741ED49}" presName="thickLine" presStyleLbl="alignNode1" presStyleIdx="4" presStyleCnt="5"/>
      <dgm:spPr/>
    </dgm:pt>
    <dgm:pt modelId="{BBBD7272-B335-42C6-B891-6BCEC5A7680D}" type="pres">
      <dgm:prSet presAssocID="{AABD6AF8-5E53-4B10-BF9A-8E2F8741ED49}" presName="horz1" presStyleCnt="0"/>
      <dgm:spPr/>
    </dgm:pt>
    <dgm:pt modelId="{8D125FBA-D929-4042-8AA4-7F140B6C07A8}" type="pres">
      <dgm:prSet presAssocID="{AABD6AF8-5E53-4B10-BF9A-8E2F8741ED49}" presName="tx1" presStyleLbl="revTx" presStyleIdx="4" presStyleCnt="5"/>
      <dgm:spPr/>
    </dgm:pt>
    <dgm:pt modelId="{26CC6DDB-70E4-4BC1-B570-DBAF3B5450D4}" type="pres">
      <dgm:prSet presAssocID="{AABD6AF8-5E53-4B10-BF9A-8E2F8741ED49}" presName="vert1" presStyleCnt="0"/>
      <dgm:spPr/>
    </dgm:pt>
  </dgm:ptLst>
  <dgm:cxnLst>
    <dgm:cxn modelId="{E09F822B-17C4-449B-BC4F-56E09E047FF5}" type="presOf" srcId="{AABD6AF8-5E53-4B10-BF9A-8E2F8741ED49}" destId="{8D125FBA-D929-4042-8AA4-7F140B6C07A8}" srcOrd="0" destOrd="0" presId="urn:microsoft.com/office/officeart/2008/layout/LinedList"/>
    <dgm:cxn modelId="{FEA7A231-E03C-40E5-8996-7E83902C17C8}" srcId="{7D4A37D0-4F08-476A-B4DD-D67CD59C0A71}" destId="{DF425BE8-26B4-4605-99D1-6DC2CE658EF2}" srcOrd="2" destOrd="0" parTransId="{29115A3A-C3A0-4BD7-8556-9720B34C7299}" sibTransId="{996AA302-57AC-4467-9796-221D84AC3EED}"/>
    <dgm:cxn modelId="{1018FD32-D1A8-477D-91E4-1FC585F5125B}" type="presOf" srcId="{40D35C27-88E3-463F-B92D-5AB37001C2A3}" destId="{F48A7F92-984F-4BCF-8565-06AF971846E2}" srcOrd="0" destOrd="0" presId="urn:microsoft.com/office/officeart/2008/layout/LinedList"/>
    <dgm:cxn modelId="{F575C340-0508-4C12-829F-B3BD6BC7F91C}" srcId="{7D4A37D0-4F08-476A-B4DD-D67CD59C0A71}" destId="{AABD6AF8-5E53-4B10-BF9A-8E2F8741ED49}" srcOrd="4" destOrd="0" parTransId="{324141A3-42E9-43E0-8900-A669B0729199}" sibTransId="{20086122-6B06-41CD-B6C5-7FB54B86F368}"/>
    <dgm:cxn modelId="{819E7958-4369-4860-8E04-5F15FE83D1AE}" srcId="{7D4A37D0-4F08-476A-B4DD-D67CD59C0A71}" destId="{40D35C27-88E3-463F-B92D-5AB37001C2A3}" srcOrd="1" destOrd="0" parTransId="{0AD14274-D081-4EC9-96E4-E2342D375B51}" sibTransId="{C04969BC-ABFB-492A-8582-A9901F7A66BD}"/>
    <dgm:cxn modelId="{BE6E4796-EDD3-41AC-9D2C-7EF5029397C8}" srcId="{7D4A37D0-4F08-476A-B4DD-D67CD59C0A71}" destId="{E9EC74E6-72C1-4015-96E0-0E720A7C1F79}" srcOrd="0" destOrd="0" parTransId="{C4A79970-4171-46FE-B6E3-63E00072CD87}" sibTransId="{4BB39D51-4FBB-4922-A012-6383C2C71AA9}"/>
    <dgm:cxn modelId="{656C45A2-47F9-4B75-927C-4463F3A39E5A}" type="presOf" srcId="{E9EC74E6-72C1-4015-96E0-0E720A7C1F79}" destId="{CAAAAF3B-40B4-4D9C-9809-F8EF3B2106E6}" srcOrd="0" destOrd="0" presId="urn:microsoft.com/office/officeart/2008/layout/LinedList"/>
    <dgm:cxn modelId="{D601E0AD-8239-46D9-BB9B-1FD7ACA2DDEE}" srcId="{7D4A37D0-4F08-476A-B4DD-D67CD59C0A71}" destId="{15C7221C-0D43-43BE-83B2-EF111DBAF92E}" srcOrd="3" destOrd="0" parTransId="{EAC28F03-9D55-42E4-8D77-FEA69E6D2455}" sibTransId="{466819B2-DCFA-4E0A-9DB9-20D9E138A2C5}"/>
    <dgm:cxn modelId="{0853FBBA-0585-444D-9F13-48E081E25CC6}" type="presOf" srcId="{7D4A37D0-4F08-476A-B4DD-D67CD59C0A71}" destId="{808B7C1E-257F-4DC9-B0C5-73D21B0B8B7E}" srcOrd="0" destOrd="0" presId="urn:microsoft.com/office/officeart/2008/layout/LinedList"/>
    <dgm:cxn modelId="{A1ED7CD4-1EC3-4B92-8098-E225DAE49E31}" type="presOf" srcId="{15C7221C-0D43-43BE-83B2-EF111DBAF92E}" destId="{49C9C20A-C840-4CF8-A16E-6635EA0D07FF}" srcOrd="0" destOrd="0" presId="urn:microsoft.com/office/officeart/2008/layout/LinedList"/>
    <dgm:cxn modelId="{F303E1D9-CA85-485C-945E-D494CEAE53FE}" type="presOf" srcId="{DF425BE8-26B4-4605-99D1-6DC2CE658EF2}" destId="{7D2F299F-241E-445A-ADEB-550A42637286}" srcOrd="0" destOrd="0" presId="urn:microsoft.com/office/officeart/2008/layout/LinedList"/>
    <dgm:cxn modelId="{30DB18C9-D7B5-48D3-B686-D01C44BE9CAB}" type="presParOf" srcId="{808B7C1E-257F-4DC9-B0C5-73D21B0B8B7E}" destId="{F5F31ED9-FA53-4093-BB5B-3F1805D91003}" srcOrd="0" destOrd="0" presId="urn:microsoft.com/office/officeart/2008/layout/LinedList"/>
    <dgm:cxn modelId="{68857E61-A7DD-45CB-822C-9375E36324A7}" type="presParOf" srcId="{808B7C1E-257F-4DC9-B0C5-73D21B0B8B7E}" destId="{5D600489-758E-4425-B268-493CBAB6FA8F}" srcOrd="1" destOrd="0" presId="urn:microsoft.com/office/officeart/2008/layout/LinedList"/>
    <dgm:cxn modelId="{EB5FA5D0-BDFD-41C5-810F-7B6E597019CF}" type="presParOf" srcId="{5D600489-758E-4425-B268-493CBAB6FA8F}" destId="{CAAAAF3B-40B4-4D9C-9809-F8EF3B2106E6}" srcOrd="0" destOrd="0" presId="urn:microsoft.com/office/officeart/2008/layout/LinedList"/>
    <dgm:cxn modelId="{2EC30882-D7AF-4F66-9AB5-455625BABB6E}" type="presParOf" srcId="{5D600489-758E-4425-B268-493CBAB6FA8F}" destId="{217800AC-CC23-4BEC-B9AC-EFAB8DBE1729}" srcOrd="1" destOrd="0" presId="urn:microsoft.com/office/officeart/2008/layout/LinedList"/>
    <dgm:cxn modelId="{F29B27AA-D477-49DE-90C6-6C65AA824B9F}" type="presParOf" srcId="{808B7C1E-257F-4DC9-B0C5-73D21B0B8B7E}" destId="{146C1A91-F934-441D-A841-D757029C155B}" srcOrd="2" destOrd="0" presId="urn:microsoft.com/office/officeart/2008/layout/LinedList"/>
    <dgm:cxn modelId="{681435EC-16FD-46A1-A1D4-154425B353ED}" type="presParOf" srcId="{808B7C1E-257F-4DC9-B0C5-73D21B0B8B7E}" destId="{A734799C-22FD-4B27-B6B0-678AC004A8D1}" srcOrd="3" destOrd="0" presId="urn:microsoft.com/office/officeart/2008/layout/LinedList"/>
    <dgm:cxn modelId="{7915263E-9430-457B-AD31-18632EDD7F79}" type="presParOf" srcId="{A734799C-22FD-4B27-B6B0-678AC004A8D1}" destId="{F48A7F92-984F-4BCF-8565-06AF971846E2}" srcOrd="0" destOrd="0" presId="urn:microsoft.com/office/officeart/2008/layout/LinedList"/>
    <dgm:cxn modelId="{17AC20C9-BF37-4573-A0C4-4C23BF719155}" type="presParOf" srcId="{A734799C-22FD-4B27-B6B0-678AC004A8D1}" destId="{EB60A9C0-F57F-40D4-9275-9966210A5901}" srcOrd="1" destOrd="0" presId="urn:microsoft.com/office/officeart/2008/layout/LinedList"/>
    <dgm:cxn modelId="{28A06E1A-C7C7-4FBF-BEC4-DA6D002CB0CF}" type="presParOf" srcId="{808B7C1E-257F-4DC9-B0C5-73D21B0B8B7E}" destId="{72C52171-A1CE-436D-BEAD-BCC02380F342}" srcOrd="4" destOrd="0" presId="urn:microsoft.com/office/officeart/2008/layout/LinedList"/>
    <dgm:cxn modelId="{690CBB0D-704D-4591-9462-E15D5EA93623}" type="presParOf" srcId="{808B7C1E-257F-4DC9-B0C5-73D21B0B8B7E}" destId="{528E2C4E-9AFB-4D15-B9DB-6167D0130238}" srcOrd="5" destOrd="0" presId="urn:microsoft.com/office/officeart/2008/layout/LinedList"/>
    <dgm:cxn modelId="{BD013358-A964-4BB7-8640-97ABBE4FC12D}" type="presParOf" srcId="{528E2C4E-9AFB-4D15-B9DB-6167D0130238}" destId="{7D2F299F-241E-445A-ADEB-550A42637286}" srcOrd="0" destOrd="0" presId="urn:microsoft.com/office/officeart/2008/layout/LinedList"/>
    <dgm:cxn modelId="{14E29B93-7336-4AF5-9A2F-A7ADBAE9B220}" type="presParOf" srcId="{528E2C4E-9AFB-4D15-B9DB-6167D0130238}" destId="{2AF49588-AC56-42A8-9B85-934C77F6A452}" srcOrd="1" destOrd="0" presId="urn:microsoft.com/office/officeart/2008/layout/LinedList"/>
    <dgm:cxn modelId="{B3B9F29F-0E10-4799-8E6A-6C906C2933B1}" type="presParOf" srcId="{808B7C1E-257F-4DC9-B0C5-73D21B0B8B7E}" destId="{58BFE6E3-D0F2-4C96-BFDE-06A074243A4A}" srcOrd="6" destOrd="0" presId="urn:microsoft.com/office/officeart/2008/layout/LinedList"/>
    <dgm:cxn modelId="{42BDEB73-978C-479C-BBF4-F9CCD27ADDE3}" type="presParOf" srcId="{808B7C1E-257F-4DC9-B0C5-73D21B0B8B7E}" destId="{AD60B642-891A-4F22-B320-1A3B97C40D68}" srcOrd="7" destOrd="0" presId="urn:microsoft.com/office/officeart/2008/layout/LinedList"/>
    <dgm:cxn modelId="{CD13EAB6-8DE7-4C79-8E73-089DD41B3CC4}" type="presParOf" srcId="{AD60B642-891A-4F22-B320-1A3B97C40D68}" destId="{49C9C20A-C840-4CF8-A16E-6635EA0D07FF}" srcOrd="0" destOrd="0" presId="urn:microsoft.com/office/officeart/2008/layout/LinedList"/>
    <dgm:cxn modelId="{FF4F6102-9D0A-40EE-BA23-FA9462296570}" type="presParOf" srcId="{AD60B642-891A-4F22-B320-1A3B97C40D68}" destId="{A7054342-B93A-42E0-91FC-9414DB7452B8}" srcOrd="1" destOrd="0" presId="urn:microsoft.com/office/officeart/2008/layout/LinedList"/>
    <dgm:cxn modelId="{0BA51B4D-C4AE-4775-8235-D30FA21B4752}" type="presParOf" srcId="{808B7C1E-257F-4DC9-B0C5-73D21B0B8B7E}" destId="{10F8B246-D188-4AAB-8459-6012CB5A0683}" srcOrd="8" destOrd="0" presId="urn:microsoft.com/office/officeart/2008/layout/LinedList"/>
    <dgm:cxn modelId="{9DBE42EA-D253-4B27-B55F-1FAF158AFBB7}" type="presParOf" srcId="{808B7C1E-257F-4DC9-B0C5-73D21B0B8B7E}" destId="{BBBD7272-B335-42C6-B891-6BCEC5A7680D}" srcOrd="9" destOrd="0" presId="urn:microsoft.com/office/officeart/2008/layout/LinedList"/>
    <dgm:cxn modelId="{F3448134-3EED-4461-A62F-8742F66C0660}" type="presParOf" srcId="{BBBD7272-B335-42C6-B891-6BCEC5A7680D}" destId="{8D125FBA-D929-4042-8AA4-7F140B6C07A8}" srcOrd="0" destOrd="0" presId="urn:microsoft.com/office/officeart/2008/layout/LinedList"/>
    <dgm:cxn modelId="{A166BF22-6C49-4EDD-8793-EB98503F9B7F}" type="presParOf" srcId="{BBBD7272-B335-42C6-B891-6BCEC5A7680D}" destId="{26CC6DDB-70E4-4BC1-B570-DBAF3B5450D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4A37D0-4F08-476A-B4DD-D67CD59C0A71}" type="doc">
      <dgm:prSet loTypeId="urn:microsoft.com/office/officeart/2005/8/layout/default" loCatId="list" qsTypeId="urn:microsoft.com/office/officeart/2005/8/quickstyle/simple5" qsCatId="simple" csTypeId="urn:microsoft.com/office/officeart/2005/8/colors/colorful1" csCatId="colorful" phldr="1"/>
      <dgm:spPr/>
      <dgm:t>
        <a:bodyPr/>
        <a:lstStyle/>
        <a:p>
          <a:endParaRPr lang="en-IN"/>
        </a:p>
      </dgm:t>
    </dgm:pt>
    <dgm:pt modelId="{70BF7139-8BF6-4BB0-933D-EB5E8A21F74C}">
      <dgm:prSet custT="1"/>
      <dgm:spPr/>
      <dgm:t>
        <a:bodyPr/>
        <a:lstStyle/>
        <a:p>
          <a:r>
            <a:rPr lang="en-IN" sz="1800" b="1" dirty="0"/>
            <a:t>Entity integrity: </a:t>
          </a:r>
        </a:p>
        <a:p>
          <a:r>
            <a:rPr lang="en-IN" sz="1800" dirty="0"/>
            <a:t>It specifies that there should be no duplicate rows in a table.</a:t>
          </a:r>
        </a:p>
      </dgm:t>
    </dgm:pt>
    <dgm:pt modelId="{5FF5568B-3C17-400B-990A-7EEB395D4530}" type="parTrans" cxnId="{7432F692-CF8D-4F13-BFA7-EB8E0CCB454B}">
      <dgm:prSet/>
      <dgm:spPr/>
      <dgm:t>
        <a:bodyPr/>
        <a:lstStyle/>
        <a:p>
          <a:endParaRPr lang="en-IN" sz="2400"/>
        </a:p>
      </dgm:t>
    </dgm:pt>
    <dgm:pt modelId="{90160F60-5F0F-4E50-9081-DA80184C4B0D}" type="sibTrans" cxnId="{7432F692-CF8D-4F13-BFA7-EB8E0CCB454B}">
      <dgm:prSet/>
      <dgm:spPr/>
      <dgm:t>
        <a:bodyPr/>
        <a:lstStyle/>
        <a:p>
          <a:endParaRPr lang="en-IN" sz="2400"/>
        </a:p>
      </dgm:t>
    </dgm:pt>
    <dgm:pt modelId="{EC94593B-8C66-4455-BF69-8B83EEC06B8D}">
      <dgm:prSet custT="1"/>
      <dgm:spPr/>
      <dgm:t>
        <a:bodyPr/>
        <a:lstStyle/>
        <a:p>
          <a:r>
            <a:rPr lang="en-IN" sz="1800" b="1" dirty="0"/>
            <a:t>Domain integrity: </a:t>
          </a:r>
        </a:p>
        <a:p>
          <a:r>
            <a:rPr lang="en-IN" sz="1800" dirty="0"/>
            <a:t>It enforces valid entries for a given column by restricting the type, the format, or the range of values.</a:t>
          </a:r>
        </a:p>
      </dgm:t>
    </dgm:pt>
    <dgm:pt modelId="{429620B9-D01B-4173-8F13-D79367EDCBE4}" type="parTrans" cxnId="{5F674B88-71BF-4691-A70F-1D062C85F12C}">
      <dgm:prSet/>
      <dgm:spPr/>
      <dgm:t>
        <a:bodyPr/>
        <a:lstStyle/>
        <a:p>
          <a:endParaRPr lang="en-IN" sz="2400"/>
        </a:p>
      </dgm:t>
    </dgm:pt>
    <dgm:pt modelId="{AD0F6281-2400-4443-A6CA-F8AC44523342}" type="sibTrans" cxnId="{5F674B88-71BF-4691-A70F-1D062C85F12C}">
      <dgm:prSet/>
      <dgm:spPr/>
      <dgm:t>
        <a:bodyPr/>
        <a:lstStyle/>
        <a:p>
          <a:endParaRPr lang="en-IN" sz="2400"/>
        </a:p>
      </dgm:t>
    </dgm:pt>
    <dgm:pt modelId="{BC3CA1D7-7628-4A96-909A-EB5A3946CB44}">
      <dgm:prSet custT="1"/>
      <dgm:spPr/>
      <dgm:t>
        <a:bodyPr/>
        <a:lstStyle/>
        <a:p>
          <a:r>
            <a:rPr lang="en-IN" sz="1800" b="1" dirty="0"/>
            <a:t>Referential integrity: </a:t>
          </a:r>
        </a:p>
        <a:p>
          <a:r>
            <a:rPr lang="en-IN" sz="1800" dirty="0"/>
            <a:t>It specifies that rows cannot be deleted, which are used by other records.</a:t>
          </a:r>
        </a:p>
      </dgm:t>
    </dgm:pt>
    <dgm:pt modelId="{8B098AC9-BC3D-42B2-B32F-30C9D31205E3}" type="parTrans" cxnId="{A8D7EA1C-FACA-4395-8AF9-AF2CFD1EA116}">
      <dgm:prSet/>
      <dgm:spPr/>
      <dgm:t>
        <a:bodyPr/>
        <a:lstStyle/>
        <a:p>
          <a:endParaRPr lang="en-IN" sz="2400"/>
        </a:p>
      </dgm:t>
    </dgm:pt>
    <dgm:pt modelId="{298F3F1E-6B3E-412E-9DDE-6081994558DE}" type="sibTrans" cxnId="{A8D7EA1C-FACA-4395-8AF9-AF2CFD1EA116}">
      <dgm:prSet/>
      <dgm:spPr/>
      <dgm:t>
        <a:bodyPr/>
        <a:lstStyle/>
        <a:p>
          <a:endParaRPr lang="en-IN" sz="2400"/>
        </a:p>
      </dgm:t>
    </dgm:pt>
    <dgm:pt modelId="{04768F1A-75F1-4A67-99A0-562C71ADF289}">
      <dgm:prSet custT="1"/>
      <dgm:spPr/>
      <dgm:t>
        <a:bodyPr/>
        <a:lstStyle/>
        <a:p>
          <a:r>
            <a:rPr lang="en-IN" sz="1800" b="1" dirty="0"/>
            <a:t>User-defined integrity: </a:t>
          </a:r>
        </a:p>
        <a:p>
          <a:r>
            <a:rPr lang="en-IN" sz="1800" dirty="0"/>
            <a:t>It enforces some specific business rules that are defined by users. These rules are different from entity, domain or referential integrity.</a:t>
          </a:r>
        </a:p>
      </dgm:t>
    </dgm:pt>
    <dgm:pt modelId="{5CD54EFF-0BEB-400B-8C5C-C4A24A5560DC}" type="parTrans" cxnId="{8B37C137-DDA3-4821-A7BE-8DE49E1315AB}">
      <dgm:prSet/>
      <dgm:spPr/>
      <dgm:t>
        <a:bodyPr/>
        <a:lstStyle/>
        <a:p>
          <a:endParaRPr lang="en-IN" sz="2400"/>
        </a:p>
      </dgm:t>
    </dgm:pt>
    <dgm:pt modelId="{3D9C9B8A-A8D8-4023-A17F-6D4D4F4EE6AD}" type="sibTrans" cxnId="{8B37C137-DDA3-4821-A7BE-8DE49E1315AB}">
      <dgm:prSet/>
      <dgm:spPr/>
      <dgm:t>
        <a:bodyPr/>
        <a:lstStyle/>
        <a:p>
          <a:endParaRPr lang="en-IN" sz="2400"/>
        </a:p>
      </dgm:t>
    </dgm:pt>
    <dgm:pt modelId="{46961EC9-AB3F-47C1-9145-75C1F503AF82}" type="pres">
      <dgm:prSet presAssocID="{7D4A37D0-4F08-476A-B4DD-D67CD59C0A71}" presName="diagram" presStyleCnt="0">
        <dgm:presLayoutVars>
          <dgm:dir/>
          <dgm:resizeHandles val="exact"/>
        </dgm:presLayoutVars>
      </dgm:prSet>
      <dgm:spPr/>
    </dgm:pt>
    <dgm:pt modelId="{20E5B1DE-B065-4BEE-96EF-40356BC43C49}" type="pres">
      <dgm:prSet presAssocID="{70BF7139-8BF6-4BB0-933D-EB5E8A21F74C}" presName="node" presStyleLbl="node1" presStyleIdx="0" presStyleCnt="4">
        <dgm:presLayoutVars>
          <dgm:bulletEnabled val="1"/>
        </dgm:presLayoutVars>
      </dgm:prSet>
      <dgm:spPr/>
    </dgm:pt>
    <dgm:pt modelId="{C377D6AE-97DA-4FF7-AC74-016CDEEB239B}" type="pres">
      <dgm:prSet presAssocID="{90160F60-5F0F-4E50-9081-DA80184C4B0D}" presName="sibTrans" presStyleCnt="0"/>
      <dgm:spPr/>
    </dgm:pt>
    <dgm:pt modelId="{1E08FCA6-A143-4551-89F1-5BF51E691087}" type="pres">
      <dgm:prSet presAssocID="{EC94593B-8C66-4455-BF69-8B83EEC06B8D}" presName="node" presStyleLbl="node1" presStyleIdx="1" presStyleCnt="4">
        <dgm:presLayoutVars>
          <dgm:bulletEnabled val="1"/>
        </dgm:presLayoutVars>
      </dgm:prSet>
      <dgm:spPr/>
    </dgm:pt>
    <dgm:pt modelId="{8BE0BC42-F08D-4879-9AF6-2739F85DC447}" type="pres">
      <dgm:prSet presAssocID="{AD0F6281-2400-4443-A6CA-F8AC44523342}" presName="sibTrans" presStyleCnt="0"/>
      <dgm:spPr/>
    </dgm:pt>
    <dgm:pt modelId="{7CB8DE93-133E-46C8-8E9A-38CB9446BB24}" type="pres">
      <dgm:prSet presAssocID="{BC3CA1D7-7628-4A96-909A-EB5A3946CB44}" presName="node" presStyleLbl="node1" presStyleIdx="2" presStyleCnt="4">
        <dgm:presLayoutVars>
          <dgm:bulletEnabled val="1"/>
        </dgm:presLayoutVars>
      </dgm:prSet>
      <dgm:spPr/>
    </dgm:pt>
    <dgm:pt modelId="{2DC22A22-F306-422D-8C81-1290C76541FA}" type="pres">
      <dgm:prSet presAssocID="{298F3F1E-6B3E-412E-9DDE-6081994558DE}" presName="sibTrans" presStyleCnt="0"/>
      <dgm:spPr/>
    </dgm:pt>
    <dgm:pt modelId="{47EF9CE7-1885-4ED3-BCC1-3B7157B92B21}" type="pres">
      <dgm:prSet presAssocID="{04768F1A-75F1-4A67-99A0-562C71ADF289}" presName="node" presStyleLbl="node1" presStyleIdx="3" presStyleCnt="4">
        <dgm:presLayoutVars>
          <dgm:bulletEnabled val="1"/>
        </dgm:presLayoutVars>
      </dgm:prSet>
      <dgm:spPr/>
    </dgm:pt>
  </dgm:ptLst>
  <dgm:cxnLst>
    <dgm:cxn modelId="{A8D7EA1C-FACA-4395-8AF9-AF2CFD1EA116}" srcId="{7D4A37D0-4F08-476A-B4DD-D67CD59C0A71}" destId="{BC3CA1D7-7628-4A96-909A-EB5A3946CB44}" srcOrd="2" destOrd="0" parTransId="{8B098AC9-BC3D-42B2-B32F-30C9D31205E3}" sibTransId="{298F3F1E-6B3E-412E-9DDE-6081994558DE}"/>
    <dgm:cxn modelId="{BF103A37-B764-4C8B-A40E-9E629BEF308F}" type="presOf" srcId="{BC3CA1D7-7628-4A96-909A-EB5A3946CB44}" destId="{7CB8DE93-133E-46C8-8E9A-38CB9446BB24}" srcOrd="0" destOrd="0" presId="urn:microsoft.com/office/officeart/2005/8/layout/default"/>
    <dgm:cxn modelId="{8B37C137-DDA3-4821-A7BE-8DE49E1315AB}" srcId="{7D4A37D0-4F08-476A-B4DD-D67CD59C0A71}" destId="{04768F1A-75F1-4A67-99A0-562C71ADF289}" srcOrd="3" destOrd="0" parTransId="{5CD54EFF-0BEB-400B-8C5C-C4A24A5560DC}" sibTransId="{3D9C9B8A-A8D8-4023-A17F-6D4D4F4EE6AD}"/>
    <dgm:cxn modelId="{EDA8F36C-48FA-4CED-A948-73150A287BB4}" type="presOf" srcId="{EC94593B-8C66-4455-BF69-8B83EEC06B8D}" destId="{1E08FCA6-A143-4551-89F1-5BF51E691087}" srcOrd="0" destOrd="0" presId="urn:microsoft.com/office/officeart/2005/8/layout/default"/>
    <dgm:cxn modelId="{9F297656-E6F6-4CF7-990C-591263CCEED0}" type="presOf" srcId="{04768F1A-75F1-4A67-99A0-562C71ADF289}" destId="{47EF9CE7-1885-4ED3-BCC1-3B7157B92B21}" srcOrd="0" destOrd="0" presId="urn:microsoft.com/office/officeart/2005/8/layout/default"/>
    <dgm:cxn modelId="{D9D1D17F-870E-4F94-965B-FCBFC25CE5D3}" type="presOf" srcId="{7D4A37D0-4F08-476A-B4DD-D67CD59C0A71}" destId="{46961EC9-AB3F-47C1-9145-75C1F503AF82}" srcOrd="0" destOrd="0" presId="urn:microsoft.com/office/officeart/2005/8/layout/default"/>
    <dgm:cxn modelId="{5F674B88-71BF-4691-A70F-1D062C85F12C}" srcId="{7D4A37D0-4F08-476A-B4DD-D67CD59C0A71}" destId="{EC94593B-8C66-4455-BF69-8B83EEC06B8D}" srcOrd="1" destOrd="0" parTransId="{429620B9-D01B-4173-8F13-D79367EDCBE4}" sibTransId="{AD0F6281-2400-4443-A6CA-F8AC44523342}"/>
    <dgm:cxn modelId="{7432F692-CF8D-4F13-BFA7-EB8E0CCB454B}" srcId="{7D4A37D0-4F08-476A-B4DD-D67CD59C0A71}" destId="{70BF7139-8BF6-4BB0-933D-EB5E8A21F74C}" srcOrd="0" destOrd="0" parTransId="{5FF5568B-3C17-400B-990A-7EEB395D4530}" sibTransId="{90160F60-5F0F-4E50-9081-DA80184C4B0D}"/>
    <dgm:cxn modelId="{5E2AF4C0-823F-46BF-BFDE-77F2A61AF789}" type="presOf" srcId="{70BF7139-8BF6-4BB0-933D-EB5E8A21F74C}" destId="{20E5B1DE-B065-4BEE-96EF-40356BC43C49}" srcOrd="0" destOrd="0" presId="urn:microsoft.com/office/officeart/2005/8/layout/default"/>
    <dgm:cxn modelId="{289C8911-27CE-4191-AB14-5BF5BC5B2799}" type="presParOf" srcId="{46961EC9-AB3F-47C1-9145-75C1F503AF82}" destId="{20E5B1DE-B065-4BEE-96EF-40356BC43C49}" srcOrd="0" destOrd="0" presId="urn:microsoft.com/office/officeart/2005/8/layout/default"/>
    <dgm:cxn modelId="{D1055C04-9A64-4B87-A8DB-B12716C115F7}" type="presParOf" srcId="{46961EC9-AB3F-47C1-9145-75C1F503AF82}" destId="{C377D6AE-97DA-4FF7-AC74-016CDEEB239B}" srcOrd="1" destOrd="0" presId="urn:microsoft.com/office/officeart/2005/8/layout/default"/>
    <dgm:cxn modelId="{55FFEF17-7C2F-407F-86D4-BDE882F6FAEC}" type="presParOf" srcId="{46961EC9-AB3F-47C1-9145-75C1F503AF82}" destId="{1E08FCA6-A143-4551-89F1-5BF51E691087}" srcOrd="2" destOrd="0" presId="urn:microsoft.com/office/officeart/2005/8/layout/default"/>
    <dgm:cxn modelId="{3C06B71B-230E-419C-A951-A3EE66E6D3A5}" type="presParOf" srcId="{46961EC9-AB3F-47C1-9145-75C1F503AF82}" destId="{8BE0BC42-F08D-4879-9AF6-2739F85DC447}" srcOrd="3" destOrd="0" presId="urn:microsoft.com/office/officeart/2005/8/layout/default"/>
    <dgm:cxn modelId="{B14C4FC3-84C7-42D8-B3F4-A89930582B4C}" type="presParOf" srcId="{46961EC9-AB3F-47C1-9145-75C1F503AF82}" destId="{7CB8DE93-133E-46C8-8E9A-38CB9446BB24}" srcOrd="4" destOrd="0" presId="urn:microsoft.com/office/officeart/2005/8/layout/default"/>
    <dgm:cxn modelId="{FD88C142-82A9-405D-AF9D-DD076BE7C611}" type="presParOf" srcId="{46961EC9-AB3F-47C1-9145-75C1F503AF82}" destId="{2DC22A22-F306-422D-8C81-1290C76541FA}" srcOrd="5" destOrd="0" presId="urn:microsoft.com/office/officeart/2005/8/layout/default"/>
    <dgm:cxn modelId="{286BBEA2-CE97-4042-9D8D-309918B74E2A}" type="presParOf" srcId="{46961EC9-AB3F-47C1-9145-75C1F503AF82}" destId="{47EF9CE7-1885-4ED3-BCC1-3B7157B92B21}"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31ED9-FA53-4093-BB5B-3F1805D91003}">
      <dsp:nvSpPr>
        <dsp:cNvPr id="0" name=""/>
        <dsp:cNvSpPr/>
      </dsp:nvSpPr>
      <dsp:spPr>
        <a:xfrm>
          <a:off x="0" y="586"/>
          <a:ext cx="8444088" cy="0"/>
        </a:xfrm>
        <a:prstGeom prst="line">
          <a:avLst/>
        </a:prstGeom>
        <a:gradFill rotWithShape="0">
          <a:gsLst>
            <a:gs pos="0">
              <a:schemeClr val="lt1">
                <a:hueOff val="0"/>
                <a:satOff val="0"/>
                <a:lumOff val="0"/>
                <a:alphaOff val="0"/>
                <a:shade val="15000"/>
                <a:satMod val="180000"/>
              </a:schemeClr>
            </a:gs>
            <a:gs pos="50000">
              <a:schemeClr val="lt1">
                <a:hueOff val="0"/>
                <a:satOff val="0"/>
                <a:lumOff val="0"/>
                <a:alphaOff val="0"/>
                <a:shade val="45000"/>
                <a:satMod val="170000"/>
              </a:schemeClr>
            </a:gs>
            <a:gs pos="70000">
              <a:schemeClr val="lt1">
                <a:hueOff val="0"/>
                <a:satOff val="0"/>
                <a:lumOff val="0"/>
                <a:alphaOff val="0"/>
                <a:tint val="99000"/>
                <a:shade val="65000"/>
                <a:satMod val="155000"/>
              </a:schemeClr>
            </a:gs>
            <a:gs pos="100000">
              <a:schemeClr val="lt1">
                <a:hueOff val="0"/>
                <a:satOff val="0"/>
                <a:lumOff val="0"/>
                <a:alphaOff val="0"/>
                <a:tint val="95500"/>
                <a:shade val="100000"/>
                <a:satMod val="155000"/>
              </a:schemeClr>
            </a:gs>
          </a:gsLst>
          <a:lin ang="16200000" scaled="0"/>
        </a:gradFill>
        <a:ln w="9525" cap="flat" cmpd="sng" algn="ctr">
          <a:solidFill>
            <a:schemeClr val="accent1">
              <a:shade val="8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CAAAAF3B-40B4-4D9C-9809-F8EF3B2106E6}">
      <dsp:nvSpPr>
        <dsp:cNvPr id="0" name=""/>
        <dsp:cNvSpPr/>
      </dsp:nvSpPr>
      <dsp:spPr>
        <a:xfrm>
          <a:off x="0" y="586"/>
          <a:ext cx="8444088" cy="959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Data integrity refers to the overall accuracy, completeness, and consistency of data. </a:t>
          </a:r>
          <a:endParaRPr lang="en-IN" sz="1800" kern="1200" dirty="0"/>
        </a:p>
      </dsp:txBody>
      <dsp:txXfrm>
        <a:off x="0" y="586"/>
        <a:ext cx="8444088" cy="959885"/>
      </dsp:txXfrm>
    </dsp:sp>
    <dsp:sp modelId="{146C1A91-F934-441D-A841-D757029C155B}">
      <dsp:nvSpPr>
        <dsp:cNvPr id="0" name=""/>
        <dsp:cNvSpPr/>
      </dsp:nvSpPr>
      <dsp:spPr>
        <a:xfrm>
          <a:off x="0" y="960471"/>
          <a:ext cx="8444088" cy="0"/>
        </a:xfrm>
        <a:prstGeom prst="line">
          <a:avLst/>
        </a:prstGeom>
        <a:gradFill rotWithShape="0">
          <a:gsLst>
            <a:gs pos="0">
              <a:schemeClr val="lt1">
                <a:hueOff val="0"/>
                <a:satOff val="0"/>
                <a:lumOff val="0"/>
                <a:alphaOff val="0"/>
                <a:shade val="15000"/>
                <a:satMod val="180000"/>
              </a:schemeClr>
            </a:gs>
            <a:gs pos="50000">
              <a:schemeClr val="lt1">
                <a:hueOff val="0"/>
                <a:satOff val="0"/>
                <a:lumOff val="0"/>
                <a:alphaOff val="0"/>
                <a:shade val="45000"/>
                <a:satMod val="170000"/>
              </a:schemeClr>
            </a:gs>
            <a:gs pos="70000">
              <a:schemeClr val="lt1">
                <a:hueOff val="0"/>
                <a:satOff val="0"/>
                <a:lumOff val="0"/>
                <a:alphaOff val="0"/>
                <a:tint val="99000"/>
                <a:shade val="65000"/>
                <a:satMod val="155000"/>
              </a:schemeClr>
            </a:gs>
            <a:gs pos="100000">
              <a:schemeClr val="lt1">
                <a:hueOff val="0"/>
                <a:satOff val="0"/>
                <a:lumOff val="0"/>
                <a:alphaOff val="0"/>
                <a:tint val="95500"/>
                <a:shade val="100000"/>
                <a:satMod val="155000"/>
              </a:schemeClr>
            </a:gs>
          </a:gsLst>
          <a:lin ang="16200000" scaled="0"/>
        </a:gradFill>
        <a:ln w="9525" cap="flat" cmpd="sng" algn="ctr">
          <a:solidFill>
            <a:schemeClr val="accent1">
              <a:shade val="8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F48A7F92-984F-4BCF-8565-06AF971846E2}">
      <dsp:nvSpPr>
        <dsp:cNvPr id="0" name=""/>
        <dsp:cNvSpPr/>
      </dsp:nvSpPr>
      <dsp:spPr>
        <a:xfrm>
          <a:off x="0" y="960471"/>
          <a:ext cx="8444088" cy="959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It is maintained by a collection of processes, rules, and standards implemented during the design phase.</a:t>
          </a:r>
          <a:r>
            <a:rPr lang="en-IN" sz="1800" b="0" i="0" kern="1200" dirty="0"/>
            <a:t> </a:t>
          </a:r>
          <a:endParaRPr lang="en-IN" sz="1800" kern="1200" dirty="0"/>
        </a:p>
      </dsp:txBody>
      <dsp:txXfrm>
        <a:off x="0" y="960471"/>
        <a:ext cx="8444088" cy="959885"/>
      </dsp:txXfrm>
    </dsp:sp>
    <dsp:sp modelId="{72C52171-A1CE-436D-BEAD-BCC02380F342}">
      <dsp:nvSpPr>
        <dsp:cNvPr id="0" name=""/>
        <dsp:cNvSpPr/>
      </dsp:nvSpPr>
      <dsp:spPr>
        <a:xfrm>
          <a:off x="0" y="1920357"/>
          <a:ext cx="8444088" cy="0"/>
        </a:xfrm>
        <a:prstGeom prst="line">
          <a:avLst/>
        </a:prstGeom>
        <a:gradFill rotWithShape="0">
          <a:gsLst>
            <a:gs pos="0">
              <a:schemeClr val="lt1">
                <a:hueOff val="0"/>
                <a:satOff val="0"/>
                <a:lumOff val="0"/>
                <a:alphaOff val="0"/>
                <a:shade val="15000"/>
                <a:satMod val="180000"/>
              </a:schemeClr>
            </a:gs>
            <a:gs pos="50000">
              <a:schemeClr val="lt1">
                <a:hueOff val="0"/>
                <a:satOff val="0"/>
                <a:lumOff val="0"/>
                <a:alphaOff val="0"/>
                <a:shade val="45000"/>
                <a:satMod val="170000"/>
              </a:schemeClr>
            </a:gs>
            <a:gs pos="70000">
              <a:schemeClr val="lt1">
                <a:hueOff val="0"/>
                <a:satOff val="0"/>
                <a:lumOff val="0"/>
                <a:alphaOff val="0"/>
                <a:tint val="99000"/>
                <a:shade val="65000"/>
                <a:satMod val="155000"/>
              </a:schemeClr>
            </a:gs>
            <a:gs pos="100000">
              <a:schemeClr val="lt1">
                <a:hueOff val="0"/>
                <a:satOff val="0"/>
                <a:lumOff val="0"/>
                <a:alphaOff val="0"/>
                <a:tint val="95500"/>
                <a:shade val="100000"/>
                <a:satMod val="155000"/>
              </a:schemeClr>
            </a:gs>
          </a:gsLst>
          <a:lin ang="16200000" scaled="0"/>
        </a:gradFill>
        <a:ln w="9525" cap="flat" cmpd="sng" algn="ctr">
          <a:solidFill>
            <a:schemeClr val="accent1">
              <a:shade val="8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7D2F299F-241E-445A-ADEB-550A42637286}">
      <dsp:nvSpPr>
        <dsp:cNvPr id="0" name=""/>
        <dsp:cNvSpPr/>
      </dsp:nvSpPr>
      <dsp:spPr>
        <a:xfrm>
          <a:off x="0" y="1920357"/>
          <a:ext cx="8444088" cy="959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When the integrity of data is secure, the information stored in a database will remain complete, accurate, and reliable no matter how long it’s stored or how often it’s accessed. </a:t>
          </a:r>
          <a:endParaRPr lang="en-IN" sz="1800" b="1" kern="1200" dirty="0"/>
        </a:p>
      </dsp:txBody>
      <dsp:txXfrm>
        <a:off x="0" y="1920357"/>
        <a:ext cx="8444088" cy="959885"/>
      </dsp:txXfrm>
    </dsp:sp>
    <dsp:sp modelId="{58BFE6E3-D0F2-4C96-BFDE-06A074243A4A}">
      <dsp:nvSpPr>
        <dsp:cNvPr id="0" name=""/>
        <dsp:cNvSpPr/>
      </dsp:nvSpPr>
      <dsp:spPr>
        <a:xfrm>
          <a:off x="0" y="2880242"/>
          <a:ext cx="8444088" cy="0"/>
        </a:xfrm>
        <a:prstGeom prst="line">
          <a:avLst/>
        </a:prstGeom>
        <a:gradFill rotWithShape="0">
          <a:gsLst>
            <a:gs pos="0">
              <a:schemeClr val="lt1">
                <a:hueOff val="0"/>
                <a:satOff val="0"/>
                <a:lumOff val="0"/>
                <a:alphaOff val="0"/>
                <a:shade val="15000"/>
                <a:satMod val="180000"/>
              </a:schemeClr>
            </a:gs>
            <a:gs pos="50000">
              <a:schemeClr val="lt1">
                <a:hueOff val="0"/>
                <a:satOff val="0"/>
                <a:lumOff val="0"/>
                <a:alphaOff val="0"/>
                <a:shade val="45000"/>
                <a:satMod val="170000"/>
              </a:schemeClr>
            </a:gs>
            <a:gs pos="70000">
              <a:schemeClr val="lt1">
                <a:hueOff val="0"/>
                <a:satOff val="0"/>
                <a:lumOff val="0"/>
                <a:alphaOff val="0"/>
                <a:tint val="99000"/>
                <a:shade val="65000"/>
                <a:satMod val="155000"/>
              </a:schemeClr>
            </a:gs>
            <a:gs pos="100000">
              <a:schemeClr val="lt1">
                <a:hueOff val="0"/>
                <a:satOff val="0"/>
                <a:lumOff val="0"/>
                <a:alphaOff val="0"/>
                <a:tint val="95500"/>
                <a:shade val="100000"/>
                <a:satMod val="155000"/>
              </a:schemeClr>
            </a:gs>
          </a:gsLst>
          <a:lin ang="16200000" scaled="0"/>
        </a:gradFill>
        <a:ln w="9525" cap="flat" cmpd="sng" algn="ctr">
          <a:solidFill>
            <a:schemeClr val="accent1">
              <a:shade val="8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49C9C20A-C840-4CF8-A16E-6635EA0D07FF}">
      <dsp:nvSpPr>
        <dsp:cNvPr id="0" name=""/>
        <dsp:cNvSpPr/>
      </dsp:nvSpPr>
      <dsp:spPr>
        <a:xfrm>
          <a:off x="0" y="2880242"/>
          <a:ext cx="8444088" cy="959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Data integrity also ensures that your data is safe from any outside forces.</a:t>
          </a:r>
          <a:endParaRPr lang="en-IN" sz="1800" b="1" kern="1200" dirty="0"/>
        </a:p>
      </dsp:txBody>
      <dsp:txXfrm>
        <a:off x="0" y="2880242"/>
        <a:ext cx="8444088" cy="959885"/>
      </dsp:txXfrm>
    </dsp:sp>
    <dsp:sp modelId="{10F8B246-D188-4AAB-8459-6012CB5A0683}">
      <dsp:nvSpPr>
        <dsp:cNvPr id="0" name=""/>
        <dsp:cNvSpPr/>
      </dsp:nvSpPr>
      <dsp:spPr>
        <a:xfrm>
          <a:off x="0" y="3840128"/>
          <a:ext cx="8444088" cy="0"/>
        </a:xfrm>
        <a:prstGeom prst="line">
          <a:avLst/>
        </a:prstGeom>
        <a:gradFill rotWithShape="0">
          <a:gsLst>
            <a:gs pos="0">
              <a:schemeClr val="lt1">
                <a:hueOff val="0"/>
                <a:satOff val="0"/>
                <a:lumOff val="0"/>
                <a:alphaOff val="0"/>
                <a:shade val="15000"/>
                <a:satMod val="180000"/>
              </a:schemeClr>
            </a:gs>
            <a:gs pos="50000">
              <a:schemeClr val="lt1">
                <a:hueOff val="0"/>
                <a:satOff val="0"/>
                <a:lumOff val="0"/>
                <a:alphaOff val="0"/>
                <a:shade val="45000"/>
                <a:satMod val="170000"/>
              </a:schemeClr>
            </a:gs>
            <a:gs pos="70000">
              <a:schemeClr val="lt1">
                <a:hueOff val="0"/>
                <a:satOff val="0"/>
                <a:lumOff val="0"/>
                <a:alphaOff val="0"/>
                <a:tint val="99000"/>
                <a:shade val="65000"/>
                <a:satMod val="155000"/>
              </a:schemeClr>
            </a:gs>
            <a:gs pos="100000">
              <a:schemeClr val="lt1">
                <a:hueOff val="0"/>
                <a:satOff val="0"/>
                <a:lumOff val="0"/>
                <a:alphaOff val="0"/>
                <a:tint val="95500"/>
                <a:shade val="100000"/>
                <a:satMod val="155000"/>
              </a:schemeClr>
            </a:gs>
          </a:gsLst>
          <a:lin ang="16200000" scaled="0"/>
        </a:gradFill>
        <a:ln w="9525" cap="flat" cmpd="sng" algn="ctr">
          <a:solidFill>
            <a:schemeClr val="accent1">
              <a:shade val="8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8D125FBA-D929-4042-8AA4-7F140B6C07A8}">
      <dsp:nvSpPr>
        <dsp:cNvPr id="0" name=""/>
        <dsp:cNvSpPr/>
      </dsp:nvSpPr>
      <dsp:spPr>
        <a:xfrm>
          <a:off x="0" y="3840128"/>
          <a:ext cx="8444088" cy="959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There are the different categories of data integrity exist with each RDBMS</a:t>
          </a:r>
          <a:endParaRPr lang="en-IN" sz="1800" b="1" kern="1200" dirty="0"/>
        </a:p>
      </dsp:txBody>
      <dsp:txXfrm>
        <a:off x="0" y="3840128"/>
        <a:ext cx="8444088" cy="9598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E5B1DE-B065-4BEE-96EF-40356BC43C49}">
      <dsp:nvSpPr>
        <dsp:cNvPr id="0" name=""/>
        <dsp:cNvSpPr/>
      </dsp:nvSpPr>
      <dsp:spPr>
        <a:xfrm>
          <a:off x="30832" y="70"/>
          <a:ext cx="3927121" cy="2356272"/>
        </a:xfrm>
        <a:prstGeom prst="rect">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accent2">
              <a:hueOff val="0"/>
              <a:satOff val="0"/>
              <a:lumOff val="0"/>
              <a:alphaOff val="0"/>
              <a:satMod val="30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t>Entity integrity: </a:t>
          </a:r>
        </a:p>
        <a:p>
          <a:pPr marL="0" lvl="0" indent="0" algn="ctr" defTabSz="800100">
            <a:lnSpc>
              <a:spcPct val="90000"/>
            </a:lnSpc>
            <a:spcBef>
              <a:spcPct val="0"/>
            </a:spcBef>
            <a:spcAft>
              <a:spcPct val="35000"/>
            </a:spcAft>
            <a:buNone/>
          </a:pPr>
          <a:r>
            <a:rPr lang="en-IN" sz="1800" kern="1200" dirty="0"/>
            <a:t>It specifies that there should be no duplicate rows in a table.</a:t>
          </a:r>
        </a:p>
      </dsp:txBody>
      <dsp:txXfrm>
        <a:off x="30832" y="70"/>
        <a:ext cx="3927121" cy="2356272"/>
      </dsp:txXfrm>
    </dsp:sp>
    <dsp:sp modelId="{1E08FCA6-A143-4551-89F1-5BF51E691087}">
      <dsp:nvSpPr>
        <dsp:cNvPr id="0" name=""/>
        <dsp:cNvSpPr/>
      </dsp:nvSpPr>
      <dsp:spPr>
        <a:xfrm>
          <a:off x="4350666" y="70"/>
          <a:ext cx="3927121" cy="2356272"/>
        </a:xfrm>
        <a:prstGeom prst="rect">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accent3">
              <a:hueOff val="0"/>
              <a:satOff val="0"/>
              <a:lumOff val="0"/>
              <a:alphaOff val="0"/>
              <a:satMod val="30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t>Domain integrity: </a:t>
          </a:r>
        </a:p>
        <a:p>
          <a:pPr marL="0" lvl="0" indent="0" algn="ctr" defTabSz="800100">
            <a:lnSpc>
              <a:spcPct val="90000"/>
            </a:lnSpc>
            <a:spcBef>
              <a:spcPct val="0"/>
            </a:spcBef>
            <a:spcAft>
              <a:spcPct val="35000"/>
            </a:spcAft>
            <a:buNone/>
          </a:pPr>
          <a:r>
            <a:rPr lang="en-IN" sz="1800" kern="1200" dirty="0"/>
            <a:t>It enforces valid entries for a given column by restricting the type, the format, or the range of values.</a:t>
          </a:r>
        </a:p>
      </dsp:txBody>
      <dsp:txXfrm>
        <a:off x="4350666" y="70"/>
        <a:ext cx="3927121" cy="2356272"/>
      </dsp:txXfrm>
    </dsp:sp>
    <dsp:sp modelId="{7CB8DE93-133E-46C8-8E9A-38CB9446BB24}">
      <dsp:nvSpPr>
        <dsp:cNvPr id="0" name=""/>
        <dsp:cNvSpPr/>
      </dsp:nvSpPr>
      <dsp:spPr>
        <a:xfrm>
          <a:off x="30832" y="2749056"/>
          <a:ext cx="3927121" cy="2356272"/>
        </a:xfrm>
        <a:prstGeom prst="rect">
          <a:avLst/>
        </a:prstGeom>
        <a:gradFill rotWithShape="0">
          <a:gsLst>
            <a:gs pos="0">
              <a:schemeClr val="accent4">
                <a:hueOff val="0"/>
                <a:satOff val="0"/>
                <a:lumOff val="0"/>
                <a:alphaOff val="0"/>
                <a:shade val="15000"/>
                <a:satMod val="180000"/>
              </a:schemeClr>
            </a:gs>
            <a:gs pos="50000">
              <a:schemeClr val="accent4">
                <a:hueOff val="0"/>
                <a:satOff val="0"/>
                <a:lumOff val="0"/>
                <a:alphaOff val="0"/>
                <a:shade val="45000"/>
                <a:satMod val="170000"/>
              </a:schemeClr>
            </a:gs>
            <a:gs pos="70000">
              <a:schemeClr val="accent4">
                <a:hueOff val="0"/>
                <a:satOff val="0"/>
                <a:lumOff val="0"/>
                <a:alphaOff val="0"/>
                <a:tint val="99000"/>
                <a:shade val="65000"/>
                <a:satMod val="155000"/>
              </a:schemeClr>
            </a:gs>
            <a:gs pos="100000">
              <a:schemeClr val="accent4">
                <a:hueOff val="0"/>
                <a:satOff val="0"/>
                <a:lumOff val="0"/>
                <a:alphaOff val="0"/>
                <a:tint val="95500"/>
                <a:shade val="100000"/>
                <a:satMod val="155000"/>
              </a:schemeClr>
            </a:gs>
          </a:gsLst>
          <a:lin ang="16200000" scaled="0"/>
        </a:gradFill>
        <a:ln>
          <a:noFill/>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accent4">
              <a:hueOff val="0"/>
              <a:satOff val="0"/>
              <a:lumOff val="0"/>
              <a:alphaOff val="0"/>
              <a:satMod val="30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t>Referential integrity: </a:t>
          </a:r>
        </a:p>
        <a:p>
          <a:pPr marL="0" lvl="0" indent="0" algn="ctr" defTabSz="800100">
            <a:lnSpc>
              <a:spcPct val="90000"/>
            </a:lnSpc>
            <a:spcBef>
              <a:spcPct val="0"/>
            </a:spcBef>
            <a:spcAft>
              <a:spcPct val="35000"/>
            </a:spcAft>
            <a:buNone/>
          </a:pPr>
          <a:r>
            <a:rPr lang="en-IN" sz="1800" kern="1200" dirty="0"/>
            <a:t>It specifies that rows cannot be deleted, which are used by other records.</a:t>
          </a:r>
        </a:p>
      </dsp:txBody>
      <dsp:txXfrm>
        <a:off x="30832" y="2749056"/>
        <a:ext cx="3927121" cy="2356272"/>
      </dsp:txXfrm>
    </dsp:sp>
    <dsp:sp modelId="{47EF9CE7-1885-4ED3-BCC1-3B7157B92B21}">
      <dsp:nvSpPr>
        <dsp:cNvPr id="0" name=""/>
        <dsp:cNvSpPr/>
      </dsp:nvSpPr>
      <dsp:spPr>
        <a:xfrm>
          <a:off x="4350666" y="2749056"/>
          <a:ext cx="3927121" cy="2356272"/>
        </a:xfrm>
        <a:prstGeom prst="rect">
          <a:avLst/>
        </a:prstGeom>
        <a:gradFill rotWithShape="0">
          <a:gsLst>
            <a:gs pos="0">
              <a:schemeClr val="accent5">
                <a:hueOff val="0"/>
                <a:satOff val="0"/>
                <a:lumOff val="0"/>
                <a:alphaOff val="0"/>
                <a:shade val="15000"/>
                <a:satMod val="180000"/>
              </a:schemeClr>
            </a:gs>
            <a:gs pos="50000">
              <a:schemeClr val="accent5">
                <a:hueOff val="0"/>
                <a:satOff val="0"/>
                <a:lumOff val="0"/>
                <a:alphaOff val="0"/>
                <a:shade val="45000"/>
                <a:satMod val="170000"/>
              </a:schemeClr>
            </a:gs>
            <a:gs pos="70000">
              <a:schemeClr val="accent5">
                <a:hueOff val="0"/>
                <a:satOff val="0"/>
                <a:lumOff val="0"/>
                <a:alphaOff val="0"/>
                <a:tint val="99000"/>
                <a:shade val="65000"/>
                <a:satMod val="155000"/>
              </a:schemeClr>
            </a:gs>
            <a:gs pos="100000">
              <a:schemeClr val="accent5">
                <a:hueOff val="0"/>
                <a:satOff val="0"/>
                <a:lumOff val="0"/>
                <a:alphaOff val="0"/>
                <a:tint val="95500"/>
                <a:shade val="100000"/>
                <a:satMod val="155000"/>
              </a:schemeClr>
            </a:gs>
          </a:gsLst>
          <a:lin ang="16200000" scaled="0"/>
        </a:gradFill>
        <a:ln>
          <a:noFill/>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accent5">
              <a:hueOff val="0"/>
              <a:satOff val="0"/>
              <a:lumOff val="0"/>
              <a:alphaOff val="0"/>
              <a:satMod val="30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dirty="0"/>
            <a:t>User-defined integrity: </a:t>
          </a:r>
        </a:p>
        <a:p>
          <a:pPr marL="0" lvl="0" indent="0" algn="ctr" defTabSz="800100">
            <a:lnSpc>
              <a:spcPct val="90000"/>
            </a:lnSpc>
            <a:spcBef>
              <a:spcPct val="0"/>
            </a:spcBef>
            <a:spcAft>
              <a:spcPct val="35000"/>
            </a:spcAft>
            <a:buNone/>
          </a:pPr>
          <a:r>
            <a:rPr lang="en-IN" sz="1800" kern="1200" dirty="0"/>
            <a:t>It enforces some specific business rules that are defined by users. These rules are different from entity, domain or referential integrity.</a:t>
          </a:r>
        </a:p>
      </dsp:txBody>
      <dsp:txXfrm>
        <a:off x="4350666" y="2749056"/>
        <a:ext cx="3927121" cy="235627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634FA815-666A-4E95-99E0-B6830750FE21}" type="datetimeFigureOut">
              <a:rPr lang="en-US" smtClean="0"/>
              <a:pPr/>
              <a:t>7/2/2026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FBAB60D-4CD0-4F50-BFD9-C2B67C2510F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34FA815-666A-4E95-99E0-B6830750FE21}"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AB60D-4CD0-4F50-BFD9-C2B67C2510FA}"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34FA815-666A-4E95-99E0-B6830750FE21}"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AB60D-4CD0-4F50-BFD9-C2B67C2510FA}"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34FA815-666A-4E95-99E0-B6830750FE21}"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AB60D-4CD0-4F50-BFD9-C2B67C2510FA}"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634FA815-666A-4E95-99E0-B6830750FE21}" type="datetimeFigureOut">
              <a:rPr lang="en-US" smtClean="0"/>
              <a:pPr/>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BAB60D-4CD0-4F50-BFD9-C2B67C2510F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34FA815-666A-4E95-99E0-B6830750FE21}" type="datetimeFigureOut">
              <a:rPr lang="en-US" smtClean="0"/>
              <a:pPr/>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AB60D-4CD0-4F50-BFD9-C2B67C2510FA}"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4FA815-666A-4E95-99E0-B6830750FE21}" type="datetimeFigureOut">
              <a:rPr lang="en-US" smtClean="0"/>
              <a:pPr/>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BAB60D-4CD0-4F50-BFD9-C2B67C2510F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634FA815-666A-4E95-99E0-B6830750FE21}"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AB60D-4CD0-4F50-BFD9-C2B67C2510F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634FA815-666A-4E95-99E0-B6830750FE21}" type="datetimeFigureOut">
              <a:rPr lang="en-US" smtClean="0"/>
              <a:pPr/>
              <a:t>7/2/2026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FBAB60D-4CD0-4F50-BFD9-C2B67C2510FA}"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34FA815-666A-4E95-99E0-B6830750FE21}"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AB60D-4CD0-4F50-BFD9-C2B67C2510F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34FA815-666A-4E95-99E0-B6830750FE21}"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AB60D-4CD0-4F50-BFD9-C2B67C2510F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634FA815-666A-4E95-99E0-B6830750FE21}" type="datetimeFigureOut">
              <a:rPr lang="en-US" smtClean="0"/>
              <a:pPr/>
              <a:t>7/2/2026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2FBAB60D-4CD0-4F50-BFD9-C2B67C2510F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w3schools.in/mysql/alter/" TargetMode="External"/><Relationship Id="rId2" Type="http://schemas.openxmlformats.org/officeDocument/2006/relationships/hyperlink" Target="http://www.w3schools.in/mysql/create/" TargetMode="External"/><Relationship Id="rId1" Type="http://schemas.openxmlformats.org/officeDocument/2006/relationships/slideLayout" Target="../slideLayouts/slideLayout2.xml"/><Relationship Id="rId4" Type="http://schemas.openxmlformats.org/officeDocument/2006/relationships/hyperlink" Target="http://www.w3schools.in/mysql/drop/"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www.w3schools.in/mysql/insert/" TargetMode="External"/><Relationship Id="rId2" Type="http://schemas.openxmlformats.org/officeDocument/2006/relationships/hyperlink" Target="http://www.w3schools.in/mysql/select/" TargetMode="External"/><Relationship Id="rId1" Type="http://schemas.openxmlformats.org/officeDocument/2006/relationships/slideLayout" Target="../slideLayouts/slideLayout2.xml"/><Relationship Id="rId5" Type="http://schemas.openxmlformats.org/officeDocument/2006/relationships/hyperlink" Target="http://www.w3schools.in/mysql/delete-query/" TargetMode="External"/><Relationship Id="rId4" Type="http://schemas.openxmlformats.org/officeDocument/2006/relationships/hyperlink" Target="http://www.w3schools.in/mysql/update-quer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mysqltutorial.org/mysql-limit.aspx" TargetMode="External"/><Relationship Id="rId3" Type="http://schemas.openxmlformats.org/officeDocument/2006/relationships/hyperlink" Target="http://mysqltutorial.org/mysql-where/" TargetMode="External"/><Relationship Id="rId7" Type="http://schemas.openxmlformats.org/officeDocument/2006/relationships/hyperlink" Target="http://mysqltutorial.org/mysql-order-by/" TargetMode="External"/><Relationship Id="rId2" Type="http://schemas.openxmlformats.org/officeDocument/2006/relationships/hyperlink" Target="http://mysqltutorial.org/mysql-join/" TargetMode="External"/><Relationship Id="rId1" Type="http://schemas.openxmlformats.org/officeDocument/2006/relationships/slideLayout" Target="../slideLayouts/slideLayout2.xml"/><Relationship Id="rId6" Type="http://schemas.openxmlformats.org/officeDocument/2006/relationships/hyperlink" Target="http://mysqltutorial.org/mysql-having.aspx" TargetMode="External"/><Relationship Id="rId5" Type="http://schemas.openxmlformats.org/officeDocument/2006/relationships/hyperlink" Target="http://mysqltutorial.org/mysql-aggregate-functions.aspx" TargetMode="External"/><Relationship Id="rId4" Type="http://schemas.openxmlformats.org/officeDocument/2006/relationships/hyperlink" Target="http://mysqltutorial.org/mysql-group-by.aspx"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hyperlink" Target="https://www.google.com/search?sca_esv=e9f55f1ce1ed95d6&amp;sxsrf=AE3TifMKU6kpsXlN6xDHIQzlbTFrPOnXYg%3A1761709308433&amp;q=alternate+keys&amp;sa=X&amp;ved=2ahUKEwjwgpvMvsiQAxUw7DgGHdlVCBcQxccNegUIogEQAg&amp;mstk=AUtExfCDRCVd5u3Bea_gaFoh8wqM09a933nXZS_Z6vIYLQD_6XTS_1darwTW78M-Kp09exlySxT53X_sO3pVQZHtvbAhPHbplJzmOAIeM-CWKTuPDLu5gkNs1aANcvf97OgPdJQ8utoT9OVmbqzSpg48L8813vjXGD2nhWU65IYC4jh9t8b3CfQ3VCKioZtN3QMpCPzng88EpnnoCkPi72RW0spABJjQ6LtsssiixsX3MEaZOejJM_HDE75wBaRHP078iVB4Inu5RP5hrNyRIUCrmVC6&amp;csui=3" TargetMode="External"/><Relationship Id="rId2" Type="http://schemas.openxmlformats.org/officeDocument/2006/relationships/hyperlink" Target="https://www.google.com/search?sca_esv=e9f55f1ce1ed95d6&amp;sxsrf=AE3TifMKU6kpsXlN6xDHIQzlbTFrPOnXYg%3A1761709308433&amp;q=primary+key&amp;sa=X&amp;ved=2ahUKEwjwgpvMvsiQAxUw7DgGHdlVCBcQxccNegUIogEQAQ&amp;mstk=AUtExfCDRCVd5u3Bea_gaFoh8wqM09a933nXZS_Z6vIYLQD_6XTS_1darwTW78M-Kp09exlySxT53X_sO3pVQZHtvbAhPHbplJzmOAIeM-CWKTuPDLu5gkNs1aANcvf97OgPdJQ8utoT9OVmbqzSpg48L8813vjXGD2nhWU65IYC4jh9t8b3CfQ3VCKioZtN3QMpCPzng88EpnnoCkPi72RW0spABJjQ6LtsssiixsX3MEaZOejJM_HDE75wBaRHP078iVB4Inu5RP5hrNyRIUCrmVC6&amp;csui=3" TargetMode="Externa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Structure </a:t>
            </a:r>
            <a:r>
              <a:rPr lang="en-US"/>
              <a:t>Query Language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SQL is a standard language for accessing and manipulating databases.</a:t>
            </a:r>
          </a:p>
          <a:p>
            <a:r>
              <a:rPr lang="en-US" dirty="0"/>
              <a:t>SQL stands for Structured Query Language</a:t>
            </a:r>
          </a:p>
          <a:p>
            <a:r>
              <a:rPr lang="en-US" dirty="0"/>
              <a:t>SQL lets you access and manipulate databases</a:t>
            </a:r>
          </a:p>
          <a:p>
            <a:r>
              <a:rPr lang="en-US" dirty="0"/>
              <a:t>SQL is an ANSI (American National Standards Institute) standard</a:t>
            </a:r>
          </a:p>
          <a:p>
            <a:endParaRPr lang="en-US" dirty="0"/>
          </a:p>
        </p:txBody>
      </p:sp>
      <p:sp>
        <p:nvSpPr>
          <p:cNvPr id="2" name="Title 1"/>
          <p:cNvSpPr>
            <a:spLocks noGrp="1"/>
          </p:cNvSpPr>
          <p:nvPr>
            <p:ph type="title"/>
          </p:nvPr>
        </p:nvSpPr>
        <p:spPr/>
        <p:txBody>
          <a:bodyPr>
            <a:normAutofit/>
          </a:bodyPr>
          <a:lstStyle/>
          <a:p>
            <a:r>
              <a:rPr lang="en-US" dirty="0"/>
              <a:t>Introduction to SQL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F798CB2-E37C-70D2-FB0D-3E16D9048A08}"/>
              </a:ext>
            </a:extLst>
          </p:cNvPr>
          <p:cNvPicPr>
            <a:picLocks noGrp="1" noChangeAspect="1"/>
          </p:cNvPicPr>
          <p:nvPr>
            <p:ph idx="1"/>
          </p:nvPr>
        </p:nvPicPr>
        <p:blipFill>
          <a:blip r:embed="rId2"/>
          <a:stretch>
            <a:fillRect/>
          </a:stretch>
        </p:blipFill>
        <p:spPr>
          <a:xfrm>
            <a:off x="457200" y="609600"/>
            <a:ext cx="8361360" cy="5257799"/>
          </a:xfrm>
          <a:prstGeom prst="rect">
            <a:avLst/>
          </a:prstGeom>
        </p:spPr>
      </p:pic>
    </p:spTree>
    <p:extLst>
      <p:ext uri="{BB962C8B-B14F-4D97-AF65-F5344CB8AC3E}">
        <p14:creationId xmlns:p14="http://schemas.microsoft.com/office/powerpoint/2010/main" val="1025853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SQL can execute queries against a database</a:t>
            </a:r>
          </a:p>
          <a:p>
            <a:r>
              <a:rPr lang="en-US" dirty="0"/>
              <a:t>SQL can retrieve data from a database</a:t>
            </a:r>
          </a:p>
          <a:p>
            <a:r>
              <a:rPr lang="en-US" dirty="0"/>
              <a:t>SQL can insert records in a database</a:t>
            </a:r>
          </a:p>
          <a:p>
            <a:r>
              <a:rPr lang="en-US" dirty="0"/>
              <a:t>SQL can update records in a database</a:t>
            </a:r>
          </a:p>
          <a:p>
            <a:r>
              <a:rPr lang="en-US" dirty="0"/>
              <a:t>SQL can delete records from a database</a:t>
            </a:r>
          </a:p>
          <a:p>
            <a:r>
              <a:rPr lang="en-US" dirty="0"/>
              <a:t>SQL can create new databases</a:t>
            </a:r>
          </a:p>
          <a:p>
            <a:r>
              <a:rPr lang="en-US" dirty="0"/>
              <a:t>SQL can create new tables in a database</a:t>
            </a:r>
          </a:p>
          <a:p>
            <a:r>
              <a:rPr lang="en-US" dirty="0"/>
              <a:t>SQL can create stored procedures in a database</a:t>
            </a:r>
          </a:p>
          <a:p>
            <a:r>
              <a:rPr lang="en-US" dirty="0"/>
              <a:t>SQL can create views in a database</a:t>
            </a:r>
          </a:p>
          <a:p>
            <a:r>
              <a:rPr lang="en-US" dirty="0"/>
              <a:t>SQL can set permissions on tables, procedures, and views</a:t>
            </a:r>
          </a:p>
          <a:p>
            <a:endParaRPr lang="en-US" dirty="0"/>
          </a:p>
        </p:txBody>
      </p:sp>
      <p:sp>
        <p:nvSpPr>
          <p:cNvPr id="2" name="Title 1"/>
          <p:cNvSpPr>
            <a:spLocks noGrp="1"/>
          </p:cNvSpPr>
          <p:nvPr>
            <p:ph type="title"/>
          </p:nvPr>
        </p:nvSpPr>
        <p:spPr/>
        <p:txBody>
          <a:bodyPr>
            <a:normAutofit/>
          </a:bodyPr>
          <a:lstStyle/>
          <a:p>
            <a:r>
              <a:rPr lang="en-US" dirty="0"/>
              <a:t>What Can SQL do?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To build a web site that shows data from a database, you will need:</a:t>
            </a:r>
          </a:p>
          <a:p>
            <a:r>
              <a:rPr lang="en-US" dirty="0"/>
              <a:t>An RDBMS database program (i.e. MS Access, SQL Server, </a:t>
            </a:r>
            <a:r>
              <a:rPr lang="en-US" dirty="0" err="1"/>
              <a:t>MySQL</a:t>
            </a:r>
            <a:r>
              <a:rPr lang="en-US" dirty="0"/>
              <a:t>, Oracle)</a:t>
            </a:r>
          </a:p>
          <a:p>
            <a:r>
              <a:rPr lang="en-US" dirty="0"/>
              <a:t>To use a server-side scripting language, like PHP, </a:t>
            </a:r>
            <a:r>
              <a:rPr lang="en-US" dirty="0" err="1"/>
              <a:t>ASP.Net</a:t>
            </a:r>
            <a:r>
              <a:rPr lang="en-US" dirty="0"/>
              <a:t>, Spring Boot.</a:t>
            </a:r>
          </a:p>
          <a:p>
            <a:r>
              <a:rPr lang="en-US" dirty="0"/>
              <a:t>To use SQL to get the data you want</a:t>
            </a:r>
          </a:p>
          <a:p>
            <a:r>
              <a:rPr lang="en-US" dirty="0"/>
              <a:t>To use HTML / CSS /Angular</a:t>
            </a:r>
            <a:r>
              <a:rPr lang="en-US"/>
              <a:t>/React JS</a:t>
            </a:r>
          </a:p>
          <a:p>
            <a:endParaRPr lang="en-US" dirty="0"/>
          </a:p>
          <a:p>
            <a:endParaRPr lang="en-US" dirty="0"/>
          </a:p>
        </p:txBody>
      </p:sp>
      <p:sp>
        <p:nvSpPr>
          <p:cNvPr id="2" name="Title 1"/>
          <p:cNvSpPr>
            <a:spLocks noGrp="1"/>
          </p:cNvSpPr>
          <p:nvPr>
            <p:ph type="title"/>
          </p:nvPr>
        </p:nvSpPr>
        <p:spPr/>
        <p:txBody>
          <a:bodyPr>
            <a:normAutofit/>
          </a:bodyPr>
          <a:lstStyle/>
          <a:p>
            <a:r>
              <a:rPr lang="en-US" dirty="0"/>
              <a:t>Using SQL in Your Web Site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DBMS is a Database Management System.</a:t>
            </a:r>
            <a:br>
              <a:rPr lang="en-US" dirty="0"/>
            </a:br>
            <a:endParaRPr lang="en-US" dirty="0"/>
          </a:p>
          <a:p>
            <a:r>
              <a:rPr lang="en-US" dirty="0"/>
              <a:t>It is a program that uses one or more computer users create and access database.</a:t>
            </a:r>
            <a:br>
              <a:rPr lang="en-US" dirty="0"/>
            </a:br>
            <a:endParaRPr lang="en-US" dirty="0"/>
          </a:p>
          <a:p>
            <a:r>
              <a:rPr lang="en-US" dirty="0"/>
              <a:t>It allows data definition, storage and management of data in the centralized pool that can be shared by many users.</a:t>
            </a:r>
          </a:p>
        </p:txBody>
      </p:sp>
      <p:sp>
        <p:nvSpPr>
          <p:cNvPr id="3" name="Title 2"/>
          <p:cNvSpPr>
            <a:spLocks noGrp="1"/>
          </p:cNvSpPr>
          <p:nvPr>
            <p:ph type="title"/>
          </p:nvPr>
        </p:nvSpPr>
        <p:spPr/>
        <p:txBody>
          <a:bodyPr/>
          <a:lstStyle/>
          <a:p>
            <a:r>
              <a:rPr lang="en-US" dirty="0"/>
              <a:t>Introduction to DBMS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Controlling Data Redundancy:</a:t>
            </a:r>
          </a:p>
          <a:p>
            <a:pPr lvl="1"/>
            <a:r>
              <a:rPr lang="en-US" b="1" dirty="0"/>
              <a:t>A properly set-up database minimizes data redundancy. It will avoid data repetition in the databases.</a:t>
            </a:r>
          </a:p>
          <a:p>
            <a:r>
              <a:rPr lang="en-US" b="1" dirty="0"/>
              <a:t>Controls Data Concurrency</a:t>
            </a:r>
          </a:p>
          <a:p>
            <a:pPr lvl="1"/>
            <a:r>
              <a:rPr lang="en-US" b="1" dirty="0"/>
              <a:t>Databases allow multiple users to access the same database simultaneously.</a:t>
            </a:r>
          </a:p>
          <a:p>
            <a:r>
              <a:rPr lang="en-US" b="1" dirty="0"/>
              <a:t>Ensures Data Validity</a:t>
            </a:r>
          </a:p>
          <a:p>
            <a:pPr lvl="1"/>
            <a:r>
              <a:rPr lang="en-US" b="1" dirty="0"/>
              <a:t>Database allow you to setup rules that ensure that data remains consistent when data is modified or </a:t>
            </a:r>
            <a:r>
              <a:rPr lang="en-US" b="1" dirty="0" err="1"/>
              <a:t>addded</a:t>
            </a:r>
            <a:endParaRPr lang="en-US" dirty="0"/>
          </a:p>
        </p:txBody>
      </p:sp>
      <p:sp>
        <p:nvSpPr>
          <p:cNvPr id="3" name="Title 2"/>
          <p:cNvSpPr>
            <a:spLocks noGrp="1"/>
          </p:cNvSpPr>
          <p:nvPr>
            <p:ph type="title"/>
          </p:nvPr>
        </p:nvSpPr>
        <p:spPr/>
        <p:txBody>
          <a:bodyPr>
            <a:normAutofit fontScale="90000"/>
          </a:bodyPr>
          <a:lstStyle/>
          <a:p>
            <a:r>
              <a:rPr lang="en-US" dirty="0"/>
              <a:t>Advantages of Database Management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Ensures Data Sharing</a:t>
            </a:r>
          </a:p>
          <a:p>
            <a:pPr lvl="1"/>
            <a:r>
              <a:rPr lang="en-US" dirty="0"/>
              <a:t>Since it allows multiple users to access the data, sharing data becomes easier in database.</a:t>
            </a:r>
            <a:br>
              <a:rPr lang="en-US" dirty="0"/>
            </a:br>
            <a:endParaRPr lang="en-US" dirty="0"/>
          </a:p>
          <a:p>
            <a:r>
              <a:rPr lang="en-US" dirty="0"/>
              <a:t>Ensures Data Security</a:t>
            </a:r>
          </a:p>
          <a:p>
            <a:pPr lvl="4"/>
            <a:r>
              <a:rPr lang="en-US" dirty="0"/>
              <a:t>Data is secured as different privileges and roles can be assigned to each other.</a:t>
            </a:r>
          </a:p>
        </p:txBody>
      </p:sp>
      <p:sp>
        <p:nvSpPr>
          <p:cNvPr id="3" name="Title 2"/>
          <p:cNvSpPr>
            <a:spLocks noGrp="1"/>
          </p:cNvSpPr>
          <p:nvPr>
            <p:ph type="title"/>
          </p:nvPr>
        </p:nvSpPr>
        <p:spPr/>
        <p:txBody>
          <a:bodyPr>
            <a:normAutofit fontScale="90000"/>
          </a:bodyPr>
          <a:lstStyle/>
          <a:p>
            <a:r>
              <a:rPr lang="en-US" dirty="0"/>
              <a:t>Database Management System Benefits..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3-Tier Architecture</a:t>
            </a:r>
          </a:p>
        </p:txBody>
      </p:sp>
      <p:sp>
        <p:nvSpPr>
          <p:cNvPr id="4" name="Rectangle 3"/>
          <p:cNvSpPr>
            <a:spLocks noChangeArrowheads="1"/>
          </p:cNvSpPr>
          <p:nvPr/>
        </p:nvSpPr>
        <p:spPr bwMode="auto">
          <a:xfrm>
            <a:off x="615950" y="2582863"/>
            <a:ext cx="1728788" cy="1882775"/>
          </a:xfrm>
          <a:prstGeom prst="rect">
            <a:avLst/>
          </a:prstGeom>
          <a:solidFill>
            <a:srgbClr val="CCCCFF"/>
          </a:solidFill>
          <a:ln w="9525" algn="ctr">
            <a:solidFill>
              <a:schemeClr val="tx1"/>
            </a:solidFill>
            <a:miter lim="800000"/>
            <a:headEnd/>
            <a:tailEnd type="none" w="lg" len="med"/>
          </a:ln>
          <a:effectLst/>
        </p:spPr>
        <p:txBody>
          <a:bodyPr wrap="none" anchor="ctr">
            <a:spAutoFit/>
          </a:bodyPr>
          <a:lstStyle/>
          <a:p>
            <a:endParaRPr lang="en-US"/>
          </a:p>
        </p:txBody>
      </p:sp>
      <p:sp>
        <p:nvSpPr>
          <p:cNvPr id="5" name="Text Box 5"/>
          <p:cNvSpPr txBox="1">
            <a:spLocks noChangeArrowheads="1"/>
          </p:cNvSpPr>
          <p:nvPr/>
        </p:nvSpPr>
        <p:spPr bwMode="auto">
          <a:xfrm>
            <a:off x="869950" y="3019425"/>
            <a:ext cx="1200150" cy="1006475"/>
          </a:xfrm>
          <a:prstGeom prst="rect">
            <a:avLst/>
          </a:prstGeom>
          <a:noFill/>
          <a:ln w="9525" algn="ctr">
            <a:noFill/>
            <a:miter lim="800000"/>
            <a:headEnd/>
            <a:tailEnd type="none" w="lg" len="med"/>
          </a:ln>
          <a:effectLst/>
        </p:spPr>
        <p:txBody>
          <a:bodyPr wrap="none">
            <a:spAutoFit/>
          </a:bodyPr>
          <a:lstStyle/>
          <a:p>
            <a:r>
              <a:rPr lang="en-US" dirty="0"/>
              <a:t>Web</a:t>
            </a:r>
            <a:br>
              <a:rPr lang="en-US" dirty="0"/>
            </a:br>
            <a:r>
              <a:rPr lang="en-US" dirty="0"/>
              <a:t>Browser</a:t>
            </a:r>
            <a:br>
              <a:rPr lang="en-US" dirty="0"/>
            </a:br>
            <a:r>
              <a:rPr lang="en-US" dirty="0"/>
              <a:t>(Client)</a:t>
            </a:r>
          </a:p>
        </p:txBody>
      </p:sp>
      <p:sp>
        <p:nvSpPr>
          <p:cNvPr id="6" name="Line 7"/>
          <p:cNvSpPr>
            <a:spLocks noChangeShapeType="1"/>
          </p:cNvSpPr>
          <p:nvPr/>
        </p:nvSpPr>
        <p:spPr bwMode="auto">
          <a:xfrm flipV="1">
            <a:off x="2574925" y="2968625"/>
            <a:ext cx="538163" cy="1588"/>
          </a:xfrm>
          <a:prstGeom prst="line">
            <a:avLst/>
          </a:prstGeom>
          <a:noFill/>
          <a:ln w="9525">
            <a:solidFill>
              <a:schemeClr val="tx1"/>
            </a:solidFill>
            <a:round/>
            <a:headEnd/>
            <a:tailEnd type="triangle" w="lg" len="med"/>
          </a:ln>
          <a:effectLst/>
        </p:spPr>
        <p:txBody>
          <a:bodyPr>
            <a:spAutoFit/>
          </a:bodyPr>
          <a:lstStyle/>
          <a:p>
            <a:endParaRPr lang="en-US"/>
          </a:p>
        </p:txBody>
      </p:sp>
      <p:sp>
        <p:nvSpPr>
          <p:cNvPr id="7" name="Line 8"/>
          <p:cNvSpPr>
            <a:spLocks noChangeShapeType="1"/>
          </p:cNvSpPr>
          <p:nvPr/>
        </p:nvSpPr>
        <p:spPr bwMode="auto">
          <a:xfrm flipH="1">
            <a:off x="2498725" y="3967163"/>
            <a:ext cx="574675" cy="0"/>
          </a:xfrm>
          <a:prstGeom prst="line">
            <a:avLst/>
          </a:prstGeom>
          <a:noFill/>
          <a:ln w="9525">
            <a:solidFill>
              <a:schemeClr val="tx1"/>
            </a:solidFill>
            <a:round/>
            <a:headEnd/>
            <a:tailEnd type="triangle" w="lg" len="med"/>
          </a:ln>
          <a:effectLst/>
        </p:spPr>
        <p:txBody>
          <a:bodyPr>
            <a:spAutoFit/>
          </a:bodyPr>
          <a:lstStyle/>
          <a:p>
            <a:endParaRPr lang="en-US"/>
          </a:p>
        </p:txBody>
      </p:sp>
      <p:sp>
        <p:nvSpPr>
          <p:cNvPr id="8" name="Line 9"/>
          <p:cNvSpPr>
            <a:spLocks noChangeShapeType="1"/>
          </p:cNvSpPr>
          <p:nvPr/>
        </p:nvSpPr>
        <p:spPr bwMode="auto">
          <a:xfrm flipV="1">
            <a:off x="5878513" y="3389313"/>
            <a:ext cx="806450" cy="1587"/>
          </a:xfrm>
          <a:prstGeom prst="line">
            <a:avLst/>
          </a:prstGeom>
          <a:noFill/>
          <a:ln w="9525">
            <a:solidFill>
              <a:schemeClr val="tx1"/>
            </a:solidFill>
            <a:round/>
            <a:headEnd/>
            <a:tailEnd type="triangle" w="lg" len="med"/>
          </a:ln>
          <a:effectLst/>
        </p:spPr>
        <p:txBody>
          <a:bodyPr>
            <a:spAutoFit/>
          </a:bodyPr>
          <a:lstStyle/>
          <a:p>
            <a:endParaRPr lang="en-US"/>
          </a:p>
        </p:txBody>
      </p:sp>
      <p:sp>
        <p:nvSpPr>
          <p:cNvPr id="9" name="Line 10"/>
          <p:cNvSpPr>
            <a:spLocks noChangeShapeType="1"/>
          </p:cNvSpPr>
          <p:nvPr/>
        </p:nvSpPr>
        <p:spPr bwMode="auto">
          <a:xfrm flipH="1">
            <a:off x="5838825" y="3619500"/>
            <a:ext cx="844550" cy="1588"/>
          </a:xfrm>
          <a:prstGeom prst="line">
            <a:avLst/>
          </a:prstGeom>
          <a:noFill/>
          <a:ln w="9525">
            <a:solidFill>
              <a:schemeClr val="tx1"/>
            </a:solidFill>
            <a:round/>
            <a:headEnd/>
            <a:tailEnd type="triangle" w="lg" len="med"/>
          </a:ln>
          <a:effectLst/>
        </p:spPr>
        <p:txBody>
          <a:bodyPr>
            <a:spAutoFit/>
          </a:bodyPr>
          <a:lstStyle/>
          <a:p>
            <a:endParaRPr lang="en-US"/>
          </a:p>
        </p:txBody>
      </p:sp>
      <p:sp>
        <p:nvSpPr>
          <p:cNvPr id="10" name="Rectangle 11"/>
          <p:cNvSpPr>
            <a:spLocks noChangeArrowheads="1"/>
          </p:cNvSpPr>
          <p:nvPr/>
        </p:nvSpPr>
        <p:spPr bwMode="auto">
          <a:xfrm>
            <a:off x="6837363" y="2584450"/>
            <a:ext cx="1728787" cy="1882775"/>
          </a:xfrm>
          <a:prstGeom prst="rect">
            <a:avLst/>
          </a:prstGeom>
          <a:solidFill>
            <a:srgbClr val="FF9900"/>
          </a:solidFill>
          <a:ln w="9525" algn="ctr">
            <a:solidFill>
              <a:schemeClr val="tx1"/>
            </a:solidFill>
            <a:miter lim="800000"/>
            <a:headEnd/>
            <a:tailEnd type="none" w="lg" len="med"/>
          </a:ln>
          <a:effectLst/>
        </p:spPr>
        <p:txBody>
          <a:bodyPr wrap="none" anchor="ctr">
            <a:spAutoFit/>
          </a:bodyPr>
          <a:lstStyle/>
          <a:p>
            <a:endParaRPr lang="en-US"/>
          </a:p>
        </p:txBody>
      </p:sp>
      <p:sp>
        <p:nvSpPr>
          <p:cNvPr id="11" name="Text Box 12"/>
          <p:cNvSpPr txBox="1">
            <a:spLocks noChangeArrowheads="1"/>
          </p:cNvSpPr>
          <p:nvPr/>
        </p:nvSpPr>
        <p:spPr bwMode="auto">
          <a:xfrm>
            <a:off x="7059613" y="3121025"/>
            <a:ext cx="1314450" cy="1006475"/>
          </a:xfrm>
          <a:prstGeom prst="rect">
            <a:avLst/>
          </a:prstGeom>
          <a:noFill/>
          <a:ln w="9525" algn="ctr">
            <a:noFill/>
            <a:miter lim="800000"/>
            <a:headEnd/>
            <a:tailEnd type="none" w="lg" len="med"/>
          </a:ln>
          <a:effectLst/>
        </p:spPr>
        <p:txBody>
          <a:bodyPr wrap="none">
            <a:spAutoFit/>
          </a:bodyPr>
          <a:lstStyle/>
          <a:p>
            <a:r>
              <a:rPr lang="en-US"/>
              <a:t>Database</a:t>
            </a:r>
            <a:br>
              <a:rPr lang="en-US"/>
            </a:br>
            <a:r>
              <a:rPr lang="en-US"/>
              <a:t>Server</a:t>
            </a:r>
            <a:br>
              <a:rPr lang="en-US"/>
            </a:br>
            <a:endParaRPr lang="en-US"/>
          </a:p>
        </p:txBody>
      </p:sp>
      <p:sp>
        <p:nvSpPr>
          <p:cNvPr id="12" name="Rectangle 15"/>
          <p:cNvSpPr>
            <a:spLocks noChangeArrowheads="1"/>
          </p:cNvSpPr>
          <p:nvPr/>
        </p:nvSpPr>
        <p:spPr bwMode="auto">
          <a:xfrm>
            <a:off x="3265488" y="2582863"/>
            <a:ext cx="1728787" cy="1882775"/>
          </a:xfrm>
          <a:prstGeom prst="rect">
            <a:avLst/>
          </a:prstGeom>
          <a:solidFill>
            <a:srgbClr val="99FF33"/>
          </a:solidFill>
          <a:ln w="9525" algn="ctr">
            <a:solidFill>
              <a:schemeClr val="tx1"/>
            </a:solidFill>
            <a:miter lim="800000"/>
            <a:headEnd/>
            <a:tailEnd type="none" w="lg" len="med"/>
          </a:ln>
          <a:effectLst/>
        </p:spPr>
        <p:txBody>
          <a:bodyPr wrap="none" anchor="ctr">
            <a:spAutoFit/>
          </a:bodyPr>
          <a:lstStyle/>
          <a:p>
            <a:endParaRPr lang="en-US"/>
          </a:p>
        </p:txBody>
      </p:sp>
      <p:sp>
        <p:nvSpPr>
          <p:cNvPr id="13" name="Text Box 16"/>
          <p:cNvSpPr txBox="1">
            <a:spLocks noChangeArrowheads="1"/>
          </p:cNvSpPr>
          <p:nvPr/>
        </p:nvSpPr>
        <p:spPr bwMode="auto">
          <a:xfrm>
            <a:off x="3649663" y="3082925"/>
            <a:ext cx="974725" cy="1006475"/>
          </a:xfrm>
          <a:prstGeom prst="rect">
            <a:avLst/>
          </a:prstGeom>
          <a:noFill/>
          <a:ln w="9525" algn="ctr">
            <a:noFill/>
            <a:miter lim="800000"/>
            <a:headEnd/>
            <a:tailEnd type="none" w="lg" len="med"/>
          </a:ln>
          <a:effectLst/>
        </p:spPr>
        <p:txBody>
          <a:bodyPr wrap="none">
            <a:spAutoFit/>
          </a:bodyPr>
          <a:lstStyle/>
          <a:p>
            <a:r>
              <a:rPr lang="en-US"/>
              <a:t>Web</a:t>
            </a:r>
            <a:br>
              <a:rPr lang="en-US"/>
            </a:br>
            <a:r>
              <a:rPr lang="en-US"/>
              <a:t>Server</a:t>
            </a:r>
            <a:br>
              <a:rPr lang="en-US"/>
            </a:br>
            <a:endParaRPr lang="en-US"/>
          </a:p>
        </p:txBody>
      </p:sp>
      <p:sp>
        <p:nvSpPr>
          <p:cNvPr id="14" name="Text Box 14"/>
          <p:cNvSpPr txBox="1">
            <a:spLocks noChangeArrowheads="1"/>
          </p:cNvSpPr>
          <p:nvPr/>
        </p:nvSpPr>
        <p:spPr bwMode="auto">
          <a:xfrm>
            <a:off x="4918075" y="3290888"/>
            <a:ext cx="633507" cy="369332"/>
          </a:xfrm>
          <a:prstGeom prst="rect">
            <a:avLst/>
          </a:prstGeom>
          <a:solidFill>
            <a:srgbClr val="FFFF99"/>
          </a:solidFill>
          <a:ln w="9525" algn="ctr">
            <a:solidFill>
              <a:schemeClr val="tx1"/>
            </a:solidFill>
            <a:miter lim="800000"/>
            <a:headEnd/>
            <a:tailEnd type="none" w="lg" len="med"/>
          </a:ln>
          <a:effectLst/>
        </p:spPr>
        <p:txBody>
          <a:bodyPr wrap="none">
            <a:spAutoFit/>
          </a:bodyPr>
          <a:lstStyle/>
          <a:p>
            <a:r>
              <a:rPr lang="en-US" dirty="0"/>
              <a:t>Java</a:t>
            </a:r>
          </a:p>
        </p:txBody>
      </p:sp>
      <p:sp>
        <p:nvSpPr>
          <p:cNvPr id="15" name="Line 17"/>
          <p:cNvSpPr>
            <a:spLocks noChangeShapeType="1"/>
          </p:cNvSpPr>
          <p:nvPr/>
        </p:nvSpPr>
        <p:spPr bwMode="auto">
          <a:xfrm>
            <a:off x="3535363" y="2968625"/>
            <a:ext cx="1304925" cy="422275"/>
          </a:xfrm>
          <a:prstGeom prst="line">
            <a:avLst/>
          </a:prstGeom>
          <a:noFill/>
          <a:ln w="9525">
            <a:solidFill>
              <a:schemeClr val="hlink"/>
            </a:solidFill>
            <a:prstDash val="dash"/>
            <a:round/>
            <a:headEnd/>
            <a:tailEnd type="triangle" w="lg" len="med"/>
          </a:ln>
          <a:effectLst/>
        </p:spPr>
        <p:txBody>
          <a:bodyPr>
            <a:spAutoFit/>
          </a:bodyPr>
          <a:lstStyle/>
          <a:p>
            <a:endParaRPr lang="en-US"/>
          </a:p>
        </p:txBody>
      </p:sp>
      <p:sp>
        <p:nvSpPr>
          <p:cNvPr id="16" name="Line 18"/>
          <p:cNvSpPr>
            <a:spLocks noChangeShapeType="1"/>
          </p:cNvSpPr>
          <p:nvPr/>
        </p:nvSpPr>
        <p:spPr bwMode="auto">
          <a:xfrm flipH="1">
            <a:off x="3535363" y="3621088"/>
            <a:ext cx="1230312" cy="346075"/>
          </a:xfrm>
          <a:prstGeom prst="line">
            <a:avLst/>
          </a:prstGeom>
          <a:noFill/>
          <a:ln w="9525">
            <a:solidFill>
              <a:schemeClr val="hlink"/>
            </a:solidFill>
            <a:prstDash val="dash"/>
            <a:round/>
            <a:headEnd/>
            <a:tailEnd type="triangle" w="lg" len="med"/>
          </a:ln>
          <a:effectLst/>
        </p:spPr>
        <p:txBody>
          <a:bodyPr>
            <a:spAutoFit/>
          </a:bodyPr>
          <a:lstStyle/>
          <a:p>
            <a:endParaRPr lang="en-US"/>
          </a:p>
        </p:txBody>
      </p:sp>
      <p:sp>
        <p:nvSpPr>
          <p:cNvPr id="17" name="TextBox 16">
            <a:extLst>
              <a:ext uri="{FF2B5EF4-FFF2-40B4-BE49-F238E27FC236}">
                <a16:creationId xmlns:a16="http://schemas.microsoft.com/office/drawing/2014/main" id="{E1FAFE89-17F1-6A8C-2393-45904EE5DD74}"/>
              </a:ext>
            </a:extLst>
          </p:cNvPr>
          <p:cNvSpPr txBox="1"/>
          <p:nvPr/>
        </p:nvSpPr>
        <p:spPr>
          <a:xfrm>
            <a:off x="3547653" y="3972759"/>
            <a:ext cx="1230312"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dirty="0"/>
              <a:t>Web App</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RDBMS stands for Relational Database Management System.</a:t>
            </a:r>
          </a:p>
          <a:p>
            <a:r>
              <a:rPr lang="en-US" dirty="0"/>
              <a:t>RDBMS is the basis for SQL, and for all modern database systems such as MS SQL Server, IBM DB2, Oracle, </a:t>
            </a:r>
            <a:r>
              <a:rPr lang="en-US" dirty="0" err="1"/>
              <a:t>MySQL</a:t>
            </a:r>
            <a:r>
              <a:rPr lang="en-US" dirty="0"/>
              <a:t>, and Microsoft Access.</a:t>
            </a:r>
          </a:p>
          <a:p>
            <a:r>
              <a:rPr lang="en-US" dirty="0"/>
              <a:t>The data in RDBMS is stored in database objects called tables.</a:t>
            </a:r>
          </a:p>
          <a:p>
            <a:r>
              <a:rPr lang="en-US" dirty="0"/>
              <a:t>A table is a collection of related data entries and it consists of columns and rows.</a:t>
            </a:r>
          </a:p>
          <a:p>
            <a:endParaRPr lang="en-US" dirty="0"/>
          </a:p>
        </p:txBody>
      </p:sp>
      <p:sp>
        <p:nvSpPr>
          <p:cNvPr id="2" name="Title 1"/>
          <p:cNvSpPr>
            <a:spLocks noGrp="1"/>
          </p:cNvSpPr>
          <p:nvPr>
            <p:ph type="title"/>
          </p:nvPr>
        </p:nvSpPr>
        <p:spPr/>
        <p:txBody>
          <a:bodyPr>
            <a:normAutofit/>
          </a:bodyPr>
          <a:lstStyle/>
          <a:p>
            <a:r>
              <a:rPr lang="en-US" dirty="0"/>
              <a:t>RDBMS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err="1"/>
              <a:t>MySQL</a:t>
            </a:r>
            <a:r>
              <a:rPr lang="en-US" dirty="0"/>
              <a:t> is a database system used on the web</a:t>
            </a:r>
          </a:p>
          <a:p>
            <a:r>
              <a:rPr lang="en-US" dirty="0" err="1"/>
              <a:t>MySQL</a:t>
            </a:r>
            <a:r>
              <a:rPr lang="en-US" dirty="0"/>
              <a:t> is a database system that runs on a server</a:t>
            </a:r>
          </a:p>
          <a:p>
            <a:r>
              <a:rPr lang="en-US" dirty="0" err="1"/>
              <a:t>MySQL</a:t>
            </a:r>
            <a:r>
              <a:rPr lang="en-US" dirty="0"/>
              <a:t> is ideal for both small and large applications</a:t>
            </a:r>
          </a:p>
          <a:p>
            <a:r>
              <a:rPr lang="en-US" dirty="0" err="1"/>
              <a:t>MySQL</a:t>
            </a:r>
            <a:r>
              <a:rPr lang="en-US" dirty="0"/>
              <a:t> is very fast, reliable, and easy to use</a:t>
            </a:r>
          </a:p>
          <a:p>
            <a:r>
              <a:rPr lang="en-US" dirty="0" err="1"/>
              <a:t>MySQL</a:t>
            </a:r>
            <a:r>
              <a:rPr lang="en-US" dirty="0"/>
              <a:t> supports standard SQL</a:t>
            </a:r>
          </a:p>
          <a:p>
            <a:r>
              <a:rPr lang="en-US" dirty="0" err="1"/>
              <a:t>MySQL</a:t>
            </a:r>
            <a:r>
              <a:rPr lang="en-US" dirty="0"/>
              <a:t> compiles on a number of platforms</a:t>
            </a:r>
          </a:p>
          <a:p>
            <a:r>
              <a:rPr lang="en-US" dirty="0" err="1"/>
              <a:t>MySQL</a:t>
            </a:r>
            <a:r>
              <a:rPr lang="en-US" dirty="0"/>
              <a:t> is free to download and use</a:t>
            </a:r>
          </a:p>
          <a:p>
            <a:r>
              <a:rPr lang="en-US" dirty="0" err="1"/>
              <a:t>MySQL</a:t>
            </a:r>
            <a:r>
              <a:rPr lang="en-US" dirty="0"/>
              <a:t> is developed, distributed, and supported by Oracle Corporation</a:t>
            </a:r>
          </a:p>
          <a:p>
            <a:r>
              <a:rPr lang="en-US" dirty="0" err="1"/>
              <a:t>MySQL</a:t>
            </a:r>
            <a:r>
              <a:rPr lang="en-US" dirty="0"/>
              <a:t> is named after co-founder Monty </a:t>
            </a:r>
            <a:r>
              <a:rPr lang="en-US" dirty="0" err="1"/>
              <a:t>Widenius's</a:t>
            </a:r>
            <a:r>
              <a:rPr lang="en-US" dirty="0"/>
              <a:t> daughter: My</a:t>
            </a:r>
          </a:p>
          <a:p>
            <a:pPr>
              <a:buNone/>
            </a:pPr>
            <a:endParaRPr lang="en-US" dirty="0"/>
          </a:p>
        </p:txBody>
      </p:sp>
      <p:sp>
        <p:nvSpPr>
          <p:cNvPr id="3" name="Title 2"/>
          <p:cNvSpPr>
            <a:spLocks noGrp="1"/>
          </p:cNvSpPr>
          <p:nvPr>
            <p:ph type="title"/>
          </p:nvPr>
        </p:nvSpPr>
        <p:spPr/>
        <p:txBody>
          <a:bodyPr/>
          <a:lstStyle/>
          <a:p>
            <a:r>
              <a:rPr lang="en-US" dirty="0" err="1"/>
              <a:t>MySQL</a:t>
            </a:r>
            <a:endParaRPr lang="en-US" dirty="0"/>
          </a:p>
        </p:txBody>
      </p:sp>
      <p:pic>
        <p:nvPicPr>
          <p:cNvPr id="4" name="Picture 4" descr="MySQL"/>
          <p:cNvPicPr>
            <a:picLocks noChangeAspect="1" noChangeArrowheads="1"/>
          </p:cNvPicPr>
          <p:nvPr/>
        </p:nvPicPr>
        <p:blipFill>
          <a:blip r:embed="rId2" cstate="print"/>
          <a:srcRect/>
          <a:stretch>
            <a:fillRect/>
          </a:stretch>
        </p:blipFill>
        <p:spPr bwMode="auto">
          <a:xfrm>
            <a:off x="5791200" y="228601"/>
            <a:ext cx="2743200" cy="1142999"/>
          </a:xfrm>
          <a:prstGeom prst="rect">
            <a:avLst/>
          </a:prstGeom>
          <a:solidFill>
            <a:srgbClr val="CCFFFF">
              <a:alpha val="25000"/>
            </a:srgbClr>
          </a:solid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0C5166A-6B72-F42F-DD7C-AC85FAE916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4030" y="761999"/>
            <a:ext cx="7269370" cy="5878065"/>
          </a:xfrm>
        </p:spPr>
      </p:pic>
    </p:spTree>
    <p:extLst>
      <p:ext uri="{BB962C8B-B14F-4D97-AF65-F5344CB8AC3E}">
        <p14:creationId xmlns:p14="http://schemas.microsoft.com/office/powerpoint/2010/main" val="981457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r>
              <a:rPr lang="en-US" dirty="0"/>
              <a:t>Depending on the functionality SQL is classified as follows:</a:t>
            </a:r>
            <a:br>
              <a:rPr lang="en-US" dirty="0"/>
            </a:br>
            <a:endParaRPr lang="en-US" dirty="0"/>
          </a:p>
          <a:p>
            <a:r>
              <a:rPr lang="en-US" dirty="0"/>
              <a:t>Data Definition </a:t>
            </a:r>
            <a:r>
              <a:rPr lang="en-US" dirty="0" err="1"/>
              <a:t>Lanaguage</a:t>
            </a:r>
            <a:r>
              <a:rPr lang="en-US" dirty="0"/>
              <a:t> (DDL)</a:t>
            </a:r>
          </a:p>
          <a:p>
            <a:r>
              <a:rPr lang="en-US" dirty="0"/>
              <a:t>Data Manipulation Language (DML) </a:t>
            </a:r>
          </a:p>
          <a:p>
            <a:r>
              <a:rPr lang="en-US" dirty="0"/>
              <a:t>Data Control Language (DCL) </a:t>
            </a:r>
          </a:p>
        </p:txBody>
      </p:sp>
      <p:sp>
        <p:nvSpPr>
          <p:cNvPr id="3" name="Title 2"/>
          <p:cNvSpPr>
            <a:spLocks noGrp="1"/>
          </p:cNvSpPr>
          <p:nvPr>
            <p:ph type="title"/>
          </p:nvPr>
        </p:nvSpPr>
        <p:spPr/>
        <p:txBody>
          <a:bodyPr>
            <a:normAutofit/>
          </a:bodyPr>
          <a:lstStyle/>
          <a:p>
            <a:r>
              <a:rPr lang="en-US" dirty="0"/>
              <a:t>SQL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B006AE-C0EB-CA37-D526-25345117BCC1}"/>
              </a:ext>
            </a:extLst>
          </p:cNvPr>
          <p:cNvPicPr>
            <a:picLocks noChangeAspect="1"/>
          </p:cNvPicPr>
          <p:nvPr/>
        </p:nvPicPr>
        <p:blipFill>
          <a:blip r:embed="rId2"/>
          <a:srcRect b="8710"/>
          <a:stretch>
            <a:fillRect/>
          </a:stretch>
        </p:blipFill>
        <p:spPr>
          <a:xfrm>
            <a:off x="226896" y="685800"/>
            <a:ext cx="8690208" cy="4953000"/>
          </a:xfrm>
          <a:prstGeom prst="rect">
            <a:avLst/>
          </a:prstGeom>
        </p:spPr>
      </p:pic>
    </p:spTree>
    <p:extLst>
      <p:ext uri="{BB962C8B-B14F-4D97-AF65-F5344CB8AC3E}">
        <p14:creationId xmlns:p14="http://schemas.microsoft.com/office/powerpoint/2010/main" val="3436331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Data Definition Language (DDL) statements are used to define the database structure or schema.</a:t>
            </a:r>
          </a:p>
          <a:p>
            <a:r>
              <a:rPr lang="en-US" dirty="0">
                <a:hlinkClick r:id="rId2"/>
              </a:rPr>
              <a:t>CREATE</a:t>
            </a:r>
            <a:r>
              <a:rPr lang="en-US" dirty="0"/>
              <a:t> - to create objects in the database</a:t>
            </a:r>
          </a:p>
          <a:p>
            <a:r>
              <a:rPr lang="en-US" dirty="0">
                <a:hlinkClick r:id="rId3"/>
              </a:rPr>
              <a:t>ALTER</a:t>
            </a:r>
            <a:r>
              <a:rPr lang="en-US" dirty="0"/>
              <a:t> - alters the structure of the database</a:t>
            </a:r>
          </a:p>
          <a:p>
            <a:r>
              <a:rPr lang="en-US" dirty="0">
                <a:hlinkClick r:id="rId4"/>
              </a:rPr>
              <a:t>DROP</a:t>
            </a:r>
            <a:r>
              <a:rPr lang="en-US" dirty="0"/>
              <a:t> - delete objects from the database</a:t>
            </a:r>
          </a:p>
          <a:p>
            <a:r>
              <a:rPr lang="en-US" dirty="0"/>
              <a:t>TRUNCATE - remove all records from a table, including all spaces allocated for the records are removed</a:t>
            </a:r>
          </a:p>
          <a:p>
            <a:r>
              <a:rPr lang="en-US" dirty="0"/>
              <a:t>COMMENT - add comments to the data dictionary</a:t>
            </a:r>
          </a:p>
          <a:p>
            <a:r>
              <a:rPr lang="en-US" dirty="0"/>
              <a:t>RENAME - rename an object</a:t>
            </a:r>
          </a:p>
          <a:p>
            <a:endParaRPr lang="en-US" dirty="0"/>
          </a:p>
        </p:txBody>
      </p:sp>
      <p:sp>
        <p:nvSpPr>
          <p:cNvPr id="3" name="Title 2"/>
          <p:cNvSpPr>
            <a:spLocks noGrp="1"/>
          </p:cNvSpPr>
          <p:nvPr>
            <p:ph type="title"/>
          </p:nvPr>
        </p:nvSpPr>
        <p:spPr/>
        <p:txBody>
          <a:bodyPr/>
          <a:lstStyle/>
          <a:p>
            <a:r>
              <a:rPr lang="en-US" dirty="0"/>
              <a:t>Data Definition Language (DDL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Data Manipulation Language (DML) statements are used for managing data within schema objects.</a:t>
            </a:r>
          </a:p>
          <a:p>
            <a:r>
              <a:rPr lang="en-US" dirty="0">
                <a:hlinkClick r:id="rId2"/>
              </a:rPr>
              <a:t>SELECT</a:t>
            </a:r>
            <a:r>
              <a:rPr lang="en-US" dirty="0"/>
              <a:t> - retrieve data from the a database</a:t>
            </a:r>
          </a:p>
          <a:p>
            <a:r>
              <a:rPr lang="en-US" dirty="0">
                <a:hlinkClick r:id="rId3"/>
              </a:rPr>
              <a:t>INSERT</a:t>
            </a:r>
            <a:r>
              <a:rPr lang="en-US" dirty="0"/>
              <a:t> - insert data into a table</a:t>
            </a:r>
          </a:p>
          <a:p>
            <a:r>
              <a:rPr lang="en-US" dirty="0">
                <a:hlinkClick r:id="rId4"/>
              </a:rPr>
              <a:t>UPDATE</a:t>
            </a:r>
            <a:r>
              <a:rPr lang="en-US" dirty="0"/>
              <a:t> - updates existing data within a table</a:t>
            </a:r>
          </a:p>
          <a:p>
            <a:r>
              <a:rPr lang="en-US" dirty="0">
                <a:hlinkClick r:id="rId5"/>
              </a:rPr>
              <a:t>DELETE</a:t>
            </a:r>
            <a:r>
              <a:rPr lang="en-US" dirty="0"/>
              <a:t> - deletes all records from a table, the space for the records remain</a:t>
            </a:r>
          </a:p>
          <a:p>
            <a:r>
              <a:rPr lang="en-US" dirty="0"/>
              <a:t>MERGE - UPSERT operation (insert or update)</a:t>
            </a:r>
          </a:p>
          <a:p>
            <a:r>
              <a:rPr lang="en-US" dirty="0"/>
              <a:t>CALL - call a PL/SQL or Java subprogram</a:t>
            </a:r>
          </a:p>
          <a:p>
            <a:r>
              <a:rPr lang="en-US" dirty="0"/>
              <a:t>EXPLAIN PLAN - explain access path to data</a:t>
            </a:r>
          </a:p>
          <a:p>
            <a:r>
              <a:rPr lang="en-US" dirty="0"/>
              <a:t>LOCK TABLE - control concurrency</a:t>
            </a:r>
          </a:p>
          <a:p>
            <a:endParaRPr lang="en-US" dirty="0"/>
          </a:p>
        </p:txBody>
      </p:sp>
      <p:sp>
        <p:nvSpPr>
          <p:cNvPr id="3" name="Title 2"/>
          <p:cNvSpPr>
            <a:spLocks noGrp="1"/>
          </p:cNvSpPr>
          <p:nvPr>
            <p:ph type="title"/>
          </p:nvPr>
        </p:nvSpPr>
        <p:spPr/>
        <p:txBody>
          <a:bodyPr>
            <a:normAutofit fontScale="90000"/>
          </a:bodyPr>
          <a:lstStyle/>
          <a:p>
            <a:r>
              <a:rPr lang="en-US" dirty="0"/>
              <a:t>Data Manipulation Language (DML)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GRANT - gives user's access privileges to database</a:t>
            </a:r>
          </a:p>
          <a:p>
            <a:pPr fontAlgn="base"/>
            <a:r>
              <a:rPr lang="en-US" dirty="0"/>
              <a:t>REVOKE - withdraw access privileges given with the GRANT command</a:t>
            </a:r>
          </a:p>
          <a:p>
            <a:endParaRPr lang="en-US" dirty="0"/>
          </a:p>
        </p:txBody>
      </p:sp>
      <p:sp>
        <p:nvSpPr>
          <p:cNvPr id="3" name="Title 2"/>
          <p:cNvSpPr>
            <a:spLocks noGrp="1"/>
          </p:cNvSpPr>
          <p:nvPr>
            <p:ph type="title"/>
          </p:nvPr>
        </p:nvSpPr>
        <p:spPr/>
        <p:txBody>
          <a:bodyPr/>
          <a:lstStyle/>
          <a:p>
            <a:r>
              <a:rPr lang="en-US" b="0" dirty="0"/>
              <a:t>Data Control Language (DCL)</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b="1" dirty="0"/>
              <a:t>SELECT</a:t>
            </a:r>
            <a:r>
              <a:rPr lang="en-US" dirty="0"/>
              <a:t> - extracts data from a database</a:t>
            </a:r>
          </a:p>
          <a:p>
            <a:r>
              <a:rPr lang="en-US" b="1" dirty="0"/>
              <a:t>UPDATE</a:t>
            </a:r>
            <a:r>
              <a:rPr lang="en-US" dirty="0"/>
              <a:t> - updates data in a database</a:t>
            </a:r>
          </a:p>
          <a:p>
            <a:r>
              <a:rPr lang="en-US" b="1" dirty="0"/>
              <a:t>DELETE</a:t>
            </a:r>
            <a:r>
              <a:rPr lang="en-US" dirty="0"/>
              <a:t> - deletes data from a database</a:t>
            </a:r>
          </a:p>
          <a:p>
            <a:r>
              <a:rPr lang="en-US" b="1" dirty="0"/>
              <a:t>INSERT INTO</a:t>
            </a:r>
            <a:r>
              <a:rPr lang="en-US" dirty="0"/>
              <a:t> - inserts new data into a database</a:t>
            </a:r>
          </a:p>
          <a:p>
            <a:r>
              <a:rPr lang="en-US" b="1" dirty="0"/>
              <a:t>CREATE DATABASE</a:t>
            </a:r>
            <a:r>
              <a:rPr lang="en-US" dirty="0"/>
              <a:t> - creates a new database</a:t>
            </a:r>
          </a:p>
          <a:p>
            <a:r>
              <a:rPr lang="en-US" b="1" dirty="0"/>
              <a:t>ALTER DATABASE</a:t>
            </a:r>
            <a:r>
              <a:rPr lang="en-US" dirty="0"/>
              <a:t> - modifies a database</a:t>
            </a:r>
          </a:p>
          <a:p>
            <a:r>
              <a:rPr lang="en-US" b="1" dirty="0"/>
              <a:t>CREATE TABLE</a:t>
            </a:r>
            <a:r>
              <a:rPr lang="en-US" dirty="0"/>
              <a:t> - creates a new table</a:t>
            </a:r>
          </a:p>
          <a:p>
            <a:r>
              <a:rPr lang="en-US" b="1" dirty="0"/>
              <a:t>ALTER TABLE</a:t>
            </a:r>
            <a:r>
              <a:rPr lang="en-US" dirty="0"/>
              <a:t> - modifies a table</a:t>
            </a:r>
          </a:p>
          <a:p>
            <a:r>
              <a:rPr lang="en-US" b="1" dirty="0"/>
              <a:t>DROP TABLE</a:t>
            </a:r>
            <a:r>
              <a:rPr lang="en-US" dirty="0"/>
              <a:t> - deletes a table</a:t>
            </a:r>
          </a:p>
          <a:p>
            <a:r>
              <a:rPr lang="en-US" b="1" dirty="0"/>
              <a:t>CREATE INDEX</a:t>
            </a:r>
            <a:r>
              <a:rPr lang="en-US" dirty="0"/>
              <a:t> - creates an index (search key)</a:t>
            </a:r>
          </a:p>
          <a:p>
            <a:r>
              <a:rPr lang="en-US" b="1" dirty="0"/>
              <a:t>DROP INDEX</a:t>
            </a:r>
            <a:r>
              <a:rPr lang="en-US" dirty="0"/>
              <a:t> - deletes an index</a:t>
            </a:r>
          </a:p>
          <a:p>
            <a:endParaRPr lang="en-US" dirty="0"/>
          </a:p>
        </p:txBody>
      </p:sp>
      <p:sp>
        <p:nvSpPr>
          <p:cNvPr id="2" name="Title 1"/>
          <p:cNvSpPr>
            <a:spLocks noGrp="1"/>
          </p:cNvSpPr>
          <p:nvPr>
            <p:ph type="title"/>
          </p:nvPr>
        </p:nvSpPr>
        <p:spPr/>
        <p:txBody>
          <a:bodyPr>
            <a:normAutofit fontScale="90000"/>
          </a:bodyPr>
          <a:lstStyle/>
          <a:p>
            <a:r>
              <a:rPr lang="en-US" dirty="0"/>
              <a:t>Some of The Most Important SQL Commands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SELECT statement is used to select data from a database.</a:t>
            </a:r>
          </a:p>
          <a:p>
            <a:r>
              <a:rPr lang="en-US" dirty="0"/>
              <a:t>The result is stored in a result table, called the result-set.</a:t>
            </a:r>
          </a:p>
          <a:p>
            <a:pPr>
              <a:buNone/>
            </a:pPr>
            <a:r>
              <a:rPr lang="en-US" dirty="0"/>
              <a:t>Syntax:</a:t>
            </a:r>
          </a:p>
          <a:p>
            <a:pPr>
              <a:buNone/>
            </a:pPr>
            <a:r>
              <a:rPr lang="en-US" dirty="0"/>
              <a:t>SELECT </a:t>
            </a:r>
            <a:r>
              <a:rPr lang="en-US" i="1" dirty="0" err="1"/>
              <a:t>column_name</a:t>
            </a:r>
            <a:r>
              <a:rPr lang="en-US" dirty="0" err="1"/>
              <a:t>,</a:t>
            </a:r>
            <a:r>
              <a:rPr lang="en-US" i="1" dirty="0" err="1"/>
              <a:t>column_name</a:t>
            </a:r>
            <a:br>
              <a:rPr lang="en-US" dirty="0"/>
            </a:br>
            <a:r>
              <a:rPr lang="en-US" dirty="0"/>
              <a:t>FROM </a:t>
            </a:r>
            <a:r>
              <a:rPr lang="en-US" i="1" dirty="0" err="1"/>
              <a:t>table_name</a:t>
            </a:r>
            <a:r>
              <a:rPr lang="en-US" dirty="0"/>
              <a:t>;</a:t>
            </a:r>
          </a:p>
          <a:p>
            <a:pPr>
              <a:buNone/>
            </a:pPr>
            <a:r>
              <a:rPr lang="en-US" dirty="0"/>
              <a:t>SELECT * FROM </a:t>
            </a:r>
            <a:r>
              <a:rPr lang="en-US" i="1" dirty="0" err="1"/>
              <a:t>table_name</a:t>
            </a:r>
            <a:r>
              <a:rPr lang="en-US" dirty="0"/>
              <a:t>;</a:t>
            </a:r>
          </a:p>
        </p:txBody>
      </p:sp>
      <p:sp>
        <p:nvSpPr>
          <p:cNvPr id="2" name="Title 1"/>
          <p:cNvSpPr>
            <a:spLocks noGrp="1"/>
          </p:cNvSpPr>
          <p:nvPr>
            <p:ph type="title"/>
          </p:nvPr>
        </p:nvSpPr>
        <p:spPr/>
        <p:txBody>
          <a:bodyPr>
            <a:normAutofit/>
          </a:bodyPr>
          <a:lstStyle/>
          <a:p>
            <a:r>
              <a:rPr lang="en-US" dirty="0"/>
              <a:t>SQL SELECT Statement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304800"/>
            <a:ext cx="8610600" cy="5702491"/>
          </a:xfrm>
        </p:spPr>
        <p:txBody>
          <a:bodyPr>
            <a:normAutofit/>
          </a:bodyPr>
          <a:lstStyle/>
          <a:p>
            <a:pPr marL="109728" indent="0" latinLnBrk="1">
              <a:buNone/>
            </a:pPr>
            <a:r>
              <a:rPr lang="en-IN" dirty="0"/>
              <a:t>SELECT </a:t>
            </a:r>
          </a:p>
          <a:p>
            <a:pPr marL="109728" indent="0" latinLnBrk="1">
              <a:buNone/>
            </a:pPr>
            <a:r>
              <a:rPr lang="en-IN" dirty="0"/>
              <a:t>    column_1, column_2, ...</a:t>
            </a:r>
          </a:p>
          <a:p>
            <a:pPr marL="109728" indent="0" latinLnBrk="1">
              <a:buNone/>
            </a:pPr>
            <a:r>
              <a:rPr lang="en-IN" dirty="0"/>
              <a:t>FROM</a:t>
            </a:r>
          </a:p>
          <a:p>
            <a:pPr marL="109728" indent="0" latinLnBrk="1">
              <a:buNone/>
            </a:pPr>
            <a:r>
              <a:rPr lang="en-IN" dirty="0"/>
              <a:t>    table_1</a:t>
            </a:r>
          </a:p>
          <a:p>
            <a:pPr marL="109728" indent="0" latinLnBrk="1">
              <a:buNone/>
            </a:pPr>
            <a:r>
              <a:rPr lang="en-IN" dirty="0"/>
              <a:t>[INNER | LEFT |RIGHT] JOIN table_2 ON conditions</a:t>
            </a:r>
          </a:p>
          <a:p>
            <a:pPr marL="109728" indent="0" latinLnBrk="1">
              <a:buNone/>
            </a:pPr>
            <a:r>
              <a:rPr lang="en-IN" dirty="0"/>
              <a:t>WHERE</a:t>
            </a:r>
          </a:p>
          <a:p>
            <a:pPr marL="109728" indent="0" latinLnBrk="1">
              <a:buNone/>
            </a:pPr>
            <a:r>
              <a:rPr lang="en-IN" dirty="0"/>
              <a:t>    conditions</a:t>
            </a:r>
          </a:p>
          <a:p>
            <a:pPr marL="109728" indent="0" latinLnBrk="1">
              <a:buNone/>
            </a:pPr>
            <a:r>
              <a:rPr lang="en-IN" dirty="0"/>
              <a:t>GROUP BY column_1</a:t>
            </a:r>
          </a:p>
          <a:p>
            <a:pPr marL="109728" indent="0" latinLnBrk="1">
              <a:buNone/>
            </a:pPr>
            <a:r>
              <a:rPr lang="en-IN" dirty="0"/>
              <a:t>HAVING </a:t>
            </a:r>
            <a:r>
              <a:rPr lang="en-IN" dirty="0" err="1"/>
              <a:t>group_conditions</a:t>
            </a:r>
            <a:endParaRPr lang="en-IN" dirty="0"/>
          </a:p>
          <a:p>
            <a:pPr marL="109728" indent="0" latinLnBrk="1">
              <a:buNone/>
            </a:pPr>
            <a:r>
              <a:rPr lang="en-IN" dirty="0"/>
              <a:t>ORDER BY column_1</a:t>
            </a:r>
          </a:p>
          <a:p>
            <a:pPr marL="109728" indent="0" latinLnBrk="1">
              <a:buNone/>
            </a:pPr>
            <a:r>
              <a:rPr lang="en-IN" dirty="0"/>
              <a:t>LIMIT offset</a:t>
            </a:r>
            <a:r>
              <a:rPr lang="en-IN"/>
              <a:t>, length];</a:t>
            </a:r>
            <a:endParaRPr lang="en-IN" dirty="0"/>
          </a:p>
          <a:p>
            <a:pPr marL="109728" indent="0">
              <a:buNone/>
            </a:pPr>
            <a:endParaRPr lang="en-IN" dirty="0"/>
          </a:p>
        </p:txBody>
      </p:sp>
    </p:spTree>
    <p:extLst>
      <p:ext uri="{BB962C8B-B14F-4D97-AF65-F5344CB8AC3E}">
        <p14:creationId xmlns:p14="http://schemas.microsoft.com/office/powerpoint/2010/main" val="2435681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381000"/>
            <a:ext cx="8534400" cy="5943600"/>
          </a:xfrm>
        </p:spPr>
        <p:txBody>
          <a:bodyPr>
            <a:normAutofit fontScale="92500" lnSpcReduction="10000"/>
          </a:bodyPr>
          <a:lstStyle/>
          <a:p>
            <a:r>
              <a:rPr lang="en-IN" dirty="0"/>
              <a:t>SELECT followed by a list of comma-separated columns or an asterisk (*) to indicate that you want to return all columns.</a:t>
            </a:r>
          </a:p>
          <a:p>
            <a:r>
              <a:rPr lang="en-IN" dirty="0"/>
              <a:t>FROM specifies the table or view where you want to query the data.</a:t>
            </a:r>
          </a:p>
          <a:p>
            <a:r>
              <a:rPr lang="en-IN" dirty="0">
                <a:hlinkClick r:id="rId2"/>
              </a:rPr>
              <a:t>JOIN</a:t>
            </a:r>
            <a:r>
              <a:rPr lang="en-IN" dirty="0"/>
              <a:t> gets related data from other tables based on specific join conditions.</a:t>
            </a:r>
          </a:p>
          <a:p>
            <a:r>
              <a:rPr lang="en-IN" dirty="0">
                <a:hlinkClick r:id="rId3"/>
              </a:rPr>
              <a:t>WHERE</a:t>
            </a:r>
            <a:r>
              <a:rPr lang="en-IN" dirty="0"/>
              <a:t> clause filters row in the result set.</a:t>
            </a:r>
          </a:p>
          <a:p>
            <a:r>
              <a:rPr lang="en-IN" dirty="0">
                <a:hlinkClick r:id="rId4"/>
              </a:rPr>
              <a:t>GROUP BY</a:t>
            </a:r>
            <a:r>
              <a:rPr lang="en-IN" dirty="0"/>
              <a:t> clause groups a set of rows into groups and applies </a:t>
            </a:r>
            <a:r>
              <a:rPr lang="en-IN" dirty="0">
                <a:hlinkClick r:id="rId5"/>
              </a:rPr>
              <a:t>aggregate functions</a:t>
            </a:r>
            <a:r>
              <a:rPr lang="en-IN" dirty="0"/>
              <a:t> on each group.</a:t>
            </a:r>
          </a:p>
          <a:p>
            <a:r>
              <a:rPr lang="en-IN" dirty="0">
                <a:hlinkClick r:id="rId6"/>
              </a:rPr>
              <a:t>HAVING</a:t>
            </a:r>
            <a:r>
              <a:rPr lang="en-IN" dirty="0"/>
              <a:t> clause filters group based on groups defined by GROUP BY clause.</a:t>
            </a:r>
          </a:p>
          <a:p>
            <a:r>
              <a:rPr lang="en-IN" dirty="0">
                <a:hlinkClick r:id="rId7"/>
              </a:rPr>
              <a:t>ORDER BY</a:t>
            </a:r>
            <a:r>
              <a:rPr lang="en-IN" dirty="0"/>
              <a:t> clause specifies a list of columns for sorting.</a:t>
            </a:r>
          </a:p>
          <a:p>
            <a:r>
              <a:rPr lang="en-IN" dirty="0">
                <a:hlinkClick r:id="rId8"/>
              </a:rPr>
              <a:t>LIMIT</a:t>
            </a:r>
            <a:r>
              <a:rPr lang="en-IN" dirty="0"/>
              <a:t> constrains the number of returned rows.</a:t>
            </a:r>
          </a:p>
          <a:p>
            <a:endParaRPr lang="en-IN" dirty="0"/>
          </a:p>
        </p:txBody>
      </p:sp>
    </p:spTree>
    <p:extLst>
      <p:ext uri="{BB962C8B-B14F-4D97-AF65-F5344CB8AC3E}">
        <p14:creationId xmlns:p14="http://schemas.microsoft.com/office/powerpoint/2010/main" val="4119526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 a table, a column may contain many duplicate values; and sometimes you only want to list the different (distinct) values.</a:t>
            </a:r>
          </a:p>
          <a:p>
            <a:r>
              <a:rPr lang="en-US" dirty="0"/>
              <a:t>The DISTINCT keyword can be used to return only distinct (different) values.</a:t>
            </a:r>
          </a:p>
          <a:p>
            <a:pPr>
              <a:buNone/>
            </a:pPr>
            <a:r>
              <a:rPr lang="en-US" dirty="0"/>
              <a:t>Syntax:</a:t>
            </a:r>
          </a:p>
          <a:p>
            <a:pPr>
              <a:buNone/>
            </a:pPr>
            <a:r>
              <a:rPr lang="en-US" dirty="0"/>
              <a:t>SELECT DISTINCT </a:t>
            </a:r>
            <a:r>
              <a:rPr lang="en-US" i="1" dirty="0" err="1"/>
              <a:t>column_name</a:t>
            </a:r>
            <a:r>
              <a:rPr lang="en-US" dirty="0" err="1"/>
              <a:t>,</a:t>
            </a:r>
            <a:r>
              <a:rPr lang="en-US" i="1" dirty="0" err="1"/>
              <a:t>column_name</a:t>
            </a:r>
            <a:br>
              <a:rPr lang="en-US" dirty="0"/>
            </a:br>
            <a:r>
              <a:rPr lang="en-US" dirty="0"/>
              <a:t>FROM </a:t>
            </a:r>
            <a:r>
              <a:rPr lang="en-US" i="1" dirty="0" err="1"/>
              <a:t>table_name</a:t>
            </a:r>
            <a:r>
              <a:rPr lang="en-US" dirty="0"/>
              <a:t>;</a:t>
            </a:r>
          </a:p>
          <a:p>
            <a:pPr>
              <a:buNone/>
            </a:pPr>
            <a:endParaRPr lang="en-US" dirty="0"/>
          </a:p>
        </p:txBody>
      </p:sp>
      <p:sp>
        <p:nvSpPr>
          <p:cNvPr id="2" name="Title 1"/>
          <p:cNvSpPr>
            <a:spLocks noGrp="1"/>
          </p:cNvSpPr>
          <p:nvPr>
            <p:ph type="title"/>
          </p:nvPr>
        </p:nvSpPr>
        <p:spPr/>
        <p:txBody>
          <a:bodyPr>
            <a:normAutofit fontScale="90000"/>
          </a:bodyPr>
          <a:lstStyle/>
          <a:p>
            <a:r>
              <a:rPr lang="en-US" dirty="0"/>
              <a:t>The SQL SELECT DISTINCT Statement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WHERE clause is used to extract only those records that fulfill a specified criterion.</a:t>
            </a:r>
          </a:p>
          <a:p>
            <a:pPr>
              <a:buNone/>
            </a:pPr>
            <a:r>
              <a:rPr lang="en-US" dirty="0"/>
              <a:t>Syntax</a:t>
            </a:r>
          </a:p>
          <a:p>
            <a:pPr>
              <a:buNone/>
            </a:pPr>
            <a:r>
              <a:rPr lang="en-US" dirty="0"/>
              <a:t>SELECT </a:t>
            </a:r>
            <a:r>
              <a:rPr lang="en-US" i="1" dirty="0" err="1"/>
              <a:t>column_name</a:t>
            </a:r>
            <a:r>
              <a:rPr lang="en-US" dirty="0" err="1"/>
              <a:t>,</a:t>
            </a:r>
            <a:r>
              <a:rPr lang="en-US" i="1" dirty="0" err="1"/>
              <a:t>column_name</a:t>
            </a:r>
            <a:br>
              <a:rPr lang="en-US" dirty="0"/>
            </a:br>
            <a:r>
              <a:rPr lang="en-US" dirty="0"/>
              <a:t>FROM </a:t>
            </a:r>
            <a:r>
              <a:rPr lang="en-US" i="1" dirty="0" err="1"/>
              <a:t>table_name</a:t>
            </a:r>
            <a:br>
              <a:rPr lang="en-US" dirty="0"/>
            </a:br>
            <a:r>
              <a:rPr lang="en-US" dirty="0"/>
              <a:t>WHERE </a:t>
            </a:r>
            <a:r>
              <a:rPr lang="en-US" i="1" dirty="0" err="1"/>
              <a:t>column_name</a:t>
            </a:r>
            <a:r>
              <a:rPr lang="en-US" i="1" dirty="0"/>
              <a:t> operator value</a:t>
            </a:r>
            <a:r>
              <a:rPr lang="en-US" dirty="0"/>
              <a:t>;</a:t>
            </a:r>
          </a:p>
          <a:p>
            <a:pPr>
              <a:buNone/>
            </a:pPr>
            <a:r>
              <a:rPr lang="en-US" dirty="0"/>
              <a:t>Example</a:t>
            </a:r>
          </a:p>
          <a:p>
            <a:pPr>
              <a:buNone/>
            </a:pPr>
            <a:r>
              <a:rPr lang="en-US" dirty="0"/>
              <a:t>SELECT * FROM Customers</a:t>
            </a:r>
            <a:br>
              <a:rPr lang="en-US" dirty="0"/>
            </a:br>
            <a:r>
              <a:rPr lang="en-US" dirty="0"/>
              <a:t>WHERE Country='Mexico';</a:t>
            </a:r>
          </a:p>
          <a:p>
            <a:pPr>
              <a:buNone/>
            </a:pPr>
            <a:endParaRPr lang="en-US" dirty="0"/>
          </a:p>
        </p:txBody>
      </p:sp>
      <p:sp>
        <p:nvSpPr>
          <p:cNvPr id="2" name="Title 1"/>
          <p:cNvSpPr>
            <a:spLocks noGrp="1"/>
          </p:cNvSpPr>
          <p:nvPr>
            <p:ph type="title"/>
          </p:nvPr>
        </p:nvSpPr>
        <p:spPr/>
        <p:txBody>
          <a:bodyPr>
            <a:normAutofit/>
          </a:bodyPr>
          <a:lstStyle/>
          <a:p>
            <a:r>
              <a:rPr lang="en-US" dirty="0"/>
              <a:t>The SQL WHERE Clause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661987" y="1725771"/>
          <a:ext cx="7820025" cy="4274820"/>
        </p:xfrm>
        <a:graphic>
          <a:graphicData uri="http://schemas.openxmlformats.org/drawingml/2006/table">
            <a:tbl>
              <a:tblPr/>
              <a:tblGrid>
                <a:gridCol w="1564005">
                  <a:extLst>
                    <a:ext uri="{9D8B030D-6E8A-4147-A177-3AD203B41FA5}">
                      <a16:colId xmlns:a16="http://schemas.microsoft.com/office/drawing/2014/main" val="20000"/>
                    </a:ext>
                  </a:extLst>
                </a:gridCol>
                <a:gridCol w="6256020">
                  <a:extLst>
                    <a:ext uri="{9D8B030D-6E8A-4147-A177-3AD203B41FA5}">
                      <a16:colId xmlns:a16="http://schemas.microsoft.com/office/drawing/2014/main" val="20001"/>
                    </a:ext>
                  </a:extLst>
                </a:gridCol>
              </a:tblGrid>
              <a:tr h="0">
                <a:tc>
                  <a:txBody>
                    <a:bodyPr/>
                    <a:lstStyle/>
                    <a:p>
                      <a:pPr algn="l" fontAlgn="t"/>
                      <a:r>
                        <a:rPr lang="en-US">
                          <a:solidFill>
                            <a:srgbClr val="FFFFFF"/>
                          </a:solidFill>
                          <a:latin typeface="verdana"/>
                        </a:rPr>
                        <a:t>Operator</a:t>
                      </a: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en-US">
                          <a:solidFill>
                            <a:srgbClr val="FFFFFF"/>
                          </a:solidFill>
                          <a:latin typeface="verdana"/>
                        </a:rPr>
                        <a:t>Description</a:t>
                      </a: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10000"/>
                  </a:ext>
                </a:extLst>
              </a:tr>
              <a:tr h="0">
                <a:tc>
                  <a:txBody>
                    <a:bodyPr/>
                    <a:lstStyle/>
                    <a:p>
                      <a:pPr fontAlgn="t"/>
                      <a:r>
                        <a:rPr lang="en-US">
                          <a:latin typeface="verdana"/>
                        </a:rPr>
                        <a:t>=</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atin typeface="verdana"/>
                        </a:rPr>
                        <a:t>Equal</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fontAlgn="t"/>
                      <a:r>
                        <a:rPr lang="en-US">
                          <a:latin typeface="verdana"/>
                        </a:rPr>
                        <a:t>&lt;&gt;</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a:latin typeface="verdana"/>
                        </a:rPr>
                        <a:t>Not equal. </a:t>
                      </a:r>
                      <a:r>
                        <a:rPr lang="en-US" b="1">
                          <a:latin typeface="verdana"/>
                        </a:rPr>
                        <a:t>Note:</a:t>
                      </a:r>
                      <a:r>
                        <a:rPr lang="en-US">
                          <a:latin typeface="verdana"/>
                        </a:rPr>
                        <a:t> In some versions of SQL this operator may be written as !=</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2"/>
                  </a:ext>
                </a:extLst>
              </a:tr>
              <a:tr h="0">
                <a:tc>
                  <a:txBody>
                    <a:bodyPr/>
                    <a:lstStyle/>
                    <a:p>
                      <a:pPr fontAlgn="t"/>
                      <a:r>
                        <a:rPr lang="en-US">
                          <a:latin typeface="verdana"/>
                        </a:rPr>
                        <a:t>&gt;</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atin typeface="verdana"/>
                        </a:rPr>
                        <a:t>Greater than</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fontAlgn="t"/>
                      <a:r>
                        <a:rPr lang="en-US">
                          <a:latin typeface="verdana"/>
                        </a:rPr>
                        <a:t>&lt;</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a:latin typeface="verdana"/>
                        </a:rPr>
                        <a:t>Less than</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4"/>
                  </a:ext>
                </a:extLst>
              </a:tr>
              <a:tr h="0">
                <a:tc>
                  <a:txBody>
                    <a:bodyPr/>
                    <a:lstStyle/>
                    <a:p>
                      <a:pPr fontAlgn="t"/>
                      <a:r>
                        <a:rPr lang="en-US">
                          <a:latin typeface="verdana"/>
                        </a:rPr>
                        <a:t>&gt;=</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atin typeface="verdana"/>
                        </a:rPr>
                        <a:t>Greater than or equal</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fontAlgn="t"/>
                      <a:r>
                        <a:rPr lang="en-US">
                          <a:latin typeface="verdana"/>
                        </a:rPr>
                        <a:t>&lt;=</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a:latin typeface="verdana"/>
                        </a:rPr>
                        <a:t>Less than or equal</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6"/>
                  </a:ext>
                </a:extLst>
              </a:tr>
              <a:tr h="0">
                <a:tc>
                  <a:txBody>
                    <a:bodyPr/>
                    <a:lstStyle/>
                    <a:p>
                      <a:pPr fontAlgn="t"/>
                      <a:r>
                        <a:rPr lang="en-US">
                          <a:latin typeface="verdana"/>
                        </a:rPr>
                        <a:t>BETWEEN</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atin typeface="verdana"/>
                        </a:rPr>
                        <a:t>Between an inclusive range</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fontAlgn="t"/>
                      <a:r>
                        <a:rPr lang="en-US">
                          <a:latin typeface="verdana"/>
                        </a:rPr>
                        <a:t>LIKE</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a:latin typeface="verdana"/>
                        </a:rPr>
                        <a:t>Search for a pattern</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8"/>
                  </a:ext>
                </a:extLst>
              </a:tr>
              <a:tr h="0">
                <a:tc>
                  <a:txBody>
                    <a:bodyPr/>
                    <a:lstStyle/>
                    <a:p>
                      <a:pPr fontAlgn="t"/>
                      <a:r>
                        <a:rPr lang="en-US">
                          <a:latin typeface="verdana"/>
                        </a:rPr>
                        <a:t>IN</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dirty="0">
                          <a:latin typeface="verdana"/>
                        </a:rPr>
                        <a:t>To specify multiple possible values for a column</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 name="Title 1"/>
          <p:cNvSpPr>
            <a:spLocks noGrp="1"/>
          </p:cNvSpPr>
          <p:nvPr>
            <p:ph type="title"/>
          </p:nvPr>
        </p:nvSpPr>
        <p:spPr/>
        <p:txBody>
          <a:bodyPr>
            <a:normAutofit/>
          </a:bodyPr>
          <a:lstStyle/>
          <a:p>
            <a:r>
              <a:rPr lang="en-US" dirty="0"/>
              <a:t>Operators in The WHERE Clause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AND operator displays a record if both the first condition AND the second condition are true.</a:t>
            </a:r>
          </a:p>
          <a:p>
            <a:r>
              <a:rPr lang="en-US" dirty="0"/>
              <a:t>The OR operator displays a record if either the first condition OR the second condition is true.</a:t>
            </a:r>
          </a:p>
          <a:p>
            <a:endParaRPr lang="en-US" dirty="0"/>
          </a:p>
        </p:txBody>
      </p:sp>
      <p:sp>
        <p:nvSpPr>
          <p:cNvPr id="2" name="Title 1"/>
          <p:cNvSpPr>
            <a:spLocks noGrp="1"/>
          </p:cNvSpPr>
          <p:nvPr>
            <p:ph type="title"/>
          </p:nvPr>
        </p:nvSpPr>
        <p:spPr/>
        <p:txBody>
          <a:bodyPr>
            <a:normAutofit/>
          </a:bodyPr>
          <a:lstStyle/>
          <a:p>
            <a:r>
              <a:rPr lang="en-US" dirty="0"/>
              <a:t>The SQL AND &amp; OR Operators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The following SQL statement selects all customers from the country "Germany" AND the city "Berlin", in the "Customers" table:</a:t>
            </a:r>
          </a:p>
          <a:p>
            <a:pPr>
              <a:buNone/>
            </a:pPr>
            <a:r>
              <a:rPr lang="en-US" dirty="0"/>
              <a:t>Example</a:t>
            </a:r>
          </a:p>
          <a:p>
            <a:pPr>
              <a:buNone/>
            </a:pPr>
            <a:r>
              <a:rPr lang="en-US" dirty="0"/>
              <a:t>SELECT * FROM Customers</a:t>
            </a:r>
            <a:br>
              <a:rPr lang="en-US" dirty="0"/>
            </a:br>
            <a:r>
              <a:rPr lang="en-US" dirty="0"/>
              <a:t>WHERE Country='Germany'</a:t>
            </a:r>
            <a:br>
              <a:rPr lang="en-US" dirty="0"/>
            </a:br>
            <a:r>
              <a:rPr lang="en-US" dirty="0"/>
              <a:t>AND City='Berlin';</a:t>
            </a:r>
          </a:p>
          <a:p>
            <a:pPr>
              <a:buNone/>
            </a:pPr>
            <a:endParaRPr lang="en-US" dirty="0"/>
          </a:p>
        </p:txBody>
      </p:sp>
      <p:sp>
        <p:nvSpPr>
          <p:cNvPr id="2" name="Title 1"/>
          <p:cNvSpPr>
            <a:spLocks noGrp="1"/>
          </p:cNvSpPr>
          <p:nvPr>
            <p:ph type="title"/>
          </p:nvPr>
        </p:nvSpPr>
        <p:spPr/>
        <p:txBody>
          <a:bodyPr>
            <a:normAutofit/>
          </a:bodyPr>
          <a:lstStyle/>
          <a:p>
            <a:r>
              <a:rPr lang="en-US" dirty="0"/>
              <a:t>AND Operator Example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The following SQL statement selects all customers from the city "Berlin" OR "</a:t>
            </a:r>
            <a:r>
              <a:rPr lang="en-US" dirty="0" err="1"/>
              <a:t>München</a:t>
            </a:r>
            <a:r>
              <a:rPr lang="en-US" dirty="0"/>
              <a:t>", in the "Customers" table: </a:t>
            </a:r>
          </a:p>
          <a:p>
            <a:pPr>
              <a:buNone/>
            </a:pPr>
            <a:r>
              <a:rPr lang="en-US" dirty="0"/>
              <a:t>Example</a:t>
            </a:r>
          </a:p>
          <a:p>
            <a:r>
              <a:rPr lang="en-US" dirty="0"/>
              <a:t>SELECT * FROM Customers</a:t>
            </a:r>
            <a:br>
              <a:rPr lang="en-US" dirty="0"/>
            </a:br>
            <a:r>
              <a:rPr lang="en-US" dirty="0"/>
              <a:t>WHERE City='Berlin'</a:t>
            </a:r>
            <a:br>
              <a:rPr lang="en-US" dirty="0"/>
            </a:br>
            <a:r>
              <a:rPr lang="en-US" dirty="0"/>
              <a:t>OR City='</a:t>
            </a:r>
            <a:r>
              <a:rPr lang="en-US" dirty="0" err="1"/>
              <a:t>München</a:t>
            </a:r>
            <a:r>
              <a:rPr lang="en-US" dirty="0"/>
              <a:t>';</a:t>
            </a:r>
          </a:p>
          <a:p>
            <a:endParaRPr lang="en-US" dirty="0"/>
          </a:p>
        </p:txBody>
      </p:sp>
      <p:sp>
        <p:nvSpPr>
          <p:cNvPr id="2" name="Title 1"/>
          <p:cNvSpPr>
            <a:spLocks noGrp="1"/>
          </p:cNvSpPr>
          <p:nvPr>
            <p:ph type="title"/>
          </p:nvPr>
        </p:nvSpPr>
        <p:spPr/>
        <p:txBody>
          <a:bodyPr>
            <a:normAutofit/>
          </a:bodyPr>
          <a:lstStyle/>
          <a:p>
            <a:r>
              <a:rPr lang="en-US" dirty="0"/>
              <a:t>OR Operator Example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The following SQL statement selects all customers from the country "Germany" AND the city must be equal to "Berlin" OR "</a:t>
            </a:r>
            <a:r>
              <a:rPr lang="en-US" dirty="0" err="1"/>
              <a:t>München</a:t>
            </a:r>
            <a:r>
              <a:rPr lang="en-US" dirty="0"/>
              <a:t>", in the "Customers" table:</a:t>
            </a:r>
          </a:p>
          <a:p>
            <a:pPr>
              <a:buNone/>
            </a:pPr>
            <a:r>
              <a:rPr lang="en-US" dirty="0"/>
              <a:t>Example</a:t>
            </a:r>
          </a:p>
          <a:p>
            <a:pPr>
              <a:buNone/>
            </a:pPr>
            <a:r>
              <a:rPr lang="en-US" dirty="0"/>
              <a:t>SELECT * FROM Customers</a:t>
            </a:r>
            <a:br>
              <a:rPr lang="en-US" dirty="0"/>
            </a:br>
            <a:r>
              <a:rPr lang="en-US" dirty="0"/>
              <a:t>WHERE Country='Germany'</a:t>
            </a:r>
            <a:br>
              <a:rPr lang="en-US" dirty="0"/>
            </a:br>
            <a:r>
              <a:rPr lang="en-US" dirty="0"/>
              <a:t>AND (City='Berlin' OR City='</a:t>
            </a:r>
            <a:r>
              <a:rPr lang="en-US" dirty="0" err="1"/>
              <a:t>München</a:t>
            </a:r>
            <a:r>
              <a:rPr lang="en-US" dirty="0"/>
              <a:t>');</a:t>
            </a:r>
          </a:p>
          <a:p>
            <a:pPr>
              <a:buNone/>
            </a:pPr>
            <a:endParaRPr lang="en-US" dirty="0"/>
          </a:p>
        </p:txBody>
      </p:sp>
      <p:sp>
        <p:nvSpPr>
          <p:cNvPr id="2" name="Title 1"/>
          <p:cNvSpPr>
            <a:spLocks noGrp="1"/>
          </p:cNvSpPr>
          <p:nvPr>
            <p:ph type="title"/>
          </p:nvPr>
        </p:nvSpPr>
        <p:spPr/>
        <p:txBody>
          <a:bodyPr>
            <a:normAutofit/>
          </a:bodyPr>
          <a:lstStyle/>
          <a:p>
            <a:r>
              <a:rPr lang="en-US" dirty="0"/>
              <a:t>Combining AND &amp; OR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The SELECT TOP clause is used to specify the number of records to return.</a:t>
            </a:r>
          </a:p>
          <a:p>
            <a:r>
              <a:rPr lang="en-US" dirty="0"/>
              <a:t>The SELECT TOP clause can be very useful on large tables with thousands of records. Returning a large number of records can impact on performance.</a:t>
            </a:r>
          </a:p>
          <a:p>
            <a:pPr>
              <a:buNone/>
            </a:pPr>
            <a:r>
              <a:rPr lang="en-US" dirty="0"/>
              <a:t>Syntax</a:t>
            </a:r>
          </a:p>
          <a:p>
            <a:pPr>
              <a:buNone/>
            </a:pPr>
            <a:r>
              <a:rPr lang="en-US" dirty="0"/>
              <a:t>SELECT </a:t>
            </a:r>
            <a:r>
              <a:rPr lang="en-US" i="1" dirty="0" err="1"/>
              <a:t>column_name</a:t>
            </a:r>
            <a:r>
              <a:rPr lang="en-US" i="1" dirty="0"/>
              <a:t>(s)</a:t>
            </a:r>
            <a:r>
              <a:rPr lang="en-US" dirty="0"/>
              <a:t>FROM </a:t>
            </a:r>
            <a:r>
              <a:rPr lang="en-US" i="1" dirty="0" err="1"/>
              <a:t>table_name</a:t>
            </a:r>
            <a:br>
              <a:rPr lang="en-US" dirty="0"/>
            </a:br>
            <a:r>
              <a:rPr lang="en-US" dirty="0"/>
              <a:t>LIMIT </a:t>
            </a:r>
            <a:r>
              <a:rPr lang="en-US" i="1" dirty="0"/>
              <a:t>OFFSET, [COUNT]</a:t>
            </a:r>
            <a:r>
              <a:rPr lang="en-US" dirty="0"/>
              <a:t>;</a:t>
            </a:r>
          </a:p>
          <a:p>
            <a:pPr>
              <a:buNone/>
            </a:pPr>
            <a:r>
              <a:rPr lang="en-US" dirty="0" err="1"/>
              <a:t>Eg</a:t>
            </a:r>
            <a:r>
              <a:rPr lang="en-US" dirty="0"/>
              <a:t>: SELECT *FROM Persons LIMIT 5,10;</a:t>
            </a:r>
          </a:p>
          <a:p>
            <a:endParaRPr lang="en-US" dirty="0"/>
          </a:p>
        </p:txBody>
      </p:sp>
      <p:sp>
        <p:nvSpPr>
          <p:cNvPr id="3" name="Title 2"/>
          <p:cNvSpPr>
            <a:spLocks noGrp="1"/>
          </p:cNvSpPr>
          <p:nvPr>
            <p:ph type="title"/>
          </p:nvPr>
        </p:nvSpPr>
        <p:spPr/>
        <p:txBody>
          <a:bodyPr>
            <a:normAutofit/>
          </a:bodyPr>
          <a:lstStyle/>
          <a:p>
            <a:r>
              <a:rPr lang="en-US" b="0" dirty="0"/>
              <a:t>The SQL SELECT TOP Clause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The LIKE operator is used in a WHERE clause to search for a specified pattern in a column.</a:t>
            </a:r>
          </a:p>
          <a:p>
            <a:pPr>
              <a:buNone/>
            </a:pPr>
            <a:r>
              <a:rPr lang="en-US" dirty="0"/>
              <a:t>Syntax:</a:t>
            </a:r>
          </a:p>
          <a:p>
            <a:pPr>
              <a:buNone/>
            </a:pPr>
            <a:r>
              <a:rPr lang="en-US" dirty="0"/>
              <a:t>SELECT </a:t>
            </a:r>
            <a:r>
              <a:rPr lang="en-US" i="1" dirty="0" err="1"/>
              <a:t>column_name</a:t>
            </a:r>
            <a:r>
              <a:rPr lang="en-US" i="1" dirty="0"/>
              <a:t>(s)</a:t>
            </a:r>
            <a:br>
              <a:rPr lang="en-US" dirty="0"/>
            </a:br>
            <a:r>
              <a:rPr lang="en-US" dirty="0"/>
              <a:t>FROM </a:t>
            </a:r>
            <a:r>
              <a:rPr lang="en-US" i="1" dirty="0" err="1"/>
              <a:t>table_name</a:t>
            </a:r>
            <a:br>
              <a:rPr lang="en-US" dirty="0"/>
            </a:br>
            <a:r>
              <a:rPr lang="en-US" dirty="0"/>
              <a:t>WHERE </a:t>
            </a:r>
            <a:r>
              <a:rPr lang="en-US" i="1" dirty="0" err="1"/>
              <a:t>column_name</a:t>
            </a:r>
            <a:r>
              <a:rPr lang="en-US" dirty="0"/>
              <a:t> LIKE </a:t>
            </a:r>
            <a:r>
              <a:rPr lang="en-US" i="1" dirty="0"/>
              <a:t>pattern</a:t>
            </a:r>
            <a:r>
              <a:rPr lang="en-US" dirty="0"/>
              <a:t>;</a:t>
            </a:r>
          </a:p>
          <a:p>
            <a:pPr>
              <a:buNone/>
            </a:pPr>
            <a:endParaRPr lang="en-US" dirty="0"/>
          </a:p>
          <a:p>
            <a:pPr>
              <a:buNone/>
            </a:pPr>
            <a:r>
              <a:rPr lang="en-US" dirty="0"/>
              <a:t>The following SQL statement selects all customers with a City starting with the letter "s“</a:t>
            </a:r>
            <a:br>
              <a:rPr lang="en-US" dirty="0"/>
            </a:br>
            <a:r>
              <a:rPr lang="en-US" dirty="0"/>
              <a:t>:</a:t>
            </a:r>
          </a:p>
          <a:p>
            <a:pPr>
              <a:buNone/>
            </a:pPr>
            <a:r>
              <a:rPr lang="en-US" dirty="0"/>
              <a:t>SELECT * FROM Customers WHERE City LIKE 's%';</a:t>
            </a:r>
            <a:br>
              <a:rPr lang="en-US" dirty="0"/>
            </a:br>
            <a:endParaRPr lang="en-US" dirty="0"/>
          </a:p>
          <a:p>
            <a:pPr>
              <a:buNone/>
            </a:pPr>
            <a:endParaRPr lang="en-US" dirty="0"/>
          </a:p>
          <a:p>
            <a:pPr>
              <a:buNone/>
            </a:pPr>
            <a:endParaRPr lang="en-US" dirty="0"/>
          </a:p>
        </p:txBody>
      </p:sp>
      <p:sp>
        <p:nvSpPr>
          <p:cNvPr id="3" name="Title 2"/>
          <p:cNvSpPr>
            <a:spLocks noGrp="1"/>
          </p:cNvSpPr>
          <p:nvPr>
            <p:ph type="title"/>
          </p:nvPr>
        </p:nvSpPr>
        <p:spPr/>
        <p:txBody>
          <a:bodyPr>
            <a:normAutofit/>
          </a:bodyPr>
          <a:lstStyle/>
          <a:p>
            <a:r>
              <a:rPr lang="en-US" b="0" dirty="0"/>
              <a:t>SQL LIKE Operator</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800" dirty="0"/>
              <a:t>The "%" sign is used to define wildcards (missing letters) both before and after the pattern. You will learn more about wildcards in the next chapter.</a:t>
            </a:r>
          </a:p>
          <a:p>
            <a:pPr>
              <a:buNone/>
            </a:pPr>
            <a:r>
              <a:rPr lang="en-US" dirty="0"/>
              <a:t>SELECT * FROM Customers WHERE City LIKE '%s';</a:t>
            </a:r>
          </a:p>
          <a:p>
            <a:r>
              <a:rPr lang="en-US" dirty="0"/>
              <a:t>The following SQL statement selects all customers with a Country containing the pattern "land":</a:t>
            </a:r>
          </a:p>
          <a:p>
            <a:pPr>
              <a:buNone/>
            </a:pPr>
            <a:r>
              <a:rPr lang="en-US" dirty="0"/>
              <a:t>SELECT * FROM Customers WHERE Country LIKE '%land%';</a:t>
            </a:r>
          </a:p>
          <a:p>
            <a:endParaRPr lang="en-US" dirty="0"/>
          </a:p>
        </p:txBody>
      </p:sp>
      <p:sp>
        <p:nvSpPr>
          <p:cNvPr id="3" name="Title 2"/>
          <p:cNvSpPr>
            <a:spLocks noGrp="1"/>
          </p:cNvSpPr>
          <p:nvPr>
            <p:ph type="title"/>
          </p:nvPr>
        </p:nvSpPr>
        <p:spPr/>
        <p:txBody>
          <a:bodyPr/>
          <a:lstStyle/>
          <a:p>
            <a:r>
              <a:rPr lang="en-US" b="0" dirty="0"/>
              <a:t>LIKE Operator….</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Title 2"/>
          <p:cNvSpPr>
            <a:spLocks noGrp="1"/>
          </p:cNvSpPr>
          <p:nvPr>
            <p:ph type="title"/>
          </p:nvPr>
        </p:nvSpPr>
        <p:spPr/>
        <p:txBody>
          <a:bodyPr>
            <a:normAutofit/>
          </a:bodyPr>
          <a:lstStyle/>
          <a:p>
            <a:r>
              <a:rPr lang="en-US" b="0" dirty="0"/>
              <a:t>SQL Wildcards</a:t>
            </a:r>
            <a:endParaRPr lang="en-US" dirty="0"/>
          </a:p>
        </p:txBody>
      </p:sp>
      <p:graphicFrame>
        <p:nvGraphicFramePr>
          <p:cNvPr id="4" name="Table 3"/>
          <p:cNvGraphicFramePr>
            <a:graphicFrameLocks noGrp="1"/>
          </p:cNvGraphicFramePr>
          <p:nvPr/>
        </p:nvGraphicFramePr>
        <p:xfrm>
          <a:off x="381000" y="1524000"/>
          <a:ext cx="8305800" cy="3505200"/>
        </p:xfrm>
        <a:graphic>
          <a:graphicData uri="http://schemas.openxmlformats.org/drawingml/2006/table">
            <a:tbl>
              <a:tblPr/>
              <a:tblGrid>
                <a:gridCol w="1245870">
                  <a:extLst>
                    <a:ext uri="{9D8B030D-6E8A-4147-A177-3AD203B41FA5}">
                      <a16:colId xmlns:a16="http://schemas.microsoft.com/office/drawing/2014/main" val="20000"/>
                    </a:ext>
                  </a:extLst>
                </a:gridCol>
                <a:gridCol w="7059930">
                  <a:extLst>
                    <a:ext uri="{9D8B030D-6E8A-4147-A177-3AD203B41FA5}">
                      <a16:colId xmlns:a16="http://schemas.microsoft.com/office/drawing/2014/main" val="20001"/>
                    </a:ext>
                  </a:extLst>
                </a:gridCol>
              </a:tblGrid>
              <a:tr h="379766">
                <a:tc>
                  <a:txBody>
                    <a:bodyPr/>
                    <a:lstStyle/>
                    <a:p>
                      <a:pPr algn="l" fontAlgn="t"/>
                      <a:r>
                        <a:rPr lang="en-US" sz="1400" b="1" dirty="0">
                          <a:solidFill>
                            <a:srgbClr val="FFFFFF"/>
                          </a:solidFill>
                          <a:latin typeface="verdana"/>
                        </a:rPr>
                        <a:t>Wildcard</a:t>
                      </a:r>
                    </a:p>
                  </a:txBody>
                  <a:tcPr marL="22275" marR="22275" marT="22275" marB="222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en-US" sz="1400" b="1" dirty="0">
                          <a:solidFill>
                            <a:srgbClr val="FFFFFF"/>
                          </a:solidFill>
                          <a:latin typeface="verdana"/>
                        </a:rPr>
                        <a:t>Description</a:t>
                      </a:r>
                    </a:p>
                  </a:txBody>
                  <a:tcPr marL="22275" marR="22275" marT="22275" marB="222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10000"/>
                  </a:ext>
                </a:extLst>
              </a:tr>
              <a:tr h="467069">
                <a:tc>
                  <a:txBody>
                    <a:bodyPr/>
                    <a:lstStyle/>
                    <a:p>
                      <a:pPr fontAlgn="t"/>
                      <a:r>
                        <a:rPr lang="en-US" sz="1400">
                          <a:latin typeface="verdana"/>
                        </a:rPr>
                        <a:t>%</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a:latin typeface="verdana"/>
                        </a:rPr>
                        <a:t>A substitute for zero or more characters</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7069">
                <a:tc>
                  <a:txBody>
                    <a:bodyPr/>
                    <a:lstStyle/>
                    <a:p>
                      <a:pPr fontAlgn="t"/>
                      <a:r>
                        <a:rPr lang="en-US" sz="1400">
                          <a:latin typeface="verdana"/>
                        </a:rPr>
                        <a:t>_</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sz="1400">
                          <a:latin typeface="verdana"/>
                        </a:rPr>
                        <a:t>A substitute for a single character</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2"/>
                  </a:ext>
                </a:extLst>
              </a:tr>
              <a:tr h="467069">
                <a:tc>
                  <a:txBody>
                    <a:bodyPr/>
                    <a:lstStyle/>
                    <a:p>
                      <a:pPr fontAlgn="t"/>
                      <a:r>
                        <a:rPr lang="en-US" sz="1400">
                          <a:latin typeface="verdana"/>
                        </a:rPr>
                        <a:t>[</a:t>
                      </a:r>
                      <a:r>
                        <a:rPr lang="en-US" sz="1400" i="1">
                          <a:latin typeface="verdana"/>
                        </a:rPr>
                        <a:t>charlist</a:t>
                      </a:r>
                      <a:r>
                        <a:rPr lang="en-US" sz="1400">
                          <a:latin typeface="verdana"/>
                        </a:rPr>
                        <a:t>]</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a:latin typeface="verdana"/>
                        </a:rPr>
                        <a:t>Sets and ranges of characters to match</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724227">
                <a:tc>
                  <a:txBody>
                    <a:bodyPr/>
                    <a:lstStyle/>
                    <a:p>
                      <a:pPr fontAlgn="t"/>
                      <a:r>
                        <a:rPr lang="en-US" sz="1400">
                          <a:latin typeface="verdana"/>
                        </a:rPr>
                        <a:t>[^</a:t>
                      </a:r>
                      <a:r>
                        <a:rPr lang="en-US" sz="1400" i="1">
                          <a:latin typeface="verdana"/>
                        </a:rPr>
                        <a:t>charlist</a:t>
                      </a:r>
                      <a:r>
                        <a:rPr lang="en-US" sz="1400">
                          <a:latin typeface="verdana"/>
                        </a:rPr>
                        <a:t>]</a:t>
                      </a:r>
                      <a:br>
                        <a:rPr lang="en-US" sz="1400">
                          <a:latin typeface="verdana"/>
                        </a:rPr>
                      </a:br>
                      <a:r>
                        <a:rPr lang="en-US" sz="1400">
                          <a:latin typeface="verdana"/>
                        </a:rPr>
                        <a:t>or</a:t>
                      </a:r>
                      <a:br>
                        <a:rPr lang="en-US" sz="1400">
                          <a:latin typeface="verdana"/>
                        </a:rPr>
                      </a:br>
                      <a:r>
                        <a:rPr lang="en-US" sz="1400">
                          <a:latin typeface="verdana"/>
                        </a:rPr>
                        <a:t>[!</a:t>
                      </a:r>
                      <a:r>
                        <a:rPr lang="en-US" sz="1400" i="1">
                          <a:latin typeface="verdana"/>
                        </a:rPr>
                        <a:t>charlist</a:t>
                      </a:r>
                      <a:r>
                        <a:rPr lang="en-US" sz="1400">
                          <a:latin typeface="verdana"/>
                        </a:rPr>
                        <a:t>]</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sz="1400" dirty="0">
                          <a:latin typeface="verdana"/>
                        </a:rPr>
                        <a:t>Matches only a character NOT specified within the brackets</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4"/>
                  </a:ext>
                </a:extLst>
              </a:tr>
            </a:tbl>
          </a:graphicData>
        </a:graphic>
      </p:graphicFrame>
      <p:sp>
        <p:nvSpPr>
          <p:cNvPr id="1025"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charset="0"/>
                <a:cs typeface="Arial" charset="0"/>
              </a:rPr>
            </a:br>
            <a:endParaRPr kumimoji="0" lang="en-US" sz="1800" b="0" i="0" u="none" strike="noStrike" cap="none" normalizeH="0" baseline="0">
              <a:ln>
                <a:noFill/>
              </a:ln>
              <a:solidFill>
                <a:schemeClr val="tx1"/>
              </a:solidFill>
              <a:effectLst/>
              <a:latin typeface="Arial" charset="0"/>
              <a:cs typeface="Arial"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following SQL statement selects all customers with a City starting with any character, followed by "</a:t>
            </a:r>
            <a:r>
              <a:rPr lang="en-US" dirty="0" err="1"/>
              <a:t>erlin</a:t>
            </a:r>
            <a:r>
              <a:rPr lang="en-US" dirty="0"/>
              <a:t>":</a:t>
            </a:r>
          </a:p>
          <a:p>
            <a:endParaRPr lang="en-US" dirty="0"/>
          </a:p>
          <a:p>
            <a:pPr>
              <a:buNone/>
            </a:pPr>
            <a:endParaRPr lang="en-US" dirty="0"/>
          </a:p>
          <a:p>
            <a:pPr>
              <a:buNone/>
            </a:pPr>
            <a:r>
              <a:rPr lang="en-US" dirty="0"/>
              <a:t>SELECT * FROM Customers WHERE City LIKE '_</a:t>
            </a:r>
            <a:r>
              <a:rPr lang="en-US" dirty="0" err="1"/>
              <a:t>erlin</a:t>
            </a:r>
            <a:r>
              <a:rPr lang="en-US" dirty="0"/>
              <a:t>‘;</a:t>
            </a:r>
          </a:p>
        </p:txBody>
      </p:sp>
      <p:sp>
        <p:nvSpPr>
          <p:cNvPr id="3" name="Title 2"/>
          <p:cNvSpPr>
            <a:spLocks noGrp="1"/>
          </p:cNvSpPr>
          <p:nvPr>
            <p:ph type="title"/>
          </p:nvPr>
        </p:nvSpPr>
        <p:spPr/>
        <p:txBody>
          <a:bodyPr>
            <a:normAutofit/>
          </a:bodyPr>
          <a:lstStyle/>
          <a:p>
            <a:r>
              <a:rPr lang="en-US" b="0" dirty="0"/>
              <a:t>Using the SQL _ Wildcard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MySQL supports another type of pattern matching operation based on the regular expressions.</a:t>
            </a:r>
          </a:p>
          <a:p>
            <a:r>
              <a:rPr lang="en-IN" dirty="0"/>
              <a:t> </a:t>
            </a:r>
            <a:r>
              <a:rPr lang="en-IN" b="1" dirty="0"/>
              <a:t>REGEXP</a:t>
            </a:r>
            <a:r>
              <a:rPr lang="en-IN" dirty="0"/>
              <a:t> operator. </a:t>
            </a:r>
          </a:p>
          <a:p>
            <a:r>
              <a:rPr lang="en-IN" dirty="0"/>
              <a:t>If you are aware of PHP or PERL, then it is very simple for you to understand because this matching is same like those scripting the regular expressions.</a:t>
            </a:r>
          </a:p>
        </p:txBody>
      </p:sp>
      <p:sp>
        <p:nvSpPr>
          <p:cNvPr id="3" name="Title 2"/>
          <p:cNvSpPr>
            <a:spLocks noGrp="1"/>
          </p:cNvSpPr>
          <p:nvPr>
            <p:ph type="title"/>
          </p:nvPr>
        </p:nvSpPr>
        <p:spPr/>
        <p:txBody>
          <a:bodyPr/>
          <a:lstStyle/>
          <a:p>
            <a:r>
              <a:rPr lang="en-IN" dirty="0"/>
              <a:t>Regular Expressions</a:t>
            </a:r>
          </a:p>
        </p:txBody>
      </p:sp>
    </p:spTree>
    <p:extLst>
      <p:ext uri="{BB962C8B-B14F-4D97-AF65-F5344CB8AC3E}">
        <p14:creationId xmlns:p14="http://schemas.microsoft.com/office/powerpoint/2010/main" val="1188357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105297271"/>
              </p:ext>
            </p:extLst>
          </p:nvPr>
        </p:nvGraphicFramePr>
        <p:xfrm>
          <a:off x="609600" y="1461710"/>
          <a:ext cx="8077200" cy="4537392"/>
        </p:xfrm>
        <a:graphic>
          <a:graphicData uri="http://schemas.openxmlformats.org/drawingml/2006/table">
            <a:tbl>
              <a:tblPr>
                <a:tableStyleId>{69C7853C-536D-4A76-A0AE-DD22124D55A5}</a:tableStyleId>
              </a:tblPr>
              <a:tblGrid>
                <a:gridCol w="2429120">
                  <a:extLst>
                    <a:ext uri="{9D8B030D-6E8A-4147-A177-3AD203B41FA5}">
                      <a16:colId xmlns:a16="http://schemas.microsoft.com/office/drawing/2014/main" val="20000"/>
                    </a:ext>
                  </a:extLst>
                </a:gridCol>
                <a:gridCol w="5648080">
                  <a:extLst>
                    <a:ext uri="{9D8B030D-6E8A-4147-A177-3AD203B41FA5}">
                      <a16:colId xmlns:a16="http://schemas.microsoft.com/office/drawing/2014/main" val="20001"/>
                    </a:ext>
                  </a:extLst>
                </a:gridCol>
              </a:tblGrid>
              <a:tr h="304632">
                <a:tc>
                  <a:txBody>
                    <a:bodyPr/>
                    <a:lstStyle/>
                    <a:p>
                      <a:pPr algn="ctr" fontAlgn="t"/>
                      <a:r>
                        <a:rPr lang="en-IN" sz="1300" b="1" dirty="0">
                          <a:effectLst/>
                        </a:rPr>
                        <a:t>Pattern</a:t>
                      </a:r>
                    </a:p>
                  </a:txBody>
                  <a:tcPr marL="54399" marR="54399" marT="54399" marB="54399"/>
                </a:tc>
                <a:tc>
                  <a:txBody>
                    <a:bodyPr/>
                    <a:lstStyle/>
                    <a:p>
                      <a:pPr algn="ctr" fontAlgn="t"/>
                      <a:r>
                        <a:rPr lang="en-IN" sz="1300" b="1" dirty="0">
                          <a:effectLst/>
                        </a:rPr>
                        <a:t>What the pattern matches</a:t>
                      </a:r>
                    </a:p>
                  </a:txBody>
                  <a:tcPr marL="54399" marR="54399" marT="54399" marB="54399"/>
                </a:tc>
                <a:extLst>
                  <a:ext uri="{0D108BD9-81ED-4DB2-BD59-A6C34878D82A}">
                    <a16:rowId xmlns:a16="http://schemas.microsoft.com/office/drawing/2014/main" val="10000"/>
                  </a:ext>
                </a:extLst>
              </a:tr>
              <a:tr h="304632">
                <a:tc>
                  <a:txBody>
                    <a:bodyPr/>
                    <a:lstStyle/>
                    <a:p>
                      <a:pPr fontAlgn="t"/>
                      <a:r>
                        <a:rPr lang="en-IN" sz="1300">
                          <a:effectLst/>
                        </a:rPr>
                        <a:t>^</a:t>
                      </a:r>
                    </a:p>
                  </a:txBody>
                  <a:tcPr marL="54399" marR="54399" marT="54399" marB="54399"/>
                </a:tc>
                <a:tc>
                  <a:txBody>
                    <a:bodyPr/>
                    <a:lstStyle/>
                    <a:p>
                      <a:pPr fontAlgn="t"/>
                      <a:r>
                        <a:rPr lang="en-IN" sz="1300" dirty="0">
                          <a:effectLst/>
                        </a:rPr>
                        <a:t>Beginning of string</a:t>
                      </a:r>
                    </a:p>
                  </a:txBody>
                  <a:tcPr marL="54399" marR="54399" marT="54399" marB="54399"/>
                </a:tc>
                <a:extLst>
                  <a:ext uri="{0D108BD9-81ED-4DB2-BD59-A6C34878D82A}">
                    <a16:rowId xmlns:a16="http://schemas.microsoft.com/office/drawing/2014/main" val="10001"/>
                  </a:ext>
                </a:extLst>
              </a:tr>
              <a:tr h="304632">
                <a:tc>
                  <a:txBody>
                    <a:bodyPr/>
                    <a:lstStyle/>
                    <a:p>
                      <a:pPr fontAlgn="t"/>
                      <a:r>
                        <a:rPr lang="en-IN" sz="1300">
                          <a:effectLst/>
                        </a:rPr>
                        <a:t>$</a:t>
                      </a:r>
                    </a:p>
                  </a:txBody>
                  <a:tcPr marL="54399" marR="54399" marT="54399" marB="54399"/>
                </a:tc>
                <a:tc>
                  <a:txBody>
                    <a:bodyPr/>
                    <a:lstStyle/>
                    <a:p>
                      <a:pPr fontAlgn="t"/>
                      <a:r>
                        <a:rPr lang="en-IN" sz="1300">
                          <a:effectLst/>
                        </a:rPr>
                        <a:t>End of string</a:t>
                      </a:r>
                    </a:p>
                  </a:txBody>
                  <a:tcPr marL="54399" marR="54399" marT="54399" marB="54399"/>
                </a:tc>
                <a:extLst>
                  <a:ext uri="{0D108BD9-81ED-4DB2-BD59-A6C34878D82A}">
                    <a16:rowId xmlns:a16="http://schemas.microsoft.com/office/drawing/2014/main" val="10002"/>
                  </a:ext>
                </a:extLst>
              </a:tr>
              <a:tr h="304632">
                <a:tc>
                  <a:txBody>
                    <a:bodyPr/>
                    <a:lstStyle/>
                    <a:p>
                      <a:pPr fontAlgn="t"/>
                      <a:r>
                        <a:rPr lang="en-IN" sz="1300">
                          <a:effectLst/>
                        </a:rPr>
                        <a:t>.</a:t>
                      </a:r>
                    </a:p>
                  </a:txBody>
                  <a:tcPr marL="54399" marR="54399" marT="54399" marB="54399"/>
                </a:tc>
                <a:tc>
                  <a:txBody>
                    <a:bodyPr/>
                    <a:lstStyle/>
                    <a:p>
                      <a:pPr fontAlgn="t"/>
                      <a:r>
                        <a:rPr lang="en-IN" sz="1300">
                          <a:effectLst/>
                        </a:rPr>
                        <a:t>Any single character</a:t>
                      </a:r>
                    </a:p>
                  </a:txBody>
                  <a:tcPr marL="54399" marR="54399" marT="54399" marB="54399"/>
                </a:tc>
                <a:extLst>
                  <a:ext uri="{0D108BD9-81ED-4DB2-BD59-A6C34878D82A}">
                    <a16:rowId xmlns:a16="http://schemas.microsoft.com/office/drawing/2014/main" val="10003"/>
                  </a:ext>
                </a:extLst>
              </a:tr>
              <a:tr h="500467">
                <a:tc>
                  <a:txBody>
                    <a:bodyPr/>
                    <a:lstStyle/>
                    <a:p>
                      <a:pPr fontAlgn="t"/>
                      <a:r>
                        <a:rPr lang="en-IN" sz="1300">
                          <a:effectLst/>
                        </a:rPr>
                        <a:t>[...]</a:t>
                      </a:r>
                    </a:p>
                  </a:txBody>
                  <a:tcPr marL="54399" marR="54399" marT="54399" marB="54399"/>
                </a:tc>
                <a:tc>
                  <a:txBody>
                    <a:bodyPr/>
                    <a:lstStyle/>
                    <a:p>
                      <a:pPr fontAlgn="t"/>
                      <a:r>
                        <a:rPr lang="en-IN" sz="1300">
                          <a:effectLst/>
                        </a:rPr>
                        <a:t>Any character listed between the square brackets</a:t>
                      </a:r>
                    </a:p>
                  </a:txBody>
                  <a:tcPr marL="54399" marR="54399" marT="54399" marB="54399"/>
                </a:tc>
                <a:extLst>
                  <a:ext uri="{0D108BD9-81ED-4DB2-BD59-A6C34878D82A}">
                    <a16:rowId xmlns:a16="http://schemas.microsoft.com/office/drawing/2014/main" val="10004"/>
                  </a:ext>
                </a:extLst>
              </a:tr>
              <a:tr h="500467">
                <a:tc>
                  <a:txBody>
                    <a:bodyPr/>
                    <a:lstStyle/>
                    <a:p>
                      <a:pPr fontAlgn="t"/>
                      <a:r>
                        <a:rPr lang="en-IN" sz="1300">
                          <a:effectLst/>
                        </a:rPr>
                        <a:t>[^...]</a:t>
                      </a:r>
                    </a:p>
                  </a:txBody>
                  <a:tcPr marL="54399" marR="54399" marT="54399" marB="54399"/>
                </a:tc>
                <a:tc>
                  <a:txBody>
                    <a:bodyPr/>
                    <a:lstStyle/>
                    <a:p>
                      <a:pPr fontAlgn="t"/>
                      <a:r>
                        <a:rPr lang="en-IN" sz="1300">
                          <a:effectLst/>
                        </a:rPr>
                        <a:t>Any character not listed between the square brackets</a:t>
                      </a:r>
                    </a:p>
                  </a:txBody>
                  <a:tcPr marL="54399" marR="54399" marT="54399" marB="54399"/>
                </a:tc>
                <a:extLst>
                  <a:ext uri="{0D108BD9-81ED-4DB2-BD59-A6C34878D82A}">
                    <a16:rowId xmlns:a16="http://schemas.microsoft.com/office/drawing/2014/main" val="10005"/>
                  </a:ext>
                </a:extLst>
              </a:tr>
              <a:tr h="500467">
                <a:tc>
                  <a:txBody>
                    <a:bodyPr/>
                    <a:lstStyle/>
                    <a:p>
                      <a:pPr fontAlgn="t"/>
                      <a:r>
                        <a:rPr lang="en-IN" sz="1300">
                          <a:effectLst/>
                        </a:rPr>
                        <a:t>p1|p2|p3</a:t>
                      </a:r>
                    </a:p>
                  </a:txBody>
                  <a:tcPr marL="54399" marR="54399" marT="54399" marB="54399"/>
                </a:tc>
                <a:tc>
                  <a:txBody>
                    <a:bodyPr/>
                    <a:lstStyle/>
                    <a:p>
                      <a:pPr fontAlgn="t"/>
                      <a:r>
                        <a:rPr lang="en-IN" sz="1300">
                          <a:effectLst/>
                        </a:rPr>
                        <a:t>Alternation; matches any of the patterns p1, p2, or p3</a:t>
                      </a:r>
                    </a:p>
                  </a:txBody>
                  <a:tcPr marL="54399" marR="54399" marT="54399" marB="54399"/>
                </a:tc>
                <a:extLst>
                  <a:ext uri="{0D108BD9-81ED-4DB2-BD59-A6C34878D82A}">
                    <a16:rowId xmlns:a16="http://schemas.microsoft.com/office/drawing/2014/main" val="10006"/>
                  </a:ext>
                </a:extLst>
              </a:tr>
              <a:tr h="500467">
                <a:tc>
                  <a:txBody>
                    <a:bodyPr/>
                    <a:lstStyle/>
                    <a:p>
                      <a:pPr fontAlgn="t"/>
                      <a:r>
                        <a:rPr lang="en-IN" sz="1300">
                          <a:effectLst/>
                        </a:rPr>
                        <a:t>*</a:t>
                      </a:r>
                    </a:p>
                  </a:txBody>
                  <a:tcPr marL="54399" marR="54399" marT="54399" marB="54399"/>
                </a:tc>
                <a:tc>
                  <a:txBody>
                    <a:bodyPr/>
                    <a:lstStyle/>
                    <a:p>
                      <a:pPr fontAlgn="t"/>
                      <a:r>
                        <a:rPr lang="en-IN" sz="1300">
                          <a:effectLst/>
                        </a:rPr>
                        <a:t>Zero or more instances of preceding element</a:t>
                      </a:r>
                    </a:p>
                  </a:txBody>
                  <a:tcPr marL="54399" marR="54399" marT="54399" marB="54399"/>
                </a:tc>
                <a:extLst>
                  <a:ext uri="{0D108BD9-81ED-4DB2-BD59-A6C34878D82A}">
                    <a16:rowId xmlns:a16="http://schemas.microsoft.com/office/drawing/2014/main" val="10007"/>
                  </a:ext>
                </a:extLst>
              </a:tr>
              <a:tr h="500467">
                <a:tc>
                  <a:txBody>
                    <a:bodyPr/>
                    <a:lstStyle/>
                    <a:p>
                      <a:pPr fontAlgn="t"/>
                      <a:r>
                        <a:rPr lang="en-IN" sz="1300">
                          <a:effectLst/>
                        </a:rPr>
                        <a:t>+</a:t>
                      </a:r>
                    </a:p>
                  </a:txBody>
                  <a:tcPr marL="54399" marR="54399" marT="54399" marB="54399"/>
                </a:tc>
                <a:tc>
                  <a:txBody>
                    <a:bodyPr/>
                    <a:lstStyle/>
                    <a:p>
                      <a:pPr fontAlgn="t"/>
                      <a:r>
                        <a:rPr lang="en-IN" sz="1300">
                          <a:effectLst/>
                        </a:rPr>
                        <a:t>One or more instances of preceding element</a:t>
                      </a:r>
                    </a:p>
                  </a:txBody>
                  <a:tcPr marL="54399" marR="54399" marT="54399" marB="54399"/>
                </a:tc>
                <a:extLst>
                  <a:ext uri="{0D108BD9-81ED-4DB2-BD59-A6C34878D82A}">
                    <a16:rowId xmlns:a16="http://schemas.microsoft.com/office/drawing/2014/main" val="10008"/>
                  </a:ext>
                </a:extLst>
              </a:tr>
              <a:tr h="304632">
                <a:tc>
                  <a:txBody>
                    <a:bodyPr/>
                    <a:lstStyle/>
                    <a:p>
                      <a:pPr fontAlgn="t"/>
                      <a:r>
                        <a:rPr lang="en-IN" sz="1300">
                          <a:effectLst/>
                        </a:rPr>
                        <a:t>{n}</a:t>
                      </a:r>
                    </a:p>
                  </a:txBody>
                  <a:tcPr marL="54399" marR="54399" marT="54399" marB="54399"/>
                </a:tc>
                <a:tc>
                  <a:txBody>
                    <a:bodyPr/>
                    <a:lstStyle/>
                    <a:p>
                      <a:pPr fontAlgn="t"/>
                      <a:r>
                        <a:rPr lang="en-IN" sz="1300">
                          <a:effectLst/>
                        </a:rPr>
                        <a:t>n instances of preceding element</a:t>
                      </a:r>
                    </a:p>
                  </a:txBody>
                  <a:tcPr marL="54399" marR="54399" marT="54399" marB="54399"/>
                </a:tc>
                <a:extLst>
                  <a:ext uri="{0D108BD9-81ED-4DB2-BD59-A6C34878D82A}">
                    <a16:rowId xmlns:a16="http://schemas.microsoft.com/office/drawing/2014/main" val="10009"/>
                  </a:ext>
                </a:extLst>
              </a:tr>
              <a:tr h="500467">
                <a:tc>
                  <a:txBody>
                    <a:bodyPr/>
                    <a:lstStyle/>
                    <a:p>
                      <a:pPr fontAlgn="t"/>
                      <a:r>
                        <a:rPr lang="en-IN" sz="1300">
                          <a:effectLst/>
                        </a:rPr>
                        <a:t>{m,n}</a:t>
                      </a:r>
                    </a:p>
                  </a:txBody>
                  <a:tcPr marL="54399" marR="54399" marT="54399" marB="54399"/>
                </a:tc>
                <a:tc>
                  <a:txBody>
                    <a:bodyPr/>
                    <a:lstStyle/>
                    <a:p>
                      <a:pPr fontAlgn="t"/>
                      <a:r>
                        <a:rPr lang="en-IN" sz="1300" dirty="0">
                          <a:effectLst/>
                        </a:rPr>
                        <a:t>m through n instances of preceding element</a:t>
                      </a:r>
                    </a:p>
                  </a:txBody>
                  <a:tcPr marL="54399" marR="54399" marT="54399" marB="54399"/>
                </a:tc>
                <a:extLst>
                  <a:ext uri="{0D108BD9-81ED-4DB2-BD59-A6C34878D82A}">
                    <a16:rowId xmlns:a16="http://schemas.microsoft.com/office/drawing/2014/main" val="10010"/>
                  </a:ext>
                </a:extLst>
              </a:tr>
            </a:tbl>
          </a:graphicData>
        </a:graphic>
      </p:graphicFrame>
      <p:sp>
        <p:nvSpPr>
          <p:cNvPr id="3" name="Title 2"/>
          <p:cNvSpPr>
            <a:spLocks noGrp="1"/>
          </p:cNvSpPr>
          <p:nvPr>
            <p:ph type="title"/>
          </p:nvPr>
        </p:nvSpPr>
        <p:spPr/>
        <p:txBody>
          <a:bodyPr/>
          <a:lstStyle/>
          <a:p>
            <a:r>
              <a:rPr lang="en-IN" dirty="0">
                <a:effectLst/>
              </a:rPr>
              <a:t>REGEXP </a:t>
            </a:r>
            <a:r>
              <a:rPr lang="en-IN" b="0" dirty="0">
                <a:effectLst/>
              </a:rPr>
              <a:t>operator Patterns</a:t>
            </a:r>
            <a:endParaRPr lang="en-IN" dirty="0"/>
          </a:p>
        </p:txBody>
      </p:sp>
    </p:spTree>
    <p:extLst>
      <p:ext uri="{BB962C8B-B14F-4D97-AF65-F5344CB8AC3E}">
        <p14:creationId xmlns:p14="http://schemas.microsoft.com/office/powerpoint/2010/main" val="17837790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IN" b="1" dirty="0"/>
              <a:t>Query to find all the names starting with '</a:t>
            </a:r>
            <a:r>
              <a:rPr lang="en-IN" b="1" dirty="0" err="1"/>
              <a:t>st</a:t>
            </a:r>
            <a:r>
              <a:rPr lang="en-IN" b="1" dirty="0"/>
              <a:t>' −</a:t>
            </a:r>
          </a:p>
          <a:p>
            <a:pPr marL="109728" indent="0">
              <a:buNone/>
            </a:pPr>
            <a:r>
              <a:rPr lang="en-IN" dirty="0" err="1"/>
              <a:t>mysql</a:t>
            </a:r>
            <a:r>
              <a:rPr lang="en-IN" dirty="0"/>
              <a:t>&gt; SELECT name FROM </a:t>
            </a:r>
            <a:r>
              <a:rPr lang="en-IN" dirty="0" err="1"/>
              <a:t>person_tbl</a:t>
            </a:r>
            <a:r>
              <a:rPr lang="en-IN" dirty="0"/>
              <a:t> WHERE name REGEXP '^</a:t>
            </a:r>
            <a:r>
              <a:rPr lang="en-IN" dirty="0" err="1"/>
              <a:t>st</a:t>
            </a:r>
            <a:r>
              <a:rPr lang="en-IN" dirty="0"/>
              <a:t>';</a:t>
            </a:r>
          </a:p>
          <a:p>
            <a:pPr marL="109728" indent="0">
              <a:buNone/>
            </a:pPr>
            <a:endParaRPr lang="en-IN" dirty="0"/>
          </a:p>
          <a:p>
            <a:r>
              <a:rPr lang="en-IN" b="1" dirty="0"/>
              <a:t>Query to find all the names ending with 'ok' −</a:t>
            </a:r>
          </a:p>
          <a:p>
            <a:pPr marL="109728" indent="0">
              <a:buNone/>
            </a:pPr>
            <a:r>
              <a:rPr lang="en-IN" dirty="0" err="1"/>
              <a:t>mysql</a:t>
            </a:r>
            <a:r>
              <a:rPr lang="en-IN" dirty="0"/>
              <a:t>&gt; SELECT name FROM </a:t>
            </a:r>
            <a:r>
              <a:rPr lang="en-IN" dirty="0" err="1"/>
              <a:t>person_tbl</a:t>
            </a:r>
            <a:r>
              <a:rPr lang="en-IN" dirty="0"/>
              <a:t> WHERE name REGEXP 'ok$';</a:t>
            </a:r>
          </a:p>
          <a:p>
            <a:pPr marL="109728" indent="0">
              <a:buNone/>
            </a:pPr>
            <a:endParaRPr lang="en-IN" dirty="0"/>
          </a:p>
          <a:p>
            <a:r>
              <a:rPr lang="en-IN" b="1" dirty="0"/>
              <a:t>Query to find all the names, which contain 'mar' −</a:t>
            </a:r>
          </a:p>
          <a:p>
            <a:pPr marL="109728" indent="0">
              <a:buNone/>
            </a:pPr>
            <a:r>
              <a:rPr lang="en-IN" dirty="0" err="1"/>
              <a:t>mysql</a:t>
            </a:r>
            <a:r>
              <a:rPr lang="en-IN" dirty="0"/>
              <a:t>&gt; SELECT name FROM </a:t>
            </a:r>
            <a:r>
              <a:rPr lang="en-IN" dirty="0" err="1"/>
              <a:t>person_tbl</a:t>
            </a:r>
            <a:r>
              <a:rPr lang="en-IN" dirty="0"/>
              <a:t> WHERE name REGEXP 'mar';</a:t>
            </a:r>
          </a:p>
          <a:p>
            <a:pPr marL="109728" indent="0">
              <a:buNone/>
            </a:pPr>
            <a:endParaRPr lang="en-IN" dirty="0"/>
          </a:p>
          <a:p>
            <a:r>
              <a:rPr lang="en-IN" b="1" dirty="0"/>
              <a:t>Query to find all the names starting with a vowel and ending with 'ok' −</a:t>
            </a:r>
          </a:p>
          <a:p>
            <a:pPr marL="109728" indent="0">
              <a:buNone/>
            </a:pPr>
            <a:r>
              <a:rPr lang="en-IN" dirty="0" err="1"/>
              <a:t>mysql</a:t>
            </a:r>
            <a:r>
              <a:rPr lang="en-IN" dirty="0"/>
              <a:t>&gt; SELECT name FROM </a:t>
            </a:r>
            <a:r>
              <a:rPr lang="en-IN" dirty="0" err="1"/>
              <a:t>person_tbl</a:t>
            </a:r>
            <a:r>
              <a:rPr lang="en-IN" dirty="0"/>
              <a:t> WHERE name REGEXP '^[</a:t>
            </a:r>
            <a:r>
              <a:rPr lang="en-IN" dirty="0" err="1"/>
              <a:t>aeiou</a:t>
            </a:r>
            <a:r>
              <a:rPr lang="en-IN" dirty="0"/>
              <a:t>]|ok$';</a:t>
            </a:r>
          </a:p>
        </p:txBody>
      </p:sp>
      <p:sp>
        <p:nvSpPr>
          <p:cNvPr id="3" name="Title 2"/>
          <p:cNvSpPr>
            <a:spLocks noGrp="1"/>
          </p:cNvSpPr>
          <p:nvPr>
            <p:ph type="title"/>
          </p:nvPr>
        </p:nvSpPr>
        <p:spPr/>
        <p:txBody>
          <a:bodyPr/>
          <a:lstStyle/>
          <a:p>
            <a:r>
              <a:rPr lang="en-IN" dirty="0"/>
              <a:t>REGEXP Examples</a:t>
            </a:r>
          </a:p>
        </p:txBody>
      </p:sp>
    </p:spTree>
    <p:extLst>
      <p:ext uri="{BB962C8B-B14F-4D97-AF65-F5344CB8AC3E}">
        <p14:creationId xmlns:p14="http://schemas.microsoft.com/office/powerpoint/2010/main" val="1850834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IN operator allows you to specify multiple values in a WHERE clause.</a:t>
            </a:r>
          </a:p>
          <a:p>
            <a:pPr>
              <a:buNone/>
            </a:pPr>
            <a:r>
              <a:rPr lang="en-US" dirty="0"/>
              <a:t>Syntax</a:t>
            </a:r>
          </a:p>
          <a:p>
            <a:pPr>
              <a:buNone/>
            </a:pPr>
            <a:r>
              <a:rPr lang="en-US" dirty="0"/>
              <a:t>SELECT </a:t>
            </a:r>
            <a:r>
              <a:rPr lang="en-US" i="1" dirty="0" err="1"/>
              <a:t>column_name</a:t>
            </a:r>
            <a:r>
              <a:rPr lang="en-US" i="1" dirty="0"/>
              <a:t>(s) </a:t>
            </a:r>
            <a:r>
              <a:rPr lang="en-US" dirty="0"/>
              <a:t>FROM </a:t>
            </a:r>
            <a:r>
              <a:rPr lang="en-US" i="1" dirty="0" err="1"/>
              <a:t>table_name</a:t>
            </a:r>
            <a:br>
              <a:rPr lang="en-US" dirty="0"/>
            </a:br>
            <a:r>
              <a:rPr lang="en-US" dirty="0"/>
              <a:t>WHERE </a:t>
            </a:r>
            <a:r>
              <a:rPr lang="en-US" i="1" dirty="0" err="1"/>
              <a:t>column_name</a:t>
            </a:r>
            <a:r>
              <a:rPr lang="en-US" dirty="0"/>
              <a:t> IN (</a:t>
            </a:r>
            <a:r>
              <a:rPr lang="en-US" i="1" dirty="0"/>
              <a:t>value1</a:t>
            </a:r>
            <a:r>
              <a:rPr lang="en-US" dirty="0"/>
              <a:t>,</a:t>
            </a:r>
            <a:r>
              <a:rPr lang="en-US" i="1" dirty="0"/>
              <a:t>value2</a:t>
            </a:r>
            <a:r>
              <a:rPr lang="en-US" dirty="0"/>
              <a:t>,...);</a:t>
            </a:r>
          </a:p>
          <a:p>
            <a:pPr>
              <a:buNone/>
            </a:pPr>
            <a:r>
              <a:rPr lang="en-US" dirty="0"/>
              <a:t>Example</a:t>
            </a:r>
          </a:p>
          <a:p>
            <a:pPr>
              <a:buNone/>
            </a:pPr>
            <a:r>
              <a:rPr lang="en-US" dirty="0"/>
              <a:t>SELECT * FROM Customers WHERE City IN ('</a:t>
            </a:r>
            <a:r>
              <a:rPr lang="en-US" dirty="0" err="1"/>
              <a:t>Paris','London</a:t>
            </a:r>
            <a:r>
              <a:rPr lang="en-US" dirty="0"/>
              <a:t>');</a:t>
            </a:r>
          </a:p>
          <a:p>
            <a:endParaRPr lang="en-US" dirty="0"/>
          </a:p>
        </p:txBody>
      </p:sp>
      <p:sp>
        <p:nvSpPr>
          <p:cNvPr id="3" name="Title 2"/>
          <p:cNvSpPr>
            <a:spLocks noGrp="1"/>
          </p:cNvSpPr>
          <p:nvPr>
            <p:ph type="title"/>
          </p:nvPr>
        </p:nvSpPr>
        <p:spPr/>
        <p:txBody>
          <a:bodyPr>
            <a:normAutofit/>
          </a:bodyPr>
          <a:lstStyle/>
          <a:p>
            <a:r>
              <a:rPr lang="en-US" b="0" dirty="0"/>
              <a:t>SQL IN Operator</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The BETWEEN operator selects values within a range. The values can be numbers, text, or dates.</a:t>
            </a:r>
          </a:p>
          <a:p>
            <a:pPr>
              <a:buNone/>
            </a:pPr>
            <a:r>
              <a:rPr lang="en-US" b="1" dirty="0"/>
              <a:t>Syntax</a:t>
            </a:r>
          </a:p>
          <a:p>
            <a:pPr>
              <a:buNone/>
            </a:pPr>
            <a:r>
              <a:rPr lang="en-US" dirty="0"/>
              <a:t>SELECT </a:t>
            </a:r>
            <a:r>
              <a:rPr lang="en-US" i="1" dirty="0" err="1"/>
              <a:t>column_name</a:t>
            </a:r>
            <a:r>
              <a:rPr lang="en-US" i="1" dirty="0"/>
              <a:t>(s) </a:t>
            </a:r>
            <a:r>
              <a:rPr lang="en-US" dirty="0"/>
              <a:t>FROM </a:t>
            </a:r>
            <a:r>
              <a:rPr lang="en-US" i="1" dirty="0" err="1"/>
              <a:t>table_name</a:t>
            </a:r>
            <a:br>
              <a:rPr lang="en-US" dirty="0"/>
            </a:br>
            <a:r>
              <a:rPr lang="en-US" dirty="0"/>
              <a:t>WHERE </a:t>
            </a:r>
            <a:r>
              <a:rPr lang="en-US" i="1" dirty="0" err="1"/>
              <a:t>column_name</a:t>
            </a:r>
            <a:r>
              <a:rPr lang="en-US" i="1" dirty="0"/>
              <a:t> </a:t>
            </a:r>
            <a:r>
              <a:rPr lang="en-US" dirty="0"/>
              <a:t>BETWEEN </a:t>
            </a:r>
            <a:r>
              <a:rPr lang="en-US" i="1" dirty="0"/>
              <a:t>value1</a:t>
            </a:r>
            <a:r>
              <a:rPr lang="en-US" dirty="0"/>
              <a:t> AND </a:t>
            </a:r>
            <a:r>
              <a:rPr lang="en-US" i="1" dirty="0"/>
              <a:t>value2;</a:t>
            </a:r>
          </a:p>
          <a:p>
            <a:pPr>
              <a:buNone/>
            </a:pPr>
            <a:r>
              <a:rPr lang="en-US" b="1" dirty="0"/>
              <a:t>Example</a:t>
            </a:r>
          </a:p>
          <a:p>
            <a:r>
              <a:rPr lang="en-US" sz="2600" dirty="0"/>
              <a:t>SELECT * FROM Products WHERE Price BETWEEN 10 AND 20;</a:t>
            </a:r>
          </a:p>
          <a:p>
            <a:r>
              <a:rPr lang="en-US" sz="2600" dirty="0"/>
              <a:t>Example</a:t>
            </a:r>
          </a:p>
          <a:p>
            <a:r>
              <a:rPr lang="en-US" sz="2600" dirty="0"/>
              <a:t>SELECT * FROM Orders WHERE </a:t>
            </a:r>
            <a:r>
              <a:rPr lang="en-US" sz="2600" dirty="0" err="1"/>
              <a:t>OrderDate</a:t>
            </a:r>
            <a:r>
              <a:rPr lang="en-US" sz="2600" dirty="0"/>
              <a:t> BETWEEN #07/04/1996# AND #07/09/1996#;</a:t>
            </a:r>
          </a:p>
          <a:p>
            <a:endParaRPr lang="en-US" dirty="0"/>
          </a:p>
          <a:p>
            <a:endParaRPr lang="en-US" dirty="0"/>
          </a:p>
          <a:p>
            <a:endParaRPr lang="en-US" dirty="0"/>
          </a:p>
        </p:txBody>
      </p:sp>
      <p:sp>
        <p:nvSpPr>
          <p:cNvPr id="3" name="Title 2"/>
          <p:cNvSpPr>
            <a:spLocks noGrp="1"/>
          </p:cNvSpPr>
          <p:nvPr>
            <p:ph type="title"/>
          </p:nvPr>
        </p:nvSpPr>
        <p:spPr/>
        <p:txBody>
          <a:bodyPr>
            <a:normAutofit/>
          </a:bodyPr>
          <a:lstStyle/>
          <a:p>
            <a:r>
              <a:rPr lang="en-US" b="0" dirty="0"/>
              <a:t>SQL BETWEEN Operator</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The ORDER BY keyword is used to sort the result-set by one or more columns.</a:t>
            </a:r>
          </a:p>
          <a:p>
            <a:r>
              <a:rPr lang="en-US" dirty="0"/>
              <a:t>The ORDER BY keyword sorts the records in ascending order by default. To sort the records in a descending order, you can use the DESC keyword.</a:t>
            </a:r>
          </a:p>
          <a:p>
            <a:pPr>
              <a:buNone/>
            </a:pPr>
            <a:r>
              <a:rPr lang="en-US" dirty="0"/>
              <a:t>Syntax:</a:t>
            </a:r>
          </a:p>
          <a:p>
            <a:pPr>
              <a:buNone/>
            </a:pPr>
            <a:r>
              <a:rPr lang="en-US" sz="3000" dirty="0"/>
              <a:t>SELECT </a:t>
            </a:r>
            <a:r>
              <a:rPr lang="en-US" sz="3000" i="1" dirty="0" err="1"/>
              <a:t>column_name</a:t>
            </a:r>
            <a:r>
              <a:rPr lang="en-US" sz="3000" dirty="0" err="1"/>
              <a:t>,</a:t>
            </a:r>
            <a:r>
              <a:rPr lang="en-US" sz="3000" i="1" dirty="0" err="1"/>
              <a:t>column_name</a:t>
            </a:r>
            <a:br>
              <a:rPr lang="en-US" sz="3000" dirty="0"/>
            </a:br>
            <a:r>
              <a:rPr lang="en-US" sz="3000" dirty="0"/>
              <a:t>FROM </a:t>
            </a:r>
            <a:r>
              <a:rPr lang="en-US" sz="3000" i="1" dirty="0" err="1"/>
              <a:t>table_name</a:t>
            </a:r>
            <a:br>
              <a:rPr lang="en-US" sz="3000" dirty="0"/>
            </a:br>
            <a:r>
              <a:rPr lang="en-US" sz="3000" dirty="0"/>
              <a:t>ORDER BY </a:t>
            </a:r>
            <a:r>
              <a:rPr lang="en-US" sz="3000" i="1" dirty="0" err="1"/>
              <a:t>column_name</a:t>
            </a:r>
            <a:r>
              <a:rPr lang="en-US" sz="3000" dirty="0" err="1"/>
              <a:t>,</a:t>
            </a:r>
            <a:r>
              <a:rPr lang="en-US" sz="3000" i="1" dirty="0" err="1"/>
              <a:t>column_name</a:t>
            </a:r>
            <a:r>
              <a:rPr lang="en-US" sz="3000" dirty="0"/>
              <a:t> ASC|DESC;</a:t>
            </a:r>
          </a:p>
          <a:p>
            <a:endParaRPr lang="en-US" dirty="0"/>
          </a:p>
        </p:txBody>
      </p:sp>
      <p:sp>
        <p:nvSpPr>
          <p:cNvPr id="2" name="Title 1"/>
          <p:cNvSpPr>
            <a:spLocks noGrp="1"/>
          </p:cNvSpPr>
          <p:nvPr>
            <p:ph type="title"/>
          </p:nvPr>
        </p:nvSpPr>
        <p:spPr/>
        <p:txBody>
          <a:bodyPr>
            <a:normAutofit/>
          </a:bodyPr>
          <a:lstStyle/>
          <a:p>
            <a:r>
              <a:rPr lang="en-US" dirty="0"/>
              <a:t>SQL ORDER BY Keyword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SELECT * FROM Customers</a:t>
            </a:r>
            <a:br>
              <a:rPr lang="en-US" dirty="0"/>
            </a:br>
            <a:r>
              <a:rPr lang="en-US" dirty="0"/>
              <a:t>ORDER BY Country;</a:t>
            </a:r>
          </a:p>
          <a:p>
            <a:r>
              <a:rPr lang="en-US" dirty="0"/>
              <a:t>SELECT * FROM Customers</a:t>
            </a:r>
            <a:br>
              <a:rPr lang="en-US" dirty="0"/>
            </a:br>
            <a:r>
              <a:rPr lang="en-US" dirty="0"/>
              <a:t>ORDER BY Country DESC;</a:t>
            </a:r>
          </a:p>
          <a:p>
            <a:pPr>
              <a:buNone/>
            </a:pPr>
            <a:r>
              <a:rPr lang="en-US" b="1" dirty="0"/>
              <a:t>Several Columns Example</a:t>
            </a:r>
          </a:p>
          <a:p>
            <a:pPr>
              <a:buNone/>
            </a:pPr>
            <a:r>
              <a:rPr lang="en-US" dirty="0"/>
              <a:t>SELECT * FROM Customers</a:t>
            </a:r>
            <a:br>
              <a:rPr lang="en-US" dirty="0"/>
            </a:br>
            <a:r>
              <a:rPr lang="en-US" dirty="0"/>
              <a:t>ORDER BY </a:t>
            </a:r>
            <a:r>
              <a:rPr lang="en-US" dirty="0" err="1"/>
              <a:t>Country,CustomerName</a:t>
            </a:r>
            <a:r>
              <a:rPr lang="en-US" dirty="0"/>
              <a:t>;</a:t>
            </a:r>
            <a:endParaRPr lang="en-US" b="1" dirty="0"/>
          </a:p>
          <a:p>
            <a:endParaRPr lang="en-US" dirty="0"/>
          </a:p>
        </p:txBody>
      </p:sp>
      <p:sp>
        <p:nvSpPr>
          <p:cNvPr id="2" name="Title 1"/>
          <p:cNvSpPr>
            <a:spLocks noGrp="1"/>
          </p:cNvSpPr>
          <p:nvPr>
            <p:ph type="title"/>
          </p:nvPr>
        </p:nvSpPr>
        <p:spPr/>
        <p:txBody>
          <a:bodyPr>
            <a:normAutofit/>
          </a:bodyPr>
          <a:lstStyle/>
          <a:p>
            <a:r>
              <a:rPr lang="en-US" dirty="0"/>
              <a:t>ORDER BY Examples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t>SQL has many built-in functions for performing calculations on data.</a:t>
            </a:r>
          </a:p>
          <a:p>
            <a:r>
              <a:rPr lang="en-US" sz="2800" b="1" dirty="0"/>
              <a:t>Aggregate Functions</a:t>
            </a:r>
          </a:p>
          <a:p>
            <a:pPr lvl="1">
              <a:buNone/>
            </a:pPr>
            <a:r>
              <a:rPr lang="en-US" sz="2400" dirty="0"/>
              <a:t>  Aggregate functions return a single value, calculated from values in a column.</a:t>
            </a:r>
          </a:p>
          <a:p>
            <a:r>
              <a:rPr lang="en-US" sz="2800" b="1" dirty="0"/>
              <a:t>Scalar functions</a:t>
            </a:r>
          </a:p>
          <a:p>
            <a:pPr lvl="1">
              <a:buNone/>
            </a:pPr>
            <a:r>
              <a:rPr lang="en-US" sz="2400" dirty="0"/>
              <a:t>  Scalar functions return a single value, based on the input value.</a:t>
            </a:r>
            <a:endParaRPr lang="en-US" sz="2400" b="1" dirty="0"/>
          </a:p>
          <a:p>
            <a:pPr>
              <a:buNone/>
            </a:pPr>
            <a:endParaRPr lang="en-US" sz="2800" dirty="0"/>
          </a:p>
          <a:p>
            <a:endParaRPr lang="en-US" sz="2800" dirty="0"/>
          </a:p>
        </p:txBody>
      </p:sp>
      <p:sp>
        <p:nvSpPr>
          <p:cNvPr id="3" name="Title 2"/>
          <p:cNvSpPr>
            <a:spLocks noGrp="1"/>
          </p:cNvSpPr>
          <p:nvPr>
            <p:ph type="title"/>
          </p:nvPr>
        </p:nvSpPr>
        <p:spPr/>
        <p:txBody>
          <a:bodyPr>
            <a:normAutofit/>
          </a:bodyPr>
          <a:lstStyle/>
          <a:p>
            <a:r>
              <a:rPr lang="en-US" dirty="0"/>
              <a:t>SQL Functions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AVG() - Returns the average value</a:t>
            </a:r>
          </a:p>
          <a:p>
            <a:r>
              <a:rPr lang="en-US" dirty="0"/>
              <a:t>COUNT() - Returns the number of rows</a:t>
            </a:r>
          </a:p>
          <a:p>
            <a:r>
              <a:rPr lang="en-US" dirty="0"/>
              <a:t>FIRST() - Returns the first value</a:t>
            </a:r>
          </a:p>
          <a:p>
            <a:r>
              <a:rPr lang="en-US" dirty="0"/>
              <a:t>LAST() - Returns the last value</a:t>
            </a:r>
          </a:p>
          <a:p>
            <a:r>
              <a:rPr lang="en-US" dirty="0"/>
              <a:t>MAX() - Returns the largest value</a:t>
            </a:r>
          </a:p>
          <a:p>
            <a:r>
              <a:rPr lang="en-US" dirty="0"/>
              <a:t>MIN() - Returns the smallest value</a:t>
            </a:r>
          </a:p>
          <a:p>
            <a:r>
              <a:rPr lang="en-US" dirty="0"/>
              <a:t>SUM() - Returns the sum</a:t>
            </a:r>
          </a:p>
          <a:p>
            <a:endParaRPr lang="en-US" dirty="0"/>
          </a:p>
        </p:txBody>
      </p:sp>
      <p:sp>
        <p:nvSpPr>
          <p:cNvPr id="3" name="Title 2"/>
          <p:cNvSpPr>
            <a:spLocks noGrp="1"/>
          </p:cNvSpPr>
          <p:nvPr>
            <p:ph type="title"/>
          </p:nvPr>
        </p:nvSpPr>
        <p:spPr/>
        <p:txBody>
          <a:bodyPr>
            <a:normAutofit/>
          </a:bodyPr>
          <a:lstStyle/>
          <a:p>
            <a:r>
              <a:rPr lang="en-US" b="0" dirty="0"/>
              <a:t>Aggregate Functions</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AVG() function returns the average value of a numeric column.</a:t>
            </a:r>
          </a:p>
          <a:p>
            <a:pPr>
              <a:buNone/>
            </a:pPr>
            <a:r>
              <a:rPr lang="en-US" dirty="0"/>
              <a:t>Syntax</a:t>
            </a:r>
          </a:p>
          <a:p>
            <a:pPr>
              <a:buNone/>
            </a:pPr>
            <a:r>
              <a:rPr lang="en-US" dirty="0"/>
              <a:t>SELECT AVG(</a:t>
            </a:r>
            <a:r>
              <a:rPr lang="en-US" dirty="0" err="1"/>
              <a:t>column_name</a:t>
            </a:r>
            <a:r>
              <a:rPr lang="en-US" dirty="0"/>
              <a:t>) FROM </a:t>
            </a:r>
            <a:r>
              <a:rPr lang="en-US" dirty="0" err="1"/>
              <a:t>table_name</a:t>
            </a:r>
            <a:br>
              <a:rPr lang="en-US" dirty="0"/>
            </a:br>
            <a:endParaRPr lang="en-US" dirty="0"/>
          </a:p>
          <a:p>
            <a:pPr>
              <a:buNone/>
            </a:pPr>
            <a:r>
              <a:rPr lang="en-US" dirty="0"/>
              <a:t>Example</a:t>
            </a:r>
          </a:p>
          <a:p>
            <a:pPr>
              <a:buNone/>
            </a:pPr>
            <a:r>
              <a:rPr lang="en-US" dirty="0"/>
              <a:t>SELECT AVG(Price) AS </a:t>
            </a:r>
            <a:r>
              <a:rPr lang="en-US" dirty="0" err="1"/>
              <a:t>PriceAverage</a:t>
            </a:r>
            <a:r>
              <a:rPr lang="en-US" dirty="0"/>
              <a:t> FROM Products;</a:t>
            </a:r>
          </a:p>
          <a:p>
            <a:endParaRPr lang="en-US" dirty="0"/>
          </a:p>
        </p:txBody>
      </p:sp>
      <p:sp>
        <p:nvSpPr>
          <p:cNvPr id="3" name="Title 2"/>
          <p:cNvSpPr>
            <a:spLocks noGrp="1"/>
          </p:cNvSpPr>
          <p:nvPr>
            <p:ph type="title"/>
          </p:nvPr>
        </p:nvSpPr>
        <p:spPr/>
        <p:txBody>
          <a:bodyPr>
            <a:normAutofit/>
          </a:bodyPr>
          <a:lstStyle/>
          <a:p>
            <a:r>
              <a:rPr lang="en-US" b="0" dirty="0"/>
              <a:t>AVG() Function</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The COUNT() function returns the number of rows that matches a specified criteria.</a:t>
            </a:r>
          </a:p>
          <a:p>
            <a:r>
              <a:rPr lang="en-US" dirty="0"/>
              <a:t>SQL COUNT(</a:t>
            </a:r>
            <a:r>
              <a:rPr lang="en-US" dirty="0" err="1"/>
              <a:t>column_name</a:t>
            </a:r>
            <a:r>
              <a:rPr lang="en-US" dirty="0"/>
              <a:t>) Syntax</a:t>
            </a:r>
          </a:p>
          <a:p>
            <a:pPr>
              <a:buNone/>
            </a:pPr>
            <a:endParaRPr lang="en-US" dirty="0"/>
          </a:p>
          <a:p>
            <a:pPr>
              <a:buNone/>
            </a:pPr>
            <a:r>
              <a:rPr lang="en-US" dirty="0"/>
              <a:t>The COUNT(</a:t>
            </a:r>
            <a:r>
              <a:rPr lang="en-US" dirty="0" err="1"/>
              <a:t>column_name</a:t>
            </a:r>
            <a:r>
              <a:rPr lang="en-US" dirty="0"/>
              <a:t>) function returns the number of values (NULL values will not be counted) of the specified column:</a:t>
            </a:r>
          </a:p>
          <a:p>
            <a:pPr>
              <a:buNone/>
            </a:pPr>
            <a:r>
              <a:rPr lang="en-US" dirty="0"/>
              <a:t>SELECT COUNT(</a:t>
            </a:r>
            <a:r>
              <a:rPr lang="en-US" dirty="0" err="1"/>
              <a:t>column_name</a:t>
            </a:r>
            <a:r>
              <a:rPr lang="en-US" dirty="0"/>
              <a:t>) FROM </a:t>
            </a:r>
            <a:r>
              <a:rPr lang="en-US" dirty="0" err="1"/>
              <a:t>table_name</a:t>
            </a:r>
            <a:r>
              <a:rPr lang="en-US" dirty="0"/>
              <a:t>;</a:t>
            </a:r>
          </a:p>
          <a:p>
            <a:pPr>
              <a:buNone/>
            </a:pPr>
            <a:endParaRPr lang="en-US" dirty="0"/>
          </a:p>
          <a:p>
            <a:pPr>
              <a:buNone/>
            </a:pPr>
            <a:r>
              <a:rPr lang="en-US" dirty="0"/>
              <a:t>SELECT COUNT(</a:t>
            </a:r>
            <a:r>
              <a:rPr lang="en-US" dirty="0" err="1"/>
              <a:t>CustomerID</a:t>
            </a:r>
            <a:r>
              <a:rPr lang="en-US" dirty="0"/>
              <a:t>) AS OrdersFromCustomerID7 FROM Orders WHERE </a:t>
            </a:r>
            <a:r>
              <a:rPr lang="en-US" dirty="0" err="1"/>
              <a:t>CustomerID</a:t>
            </a:r>
            <a:r>
              <a:rPr lang="en-US" dirty="0"/>
              <a:t>=7;</a:t>
            </a:r>
          </a:p>
        </p:txBody>
      </p:sp>
      <p:sp>
        <p:nvSpPr>
          <p:cNvPr id="3" name="Title 2"/>
          <p:cNvSpPr>
            <a:spLocks noGrp="1"/>
          </p:cNvSpPr>
          <p:nvPr>
            <p:ph type="title"/>
          </p:nvPr>
        </p:nvSpPr>
        <p:spPr/>
        <p:txBody>
          <a:bodyPr>
            <a:normAutofit/>
          </a:bodyPr>
          <a:lstStyle/>
          <a:p>
            <a:r>
              <a:rPr lang="en-US" b="0" dirty="0"/>
              <a:t>SQL COUNT() Function</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COUNT(*) function returns the number of records in a table:</a:t>
            </a:r>
          </a:p>
          <a:p>
            <a:r>
              <a:rPr lang="en-US" dirty="0"/>
              <a:t>SELECT COUNT(*) FROM </a:t>
            </a:r>
            <a:r>
              <a:rPr lang="en-US" dirty="0" err="1"/>
              <a:t>table_name</a:t>
            </a:r>
            <a:r>
              <a:rPr lang="en-US" dirty="0"/>
              <a:t>;</a:t>
            </a:r>
          </a:p>
          <a:p>
            <a:endParaRPr lang="en-US" dirty="0"/>
          </a:p>
          <a:p>
            <a:pPr>
              <a:buNone/>
            </a:pPr>
            <a:r>
              <a:rPr lang="en-US" dirty="0"/>
              <a:t>Example</a:t>
            </a:r>
          </a:p>
          <a:p>
            <a:r>
              <a:rPr lang="en-US" dirty="0"/>
              <a:t>SELECT COUNT(*) AS </a:t>
            </a:r>
            <a:r>
              <a:rPr lang="en-US" dirty="0" err="1"/>
              <a:t>NumberOfOrders</a:t>
            </a:r>
            <a:r>
              <a:rPr lang="en-US" dirty="0"/>
              <a:t> FROM Orders;</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COUNT(*) Syntax</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MAX() function returns the largest value of the selected column.</a:t>
            </a:r>
          </a:p>
          <a:p>
            <a:pPr>
              <a:buNone/>
            </a:pPr>
            <a:r>
              <a:rPr lang="en-US" dirty="0"/>
              <a:t>Syntax</a:t>
            </a:r>
          </a:p>
          <a:p>
            <a:r>
              <a:rPr lang="en-US" dirty="0"/>
              <a:t>SELECT MAX(</a:t>
            </a:r>
            <a:r>
              <a:rPr lang="en-US" dirty="0" err="1"/>
              <a:t>column_name</a:t>
            </a:r>
            <a:r>
              <a:rPr lang="en-US" dirty="0"/>
              <a:t>) FROM </a:t>
            </a:r>
            <a:r>
              <a:rPr lang="en-US" dirty="0" err="1"/>
              <a:t>table_name</a:t>
            </a:r>
            <a:r>
              <a:rPr lang="en-US" dirty="0"/>
              <a:t>;</a:t>
            </a:r>
          </a:p>
          <a:p>
            <a:pPr>
              <a:buNone/>
            </a:pPr>
            <a:r>
              <a:rPr lang="en-US" dirty="0"/>
              <a:t>Example</a:t>
            </a:r>
          </a:p>
          <a:p>
            <a:r>
              <a:rPr lang="en-US" dirty="0"/>
              <a:t>SELECT MAX(Price) AS </a:t>
            </a:r>
            <a:r>
              <a:rPr lang="en-US" dirty="0" err="1"/>
              <a:t>HighestPrice</a:t>
            </a:r>
            <a:r>
              <a:rPr lang="en-US" dirty="0"/>
              <a:t> FROM Products;</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MAX() Function</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MIN() function returns the smallest value of the selected column.</a:t>
            </a:r>
          </a:p>
          <a:p>
            <a:pPr>
              <a:buNone/>
            </a:pPr>
            <a:r>
              <a:rPr lang="en-US" dirty="0"/>
              <a:t>Syntax</a:t>
            </a:r>
          </a:p>
          <a:p>
            <a:r>
              <a:rPr lang="en-US" dirty="0"/>
              <a:t>SELECT MIN(</a:t>
            </a:r>
            <a:r>
              <a:rPr lang="en-US" dirty="0" err="1"/>
              <a:t>column_name</a:t>
            </a:r>
            <a:r>
              <a:rPr lang="en-US" dirty="0"/>
              <a:t>) FROM </a:t>
            </a:r>
            <a:r>
              <a:rPr lang="en-US" dirty="0" err="1"/>
              <a:t>table_name</a:t>
            </a:r>
            <a:r>
              <a:rPr lang="en-US" dirty="0"/>
              <a:t>;</a:t>
            </a:r>
          </a:p>
          <a:p>
            <a:pPr>
              <a:buNone/>
            </a:pPr>
            <a:r>
              <a:rPr lang="en-US" dirty="0"/>
              <a:t>Example</a:t>
            </a:r>
          </a:p>
          <a:p>
            <a:r>
              <a:rPr lang="en-US" dirty="0"/>
              <a:t>SELECT MIN(Price) AS </a:t>
            </a:r>
            <a:r>
              <a:rPr lang="en-US" dirty="0" err="1"/>
              <a:t>SmallestOrderPrice</a:t>
            </a:r>
            <a:r>
              <a:rPr lang="en-US" dirty="0"/>
              <a:t> FROM Products;</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MIN() Function</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SUM() function returns the total sum of a numeric column.</a:t>
            </a:r>
          </a:p>
          <a:p>
            <a:pPr>
              <a:buNone/>
            </a:pPr>
            <a:r>
              <a:rPr lang="en-US" dirty="0"/>
              <a:t>Syntax</a:t>
            </a:r>
          </a:p>
          <a:p>
            <a:r>
              <a:rPr lang="en-US" dirty="0"/>
              <a:t>SELECT SUM(</a:t>
            </a:r>
            <a:r>
              <a:rPr lang="en-US" dirty="0" err="1"/>
              <a:t>column_name</a:t>
            </a:r>
            <a:r>
              <a:rPr lang="en-US" dirty="0"/>
              <a:t>) FROM </a:t>
            </a:r>
            <a:r>
              <a:rPr lang="en-US" dirty="0" err="1"/>
              <a:t>table_name</a:t>
            </a:r>
            <a:r>
              <a:rPr lang="en-US" dirty="0"/>
              <a:t>;</a:t>
            </a:r>
          </a:p>
          <a:p>
            <a:pPr>
              <a:buNone/>
            </a:pPr>
            <a:r>
              <a:rPr lang="en-US" dirty="0"/>
              <a:t>Example</a:t>
            </a:r>
          </a:p>
          <a:p>
            <a:r>
              <a:rPr lang="en-US" dirty="0"/>
              <a:t>SELECT SUM(Quantity) AS </a:t>
            </a:r>
            <a:r>
              <a:rPr lang="en-US" dirty="0" err="1"/>
              <a:t>TotalItemsOrdered</a:t>
            </a:r>
            <a:r>
              <a:rPr lang="en-US" dirty="0"/>
              <a:t> FROM </a:t>
            </a:r>
            <a:r>
              <a:rPr lang="en-US" dirty="0" err="1"/>
              <a:t>OrderDetails</a:t>
            </a:r>
            <a:r>
              <a:rPr lang="en-US" dirty="0"/>
              <a:t>;</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SUM() Function</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Aggregate functions often need an added GROUP BY statement.</a:t>
            </a:r>
          </a:p>
          <a:p>
            <a:r>
              <a:rPr lang="en-US" dirty="0"/>
              <a:t>The GROUP BY statement is used in conjunction with the aggregate functions to group the result-set by one or more columns. </a:t>
            </a:r>
          </a:p>
          <a:p>
            <a:pPr>
              <a:buNone/>
            </a:pPr>
            <a:r>
              <a:rPr lang="en-US" dirty="0"/>
              <a:t>Syntax</a:t>
            </a:r>
          </a:p>
          <a:p>
            <a:r>
              <a:rPr lang="en-US" dirty="0"/>
              <a:t>SELECT </a:t>
            </a:r>
            <a:r>
              <a:rPr lang="en-US" dirty="0" err="1"/>
              <a:t>column_name</a:t>
            </a:r>
            <a:r>
              <a:rPr lang="en-US" dirty="0"/>
              <a:t>, </a:t>
            </a:r>
            <a:r>
              <a:rPr lang="en-US" dirty="0" err="1"/>
              <a:t>aggregate_function</a:t>
            </a:r>
            <a:r>
              <a:rPr lang="en-US" dirty="0"/>
              <a:t>(</a:t>
            </a:r>
            <a:r>
              <a:rPr lang="en-US" dirty="0" err="1"/>
              <a:t>column_name</a:t>
            </a:r>
            <a:r>
              <a:rPr lang="en-US" dirty="0"/>
              <a:t>)</a:t>
            </a:r>
            <a:br>
              <a:rPr lang="en-US" dirty="0"/>
            </a:br>
            <a:r>
              <a:rPr lang="en-US" dirty="0"/>
              <a:t>FROM </a:t>
            </a:r>
            <a:r>
              <a:rPr lang="en-US" dirty="0" err="1"/>
              <a:t>table_name</a:t>
            </a:r>
            <a:br>
              <a:rPr lang="en-US" dirty="0"/>
            </a:br>
            <a:r>
              <a:rPr lang="en-US" dirty="0"/>
              <a:t>WHERE </a:t>
            </a:r>
            <a:r>
              <a:rPr lang="en-US" dirty="0" err="1"/>
              <a:t>column_name</a:t>
            </a:r>
            <a:r>
              <a:rPr lang="en-US" dirty="0"/>
              <a:t> operator value</a:t>
            </a:r>
            <a:br>
              <a:rPr lang="en-US" dirty="0"/>
            </a:br>
            <a:r>
              <a:rPr lang="en-US" dirty="0"/>
              <a:t>GROUP BY </a:t>
            </a:r>
            <a:r>
              <a:rPr lang="en-US" dirty="0" err="1"/>
              <a:t>column_name</a:t>
            </a:r>
            <a:r>
              <a:rPr lang="en-US" dirty="0"/>
              <a:t>;</a:t>
            </a:r>
          </a:p>
          <a:p>
            <a:pPr>
              <a:buNone/>
            </a:pPr>
            <a:endParaRPr lang="en-US" dirty="0"/>
          </a:p>
        </p:txBody>
      </p:sp>
      <p:sp>
        <p:nvSpPr>
          <p:cNvPr id="3" name="Title 2"/>
          <p:cNvSpPr>
            <a:spLocks noGrp="1"/>
          </p:cNvSpPr>
          <p:nvPr>
            <p:ph type="title"/>
          </p:nvPr>
        </p:nvSpPr>
        <p:spPr/>
        <p:txBody>
          <a:bodyPr>
            <a:normAutofit/>
          </a:bodyPr>
          <a:lstStyle/>
          <a:p>
            <a:r>
              <a:rPr lang="en-US" b="0" dirty="0"/>
              <a:t>SQL GROUP BY Statement</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SELECT * FROM products GROUP BY </a:t>
            </a:r>
            <a:r>
              <a:rPr lang="en-US" dirty="0" err="1"/>
              <a:t>productCode</a:t>
            </a:r>
            <a:endParaRPr lang="en-US" dirty="0"/>
          </a:p>
          <a:p>
            <a:r>
              <a:rPr lang="en-US" dirty="0"/>
              <a:t>SELECT </a:t>
            </a:r>
            <a:r>
              <a:rPr lang="en-US" dirty="0" err="1"/>
              <a:t>productCode</a:t>
            </a:r>
            <a:r>
              <a:rPr lang="en-US" dirty="0"/>
              <a:t>, COUNT(*) FROM products GROUP BY </a:t>
            </a:r>
            <a:r>
              <a:rPr lang="en-US" dirty="0" err="1"/>
              <a:t>productCode</a:t>
            </a:r>
            <a:r>
              <a:rPr lang="en-US" dirty="0"/>
              <a:t>;</a:t>
            </a:r>
          </a:p>
          <a:p>
            <a:r>
              <a:rPr lang="en-US" dirty="0"/>
              <a:t>SELECT </a:t>
            </a:r>
            <a:r>
              <a:rPr lang="en-US" dirty="0" err="1"/>
              <a:t>productCode</a:t>
            </a:r>
            <a:r>
              <a:rPr lang="en-US" dirty="0"/>
              <a:t>, COUNT(*) AS count FROM products GROUP BY </a:t>
            </a:r>
            <a:r>
              <a:rPr lang="en-US" dirty="0" err="1"/>
              <a:t>productCode</a:t>
            </a:r>
            <a:r>
              <a:rPr lang="en-US" dirty="0"/>
              <a:t> ORDER BY count DESC;</a:t>
            </a:r>
          </a:p>
          <a:p>
            <a:r>
              <a:rPr lang="en-US" dirty="0"/>
              <a:t>SELECT </a:t>
            </a:r>
            <a:r>
              <a:rPr lang="en-US" dirty="0" err="1"/>
              <a:t>productCode</a:t>
            </a:r>
            <a:r>
              <a:rPr lang="en-US" dirty="0"/>
              <a:t>, MAX(price) AS `Highest Price`, MIN(price) AS `Lowest Price` FROM products GROUP BY </a:t>
            </a:r>
            <a:r>
              <a:rPr lang="en-US" dirty="0" err="1"/>
              <a:t>productCode</a:t>
            </a:r>
            <a:r>
              <a:rPr lang="en-US" dirty="0"/>
              <a:t>;</a:t>
            </a:r>
          </a:p>
        </p:txBody>
      </p:sp>
      <p:sp>
        <p:nvSpPr>
          <p:cNvPr id="3" name="Title 2"/>
          <p:cNvSpPr>
            <a:spLocks noGrp="1"/>
          </p:cNvSpPr>
          <p:nvPr>
            <p:ph type="title"/>
          </p:nvPr>
        </p:nvSpPr>
        <p:spPr/>
        <p:txBody>
          <a:bodyPr>
            <a:normAutofit/>
          </a:bodyPr>
          <a:lstStyle/>
          <a:p>
            <a:r>
              <a:rPr lang="en-US" b="0" dirty="0"/>
              <a:t>SQL GROUP BY Example</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UPPER() - Converts a field to upper case</a:t>
            </a:r>
          </a:p>
          <a:p>
            <a:r>
              <a:rPr lang="en-US" dirty="0"/>
              <a:t>LOWER() - Converts a field to lower case</a:t>
            </a:r>
          </a:p>
          <a:p>
            <a:r>
              <a:rPr lang="en-US" dirty="0"/>
              <a:t>MID() - Extract characters from a text field</a:t>
            </a:r>
          </a:p>
          <a:p>
            <a:r>
              <a:rPr lang="en-US" dirty="0"/>
              <a:t>LENGTH() - Returns the length of a text field</a:t>
            </a:r>
          </a:p>
          <a:p>
            <a:r>
              <a:rPr lang="en-US" dirty="0"/>
              <a:t>ROUND() - Rounds a numeric field to the number of decimals specified</a:t>
            </a:r>
          </a:p>
          <a:p>
            <a:r>
              <a:rPr lang="en-US" dirty="0"/>
              <a:t>NOW() - Returns the current system date and time</a:t>
            </a:r>
          </a:p>
          <a:p>
            <a:r>
              <a:rPr lang="en-US" dirty="0"/>
              <a:t>FORMAT() - Formats how a field is to be displayed</a:t>
            </a:r>
          </a:p>
          <a:p>
            <a:endParaRPr lang="en-US" dirty="0"/>
          </a:p>
        </p:txBody>
      </p:sp>
      <p:sp>
        <p:nvSpPr>
          <p:cNvPr id="3" name="Title 2"/>
          <p:cNvSpPr>
            <a:spLocks noGrp="1"/>
          </p:cNvSpPr>
          <p:nvPr>
            <p:ph type="title"/>
          </p:nvPr>
        </p:nvSpPr>
        <p:spPr/>
        <p:txBody>
          <a:bodyPr>
            <a:normAutofit/>
          </a:bodyPr>
          <a:lstStyle/>
          <a:p>
            <a:r>
              <a:rPr lang="en-US" b="0" dirty="0"/>
              <a:t>Scalar functions</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UPPER() function converts the value of a field to uppercase.</a:t>
            </a:r>
          </a:p>
          <a:p>
            <a:r>
              <a:rPr lang="en-US" dirty="0"/>
              <a:t>SELECT UPPER(</a:t>
            </a:r>
            <a:r>
              <a:rPr lang="en-US" dirty="0" err="1"/>
              <a:t>column_name</a:t>
            </a:r>
            <a:r>
              <a:rPr lang="en-US" dirty="0"/>
              <a:t>) FROM </a:t>
            </a:r>
            <a:r>
              <a:rPr lang="en-US" dirty="0" err="1"/>
              <a:t>table_name</a:t>
            </a:r>
            <a:r>
              <a:rPr lang="en-US" dirty="0"/>
              <a:t>;</a:t>
            </a:r>
          </a:p>
          <a:p>
            <a:pPr>
              <a:buNone/>
            </a:pPr>
            <a:r>
              <a:rPr lang="en-US" dirty="0"/>
              <a:t>Example</a:t>
            </a:r>
          </a:p>
          <a:p>
            <a:r>
              <a:rPr lang="en-US" dirty="0"/>
              <a:t>SELECT UPPER(</a:t>
            </a:r>
            <a:r>
              <a:rPr lang="en-US" dirty="0" err="1"/>
              <a:t>CustomerName</a:t>
            </a:r>
            <a:r>
              <a:rPr lang="en-US" dirty="0"/>
              <a:t>) AS Customer, City</a:t>
            </a:r>
            <a:br>
              <a:rPr lang="en-US" dirty="0"/>
            </a:br>
            <a:r>
              <a:rPr lang="en-US" dirty="0"/>
              <a:t>FROM Customers;</a:t>
            </a:r>
          </a:p>
          <a:p>
            <a:endParaRPr lang="en-US" dirty="0"/>
          </a:p>
        </p:txBody>
      </p:sp>
      <p:sp>
        <p:nvSpPr>
          <p:cNvPr id="3" name="Title 2"/>
          <p:cNvSpPr>
            <a:spLocks noGrp="1"/>
          </p:cNvSpPr>
          <p:nvPr>
            <p:ph type="title"/>
          </p:nvPr>
        </p:nvSpPr>
        <p:spPr/>
        <p:txBody>
          <a:bodyPr>
            <a:normAutofit/>
          </a:bodyPr>
          <a:lstStyle/>
          <a:p>
            <a:r>
              <a:rPr lang="en-US" b="0" dirty="0"/>
              <a:t>SQL UCASE() Function</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LOWER() function converts the value of a field to lowercase.</a:t>
            </a:r>
          </a:p>
          <a:p>
            <a:pPr>
              <a:buNone/>
            </a:pPr>
            <a:r>
              <a:rPr lang="en-US" dirty="0"/>
              <a:t>Syntax</a:t>
            </a:r>
          </a:p>
          <a:p>
            <a:r>
              <a:rPr lang="en-US" dirty="0"/>
              <a:t>SELECT LOWER(</a:t>
            </a:r>
            <a:r>
              <a:rPr lang="en-US" dirty="0" err="1"/>
              <a:t>column_name</a:t>
            </a:r>
            <a:r>
              <a:rPr lang="en-US" dirty="0"/>
              <a:t>) FROM </a:t>
            </a:r>
            <a:r>
              <a:rPr lang="en-US" dirty="0" err="1"/>
              <a:t>table_name</a:t>
            </a:r>
            <a:r>
              <a:rPr lang="en-US" dirty="0"/>
              <a:t>;</a:t>
            </a:r>
          </a:p>
          <a:p>
            <a:pPr>
              <a:buNone/>
            </a:pPr>
            <a:r>
              <a:rPr lang="en-US" dirty="0"/>
              <a:t>Example</a:t>
            </a:r>
          </a:p>
          <a:p>
            <a:r>
              <a:rPr lang="en-US" dirty="0"/>
              <a:t>SELECT LOWER(</a:t>
            </a:r>
            <a:r>
              <a:rPr lang="en-US" dirty="0" err="1"/>
              <a:t>CustomerName</a:t>
            </a:r>
            <a:r>
              <a:rPr lang="en-US" dirty="0"/>
              <a:t>) AS Customer, City</a:t>
            </a:r>
            <a:br>
              <a:rPr lang="en-US" dirty="0"/>
            </a:br>
            <a:r>
              <a:rPr lang="en-US" dirty="0"/>
              <a:t>FROM Customers;</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LCASE() Function</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MID() function is used to extract characters from a text field.</a:t>
            </a:r>
          </a:p>
          <a:p>
            <a:pPr>
              <a:buNone/>
            </a:pPr>
            <a:r>
              <a:rPr lang="en-US" dirty="0"/>
              <a:t>Syntax</a:t>
            </a:r>
          </a:p>
          <a:p>
            <a:r>
              <a:rPr lang="en-US" dirty="0"/>
              <a:t>SELECT MID(</a:t>
            </a:r>
            <a:r>
              <a:rPr lang="en-US" dirty="0" err="1"/>
              <a:t>column_name,start</a:t>
            </a:r>
            <a:r>
              <a:rPr lang="en-US" dirty="0"/>
              <a:t>[,length]) FROM </a:t>
            </a:r>
            <a:r>
              <a:rPr lang="en-US" dirty="0" err="1"/>
              <a:t>table_name</a:t>
            </a:r>
            <a:r>
              <a:rPr lang="en-US" dirty="0"/>
              <a:t>;</a:t>
            </a:r>
          </a:p>
          <a:p>
            <a:pPr>
              <a:buNone/>
            </a:pPr>
            <a:r>
              <a:rPr lang="en-US" dirty="0"/>
              <a:t>Example</a:t>
            </a:r>
          </a:p>
          <a:p>
            <a:r>
              <a:rPr lang="en-US" dirty="0"/>
              <a:t>SELECT MID(City,1,4) AS </a:t>
            </a:r>
            <a:r>
              <a:rPr lang="en-US" dirty="0" err="1"/>
              <a:t>ShortCity</a:t>
            </a:r>
            <a:br>
              <a:rPr lang="en-US" dirty="0"/>
            </a:br>
            <a:r>
              <a:rPr lang="en-US" dirty="0"/>
              <a:t>FROM Customers;</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MID() Function</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LENGTH() function returns the length of the value in a text field.</a:t>
            </a:r>
          </a:p>
          <a:p>
            <a:pPr>
              <a:buNone/>
            </a:pPr>
            <a:r>
              <a:rPr lang="en-US" dirty="0"/>
              <a:t>Syntax</a:t>
            </a:r>
          </a:p>
          <a:p>
            <a:r>
              <a:rPr lang="en-US" dirty="0"/>
              <a:t>SELECT LENGTH(</a:t>
            </a:r>
            <a:r>
              <a:rPr lang="en-US" dirty="0" err="1"/>
              <a:t>column_name</a:t>
            </a:r>
            <a:r>
              <a:rPr lang="en-US" dirty="0"/>
              <a:t>) FROM </a:t>
            </a:r>
            <a:r>
              <a:rPr lang="en-US" dirty="0" err="1"/>
              <a:t>table_name</a:t>
            </a:r>
            <a:r>
              <a:rPr lang="en-US" dirty="0"/>
              <a:t>;</a:t>
            </a:r>
          </a:p>
          <a:p>
            <a:pPr>
              <a:buNone/>
            </a:pPr>
            <a:r>
              <a:rPr lang="en-US" dirty="0"/>
              <a:t>Example</a:t>
            </a:r>
          </a:p>
          <a:p>
            <a:r>
              <a:rPr lang="en-US" dirty="0"/>
              <a:t>SELECT </a:t>
            </a:r>
            <a:r>
              <a:rPr lang="en-US" dirty="0" err="1"/>
              <a:t>CustomerName,LENGTH</a:t>
            </a:r>
            <a:r>
              <a:rPr lang="en-US" dirty="0"/>
              <a:t>(Address) as </a:t>
            </a:r>
            <a:r>
              <a:rPr lang="en-US" dirty="0" err="1"/>
              <a:t>LengthOfAddress</a:t>
            </a:r>
            <a:br>
              <a:rPr lang="en-US" dirty="0"/>
            </a:br>
            <a:r>
              <a:rPr lang="en-US" dirty="0"/>
              <a:t>FROM Customers;</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LEN() Function</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ROUND() function is used to round a numeric field to the number of decimals specified. </a:t>
            </a:r>
          </a:p>
          <a:p>
            <a:pPr>
              <a:buNone/>
            </a:pPr>
            <a:r>
              <a:rPr lang="en-US" dirty="0"/>
              <a:t>Syntax</a:t>
            </a:r>
          </a:p>
          <a:p>
            <a:r>
              <a:rPr lang="en-US" dirty="0"/>
              <a:t>SELECT ROUND(</a:t>
            </a:r>
            <a:r>
              <a:rPr lang="en-US" dirty="0" err="1"/>
              <a:t>column_name,decimals</a:t>
            </a:r>
            <a:r>
              <a:rPr lang="en-US" dirty="0"/>
              <a:t>) FROM </a:t>
            </a:r>
            <a:r>
              <a:rPr lang="en-US" dirty="0" err="1"/>
              <a:t>table_name</a:t>
            </a:r>
            <a:r>
              <a:rPr lang="en-US" dirty="0"/>
              <a:t>;</a:t>
            </a:r>
          </a:p>
          <a:p>
            <a:pPr>
              <a:buNone/>
            </a:pPr>
            <a:r>
              <a:rPr lang="en-US" dirty="0"/>
              <a:t>Example</a:t>
            </a:r>
          </a:p>
          <a:p>
            <a:r>
              <a:rPr lang="en-US" dirty="0"/>
              <a:t>SELECT </a:t>
            </a:r>
            <a:r>
              <a:rPr lang="en-US" dirty="0" err="1"/>
              <a:t>ProductName</a:t>
            </a:r>
            <a:r>
              <a:rPr lang="en-US" dirty="0"/>
              <a:t>, ROUND(Price,0) AS </a:t>
            </a:r>
            <a:r>
              <a:rPr lang="en-US" dirty="0" err="1"/>
              <a:t>RoundedPrice</a:t>
            </a:r>
            <a:br>
              <a:rPr lang="en-US" dirty="0"/>
            </a:br>
            <a:r>
              <a:rPr lang="en-US" dirty="0"/>
              <a:t>FROM Products;</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ROUND() Function</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NOW() function returns the current system date and time.</a:t>
            </a:r>
          </a:p>
          <a:p>
            <a:pPr>
              <a:buNone/>
            </a:pPr>
            <a:r>
              <a:rPr lang="en-US" dirty="0"/>
              <a:t>Syntax</a:t>
            </a:r>
          </a:p>
          <a:p>
            <a:r>
              <a:rPr lang="en-US" dirty="0"/>
              <a:t>SELECT NOW() FROM </a:t>
            </a:r>
            <a:r>
              <a:rPr lang="en-US" dirty="0" err="1"/>
              <a:t>table_name</a:t>
            </a:r>
            <a:r>
              <a:rPr lang="en-US" dirty="0"/>
              <a:t>;</a:t>
            </a:r>
          </a:p>
          <a:p>
            <a:pPr>
              <a:buNone/>
            </a:pPr>
            <a:r>
              <a:rPr lang="en-US" dirty="0"/>
              <a:t>Example</a:t>
            </a:r>
          </a:p>
          <a:p>
            <a:r>
              <a:rPr lang="en-US" dirty="0"/>
              <a:t>SELECT </a:t>
            </a:r>
            <a:r>
              <a:rPr lang="en-US" dirty="0" err="1"/>
              <a:t>ProductName</a:t>
            </a:r>
            <a:r>
              <a:rPr lang="en-US" dirty="0"/>
              <a:t>, Price, Now() AS </a:t>
            </a:r>
            <a:r>
              <a:rPr lang="en-US" dirty="0" err="1"/>
              <a:t>PerDate</a:t>
            </a:r>
            <a:br>
              <a:rPr lang="en-US" dirty="0"/>
            </a:br>
            <a:r>
              <a:rPr lang="en-US" dirty="0"/>
              <a:t>FROM Products;</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NOW() Function</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FORMAT() function is used to format how a field is to be displayed.</a:t>
            </a:r>
          </a:p>
          <a:p>
            <a:pPr>
              <a:buNone/>
            </a:pPr>
            <a:r>
              <a:rPr lang="en-US" dirty="0"/>
              <a:t>Syntax</a:t>
            </a:r>
          </a:p>
          <a:p>
            <a:r>
              <a:rPr lang="en-US" dirty="0"/>
              <a:t>SELECT FORMAT(</a:t>
            </a:r>
            <a:r>
              <a:rPr lang="en-US" dirty="0" err="1"/>
              <a:t>column_name,format</a:t>
            </a:r>
            <a:r>
              <a:rPr lang="en-US" dirty="0"/>
              <a:t>) FROM </a:t>
            </a:r>
            <a:r>
              <a:rPr lang="en-US" dirty="0" err="1"/>
              <a:t>table_name</a:t>
            </a:r>
            <a:r>
              <a:rPr lang="en-US" dirty="0"/>
              <a:t>;</a:t>
            </a:r>
          </a:p>
          <a:p>
            <a:pPr>
              <a:buNone/>
            </a:pPr>
            <a:r>
              <a:rPr lang="en-US" dirty="0"/>
              <a:t>Example</a:t>
            </a:r>
          </a:p>
          <a:p>
            <a:r>
              <a:rPr lang="en-US" dirty="0"/>
              <a:t>SELECT </a:t>
            </a:r>
            <a:r>
              <a:rPr lang="en-US" dirty="0" err="1"/>
              <a:t>ProductName,FORMAT</a:t>
            </a:r>
            <a:r>
              <a:rPr lang="en-US" dirty="0"/>
              <a:t>(Price,’2) AS </a:t>
            </a:r>
            <a:r>
              <a:rPr lang="en-US" dirty="0" err="1"/>
              <a:t>WholePrice</a:t>
            </a:r>
            <a:r>
              <a:rPr lang="en-US" dirty="0"/>
              <a:t> FROM Products;</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FORMAT() Function</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SQL joins are used to combine rows from two or more tables.</a:t>
            </a:r>
          </a:p>
          <a:p>
            <a:r>
              <a:rPr lang="en-US" dirty="0"/>
              <a:t>An SQL JOIN clause is used to combine rows from two or more tables, based on a common field between them.</a:t>
            </a:r>
          </a:p>
          <a:p>
            <a:r>
              <a:rPr lang="en-US" dirty="0"/>
              <a:t>An SQL INNER JOIN return all rows from multiple tables where the join condition is met.</a:t>
            </a:r>
          </a:p>
          <a:p>
            <a:pPr>
              <a:buNone/>
            </a:pPr>
            <a:endParaRPr lang="en-US" dirty="0"/>
          </a:p>
          <a:p>
            <a:pPr>
              <a:buNone/>
            </a:pPr>
            <a:endParaRPr lang="en-US" dirty="0"/>
          </a:p>
        </p:txBody>
      </p:sp>
      <p:sp>
        <p:nvSpPr>
          <p:cNvPr id="3" name="Title 2"/>
          <p:cNvSpPr>
            <a:spLocks noGrp="1"/>
          </p:cNvSpPr>
          <p:nvPr>
            <p:ph type="title"/>
          </p:nvPr>
        </p:nvSpPr>
        <p:spPr/>
        <p:txBody>
          <a:bodyPr>
            <a:normAutofit/>
          </a:bodyPr>
          <a:lstStyle/>
          <a:p>
            <a:r>
              <a:rPr lang="en-US" b="0" dirty="0"/>
              <a:t>SQL Joins</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INNER JOIN</a:t>
            </a:r>
            <a:r>
              <a:rPr lang="en-US" dirty="0"/>
              <a:t>: Returns all rows when there is at least one match in BOTH tables</a:t>
            </a:r>
          </a:p>
          <a:p>
            <a:r>
              <a:rPr lang="en-US" b="1" dirty="0"/>
              <a:t>LEFT JOIN</a:t>
            </a:r>
            <a:r>
              <a:rPr lang="en-US" dirty="0"/>
              <a:t>: Return all rows from the left table, and the matched rows from the right table</a:t>
            </a:r>
          </a:p>
          <a:p>
            <a:r>
              <a:rPr lang="en-US" b="1" dirty="0"/>
              <a:t>RIGHT JOIN</a:t>
            </a:r>
            <a:r>
              <a:rPr lang="en-US" dirty="0"/>
              <a:t>: Return all rows from the right table, and the matched rows from the left table</a:t>
            </a:r>
          </a:p>
          <a:p>
            <a:r>
              <a:rPr lang="en-US" b="1" dirty="0"/>
              <a:t>FULL JOIN</a:t>
            </a:r>
            <a:r>
              <a:rPr lang="en-US" dirty="0"/>
              <a:t>: Return all rows when there is a match in ONE of the tables</a:t>
            </a:r>
          </a:p>
          <a:p>
            <a:r>
              <a:rPr lang="en-US" b="1" dirty="0"/>
              <a:t>Self Join : </a:t>
            </a:r>
            <a:r>
              <a:rPr lang="en-US" dirty="0"/>
              <a:t>Joining a Table to Itself</a:t>
            </a:r>
          </a:p>
        </p:txBody>
      </p:sp>
      <p:sp>
        <p:nvSpPr>
          <p:cNvPr id="3" name="Title 2"/>
          <p:cNvSpPr>
            <a:spLocks noGrp="1"/>
          </p:cNvSpPr>
          <p:nvPr>
            <p:ph type="title"/>
          </p:nvPr>
        </p:nvSpPr>
        <p:spPr/>
        <p:txBody>
          <a:bodyPr>
            <a:normAutofit/>
          </a:bodyPr>
          <a:lstStyle/>
          <a:p>
            <a:r>
              <a:rPr lang="en-US" b="0" dirty="0"/>
              <a:t>Different SQL JOINs</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1328"/>
            <a:ext cx="8534400" cy="4525963"/>
          </a:xfrm>
        </p:spPr>
        <p:txBody>
          <a:bodyPr/>
          <a:lstStyle/>
          <a:p>
            <a:r>
              <a:rPr lang="en-US" dirty="0"/>
              <a:t>The INNER JOIN keyword selects all rows from both tables as long as there is a match between the columns in both tables.</a:t>
            </a:r>
          </a:p>
          <a:p>
            <a:endParaRPr lang="en-US" dirty="0"/>
          </a:p>
          <a:p>
            <a:pPr>
              <a:buNone/>
            </a:pPr>
            <a:r>
              <a:rPr lang="en-US" dirty="0"/>
              <a:t>Syntax</a:t>
            </a:r>
          </a:p>
          <a:p>
            <a:r>
              <a:rPr lang="en-US" dirty="0"/>
              <a:t>SELECT </a:t>
            </a:r>
            <a:r>
              <a:rPr lang="en-US" i="1" dirty="0" err="1"/>
              <a:t>column_name</a:t>
            </a:r>
            <a:r>
              <a:rPr lang="en-US" i="1" dirty="0"/>
              <a:t>(s)</a:t>
            </a:r>
            <a:br>
              <a:rPr lang="en-US" dirty="0"/>
            </a:br>
            <a:r>
              <a:rPr lang="en-US" dirty="0"/>
              <a:t>FROM </a:t>
            </a:r>
            <a:r>
              <a:rPr lang="en-US" i="1" dirty="0"/>
              <a:t>table1</a:t>
            </a:r>
            <a:br>
              <a:rPr lang="en-US" dirty="0"/>
            </a:br>
            <a:r>
              <a:rPr lang="en-US" dirty="0"/>
              <a:t>INNER JOIN </a:t>
            </a:r>
            <a:r>
              <a:rPr lang="en-US" i="1" dirty="0"/>
              <a:t>table2</a:t>
            </a:r>
            <a:br>
              <a:rPr lang="en-US" dirty="0"/>
            </a:br>
            <a:r>
              <a:rPr lang="en-US" dirty="0"/>
              <a:t>ON </a:t>
            </a:r>
            <a:r>
              <a:rPr lang="en-US" i="1" dirty="0"/>
              <a:t>table1.column_name</a:t>
            </a:r>
            <a:r>
              <a:rPr lang="en-US" dirty="0"/>
              <a:t>=</a:t>
            </a:r>
            <a:r>
              <a:rPr lang="en-US" i="1" dirty="0"/>
              <a:t>table2.column_name</a:t>
            </a:r>
            <a:r>
              <a:rPr lang="en-US" dirty="0"/>
              <a:t>;</a:t>
            </a:r>
          </a:p>
          <a:p>
            <a:endParaRPr lang="en-US" dirty="0"/>
          </a:p>
        </p:txBody>
      </p:sp>
      <p:sp>
        <p:nvSpPr>
          <p:cNvPr id="3" name="Title 2"/>
          <p:cNvSpPr>
            <a:spLocks noGrp="1"/>
          </p:cNvSpPr>
          <p:nvPr>
            <p:ph type="title"/>
          </p:nvPr>
        </p:nvSpPr>
        <p:spPr/>
        <p:txBody>
          <a:bodyPr>
            <a:normAutofit/>
          </a:bodyPr>
          <a:lstStyle/>
          <a:p>
            <a:r>
              <a:rPr lang="en-US" b="0" dirty="0"/>
              <a:t>SQL INNER JOIN</a:t>
            </a:r>
            <a:endParaRPr lang="en-US" dirty="0"/>
          </a:p>
        </p:txBody>
      </p:sp>
      <p:pic>
        <p:nvPicPr>
          <p:cNvPr id="40962" name="Picture 2" descr="SQL INNER JOIN"/>
          <p:cNvPicPr>
            <a:picLocks noChangeAspect="1" noChangeArrowheads="1"/>
          </p:cNvPicPr>
          <p:nvPr/>
        </p:nvPicPr>
        <p:blipFill>
          <a:blip r:embed="rId2" cstate="print"/>
          <a:srcRect/>
          <a:stretch>
            <a:fillRect/>
          </a:stretch>
        </p:blipFill>
        <p:spPr bwMode="auto">
          <a:xfrm>
            <a:off x="5562600" y="2514600"/>
            <a:ext cx="2667000" cy="2057400"/>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following SQL statement will return all customers with orders:</a:t>
            </a:r>
          </a:p>
          <a:p>
            <a:r>
              <a:rPr lang="en-US" dirty="0"/>
              <a:t>SELECT </a:t>
            </a:r>
            <a:r>
              <a:rPr lang="en-US" dirty="0" err="1"/>
              <a:t>Customers.CustomerName</a:t>
            </a:r>
            <a:r>
              <a:rPr lang="en-US" dirty="0"/>
              <a:t>, </a:t>
            </a:r>
            <a:r>
              <a:rPr lang="en-US" dirty="0" err="1"/>
              <a:t>Orders.OrderID</a:t>
            </a:r>
            <a:br>
              <a:rPr lang="en-US" dirty="0"/>
            </a:br>
            <a:r>
              <a:rPr lang="en-US" dirty="0"/>
              <a:t>FROM Customers</a:t>
            </a:r>
            <a:br>
              <a:rPr lang="en-US" dirty="0"/>
            </a:br>
            <a:r>
              <a:rPr lang="en-US" dirty="0"/>
              <a:t>INNER JOIN Orders</a:t>
            </a:r>
            <a:br>
              <a:rPr lang="en-US" dirty="0"/>
            </a:br>
            <a:r>
              <a:rPr lang="en-US" dirty="0"/>
              <a:t>ON </a:t>
            </a:r>
            <a:r>
              <a:rPr lang="en-US" dirty="0" err="1"/>
              <a:t>Customers.CustomerID</a:t>
            </a:r>
            <a:r>
              <a:rPr lang="en-US" dirty="0"/>
              <a:t>=</a:t>
            </a:r>
            <a:r>
              <a:rPr lang="en-US" dirty="0" err="1"/>
              <a:t>Orders.CustomerID</a:t>
            </a:r>
            <a:br>
              <a:rPr lang="en-US" dirty="0"/>
            </a:br>
            <a:r>
              <a:rPr lang="en-US" dirty="0"/>
              <a:t>ORDER BY </a:t>
            </a:r>
            <a:r>
              <a:rPr lang="en-US" dirty="0" err="1"/>
              <a:t>Customers.CustomerName</a:t>
            </a:r>
            <a:r>
              <a:rPr lang="en-US" dirty="0"/>
              <a:t>;</a:t>
            </a:r>
          </a:p>
        </p:txBody>
      </p:sp>
      <p:sp>
        <p:nvSpPr>
          <p:cNvPr id="3" name="Title 2"/>
          <p:cNvSpPr>
            <a:spLocks noGrp="1"/>
          </p:cNvSpPr>
          <p:nvPr>
            <p:ph type="title"/>
          </p:nvPr>
        </p:nvSpPr>
        <p:spPr/>
        <p:txBody>
          <a:bodyPr>
            <a:normAutofit/>
          </a:bodyPr>
          <a:lstStyle/>
          <a:p>
            <a:r>
              <a:rPr lang="en-US" b="0" dirty="0"/>
              <a:t>INNER JOIN Example</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The LEFT JOIN keyword returns all rows from the left table (table1), with the matching rows in the right table (table2). The result is NULL in the right side when there is no match.</a:t>
            </a:r>
          </a:p>
          <a:p>
            <a:endParaRPr lang="en-US" dirty="0"/>
          </a:p>
          <a:p>
            <a:pPr>
              <a:buNone/>
            </a:pPr>
            <a:r>
              <a:rPr lang="en-US" dirty="0"/>
              <a:t>Syntax</a:t>
            </a:r>
          </a:p>
          <a:p>
            <a:r>
              <a:rPr lang="en-US" dirty="0"/>
              <a:t>SELECT </a:t>
            </a:r>
            <a:r>
              <a:rPr lang="en-US" i="1" dirty="0" err="1"/>
              <a:t>column_name</a:t>
            </a:r>
            <a:r>
              <a:rPr lang="en-US" i="1" dirty="0"/>
              <a:t>(s)</a:t>
            </a:r>
            <a:br>
              <a:rPr lang="en-US" dirty="0"/>
            </a:br>
            <a:r>
              <a:rPr lang="en-US" dirty="0"/>
              <a:t>FROM </a:t>
            </a:r>
            <a:r>
              <a:rPr lang="en-US" i="1" dirty="0"/>
              <a:t>table1</a:t>
            </a:r>
            <a:br>
              <a:rPr lang="en-US" dirty="0"/>
            </a:br>
            <a:r>
              <a:rPr lang="en-US" dirty="0"/>
              <a:t>LEFT JOIN </a:t>
            </a:r>
            <a:r>
              <a:rPr lang="en-US" i="1" dirty="0"/>
              <a:t>table2</a:t>
            </a:r>
            <a:br>
              <a:rPr lang="en-US" dirty="0"/>
            </a:br>
            <a:r>
              <a:rPr lang="en-US" dirty="0"/>
              <a:t>ON </a:t>
            </a:r>
            <a:r>
              <a:rPr lang="en-US" i="1" dirty="0"/>
              <a:t>table1.column_name</a:t>
            </a:r>
            <a:r>
              <a:rPr lang="en-US" dirty="0"/>
              <a:t>=</a:t>
            </a:r>
            <a:r>
              <a:rPr lang="en-US" i="1" dirty="0"/>
              <a:t>table2.column_name</a:t>
            </a:r>
            <a:r>
              <a:rPr lang="en-US" dirty="0"/>
              <a:t>;</a:t>
            </a:r>
          </a:p>
          <a:p>
            <a:endParaRPr lang="en-US" dirty="0"/>
          </a:p>
        </p:txBody>
      </p:sp>
      <p:sp>
        <p:nvSpPr>
          <p:cNvPr id="3" name="Title 2"/>
          <p:cNvSpPr>
            <a:spLocks noGrp="1"/>
          </p:cNvSpPr>
          <p:nvPr>
            <p:ph type="title"/>
          </p:nvPr>
        </p:nvSpPr>
        <p:spPr/>
        <p:txBody>
          <a:bodyPr>
            <a:normAutofit/>
          </a:bodyPr>
          <a:lstStyle/>
          <a:p>
            <a:r>
              <a:rPr lang="en-US" b="0" dirty="0"/>
              <a:t>SQL LEFT JOIN Keyword</a:t>
            </a:r>
            <a:endParaRPr lang="en-US" dirty="0"/>
          </a:p>
        </p:txBody>
      </p:sp>
      <p:pic>
        <p:nvPicPr>
          <p:cNvPr id="74754" name="Picture 2" descr="SQL LEFT JOIN"/>
          <p:cNvPicPr>
            <a:picLocks noChangeAspect="1" noChangeArrowheads="1"/>
          </p:cNvPicPr>
          <p:nvPr/>
        </p:nvPicPr>
        <p:blipFill>
          <a:blip r:embed="rId2" cstate="print"/>
          <a:srcRect/>
          <a:stretch>
            <a:fillRect/>
          </a:stretch>
        </p:blipFill>
        <p:spPr bwMode="auto">
          <a:xfrm>
            <a:off x="5791200" y="3048000"/>
            <a:ext cx="2438400" cy="1828800"/>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following SQL statement will return all customers, and any orders they might have:</a:t>
            </a:r>
          </a:p>
          <a:p>
            <a:pPr>
              <a:buNone/>
            </a:pPr>
            <a:r>
              <a:rPr lang="en-US" dirty="0"/>
              <a:t>Example</a:t>
            </a:r>
          </a:p>
          <a:p>
            <a:r>
              <a:rPr lang="en-US" dirty="0"/>
              <a:t>SELECT </a:t>
            </a:r>
            <a:r>
              <a:rPr lang="en-US" dirty="0" err="1"/>
              <a:t>Customers.CustomerName</a:t>
            </a:r>
            <a:r>
              <a:rPr lang="en-US" dirty="0"/>
              <a:t>, </a:t>
            </a:r>
            <a:r>
              <a:rPr lang="en-US" dirty="0" err="1"/>
              <a:t>Orders.OrderID</a:t>
            </a:r>
            <a:br>
              <a:rPr lang="en-US" dirty="0"/>
            </a:br>
            <a:r>
              <a:rPr lang="en-US" dirty="0"/>
              <a:t>FROM Customers</a:t>
            </a:r>
            <a:br>
              <a:rPr lang="en-US" dirty="0"/>
            </a:br>
            <a:r>
              <a:rPr lang="en-US" dirty="0"/>
              <a:t>LEFT JOIN Orders</a:t>
            </a:r>
            <a:br>
              <a:rPr lang="en-US" dirty="0"/>
            </a:br>
            <a:r>
              <a:rPr lang="en-US" dirty="0"/>
              <a:t>ON </a:t>
            </a:r>
            <a:r>
              <a:rPr lang="en-US" dirty="0" err="1"/>
              <a:t>Customers.CustomerID</a:t>
            </a:r>
            <a:r>
              <a:rPr lang="en-US" dirty="0"/>
              <a:t>=</a:t>
            </a:r>
            <a:r>
              <a:rPr lang="en-US" dirty="0" err="1"/>
              <a:t>Orders.CustomerID</a:t>
            </a:r>
            <a:br>
              <a:rPr lang="en-US" dirty="0"/>
            </a:br>
            <a:r>
              <a:rPr lang="en-US" dirty="0"/>
              <a:t>ORDER BY </a:t>
            </a:r>
            <a:r>
              <a:rPr lang="en-US" dirty="0" err="1"/>
              <a:t>Customers.CustomerName</a:t>
            </a:r>
            <a:r>
              <a:rPr lang="en-US" dirty="0"/>
              <a:t>;</a:t>
            </a:r>
          </a:p>
          <a:p>
            <a:endParaRPr lang="en-US" dirty="0"/>
          </a:p>
        </p:txBody>
      </p:sp>
      <p:sp>
        <p:nvSpPr>
          <p:cNvPr id="3" name="Title 2"/>
          <p:cNvSpPr>
            <a:spLocks noGrp="1"/>
          </p:cNvSpPr>
          <p:nvPr>
            <p:ph type="title"/>
          </p:nvPr>
        </p:nvSpPr>
        <p:spPr/>
        <p:txBody>
          <a:bodyPr>
            <a:normAutofit/>
          </a:bodyPr>
          <a:lstStyle/>
          <a:p>
            <a:r>
              <a:rPr lang="en-US" b="0" dirty="0"/>
              <a:t>SQL LEFT JOIN Example</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The RIGHT JOIN keyword returns all rows from the right table (table2), with the matching rows in the left table (table1). The result is NULL in the left side when there is no match.</a:t>
            </a:r>
          </a:p>
          <a:p>
            <a:r>
              <a:rPr lang="en-US" dirty="0"/>
              <a:t>Syntax</a:t>
            </a:r>
          </a:p>
          <a:p>
            <a:r>
              <a:rPr lang="en-US" dirty="0"/>
              <a:t>SELECT </a:t>
            </a:r>
            <a:r>
              <a:rPr lang="en-US" i="1" dirty="0" err="1"/>
              <a:t>column_name</a:t>
            </a:r>
            <a:r>
              <a:rPr lang="en-US" i="1" dirty="0"/>
              <a:t>(s)</a:t>
            </a:r>
            <a:br>
              <a:rPr lang="en-US" dirty="0"/>
            </a:br>
            <a:r>
              <a:rPr lang="en-US" dirty="0"/>
              <a:t>FROM </a:t>
            </a:r>
            <a:r>
              <a:rPr lang="en-US" i="1" dirty="0"/>
              <a:t>table1</a:t>
            </a:r>
            <a:br>
              <a:rPr lang="en-US" dirty="0"/>
            </a:br>
            <a:r>
              <a:rPr lang="en-US" dirty="0"/>
              <a:t>RIGHT JOIN </a:t>
            </a:r>
            <a:r>
              <a:rPr lang="en-US" i="1" dirty="0"/>
              <a:t>table2</a:t>
            </a:r>
            <a:br>
              <a:rPr lang="en-US" dirty="0"/>
            </a:br>
            <a:r>
              <a:rPr lang="en-US" dirty="0"/>
              <a:t>ON </a:t>
            </a:r>
            <a:r>
              <a:rPr lang="en-US" i="1" dirty="0"/>
              <a:t>table1.column_name</a:t>
            </a:r>
            <a:r>
              <a:rPr lang="en-US" dirty="0"/>
              <a:t>=</a:t>
            </a:r>
            <a:r>
              <a:rPr lang="en-US" i="1" dirty="0"/>
              <a:t>table2.column_name</a:t>
            </a:r>
            <a:r>
              <a:rPr lang="en-US" dirty="0"/>
              <a:t>;</a:t>
            </a:r>
          </a:p>
          <a:p>
            <a:endParaRPr lang="en-US" dirty="0"/>
          </a:p>
        </p:txBody>
      </p:sp>
      <p:sp>
        <p:nvSpPr>
          <p:cNvPr id="3" name="Title 2"/>
          <p:cNvSpPr>
            <a:spLocks noGrp="1"/>
          </p:cNvSpPr>
          <p:nvPr>
            <p:ph type="title"/>
          </p:nvPr>
        </p:nvSpPr>
        <p:spPr/>
        <p:txBody>
          <a:bodyPr>
            <a:normAutofit/>
          </a:bodyPr>
          <a:lstStyle/>
          <a:p>
            <a:r>
              <a:rPr lang="en-US" b="0" dirty="0"/>
              <a:t>SQL RIGHT JOIN Keyword</a:t>
            </a:r>
            <a:endParaRPr lang="en-US" dirty="0"/>
          </a:p>
        </p:txBody>
      </p:sp>
      <p:pic>
        <p:nvPicPr>
          <p:cNvPr id="77826" name="Picture 2" descr="SQL RIGHT JOIN"/>
          <p:cNvPicPr>
            <a:picLocks noChangeAspect="1" noChangeArrowheads="1"/>
          </p:cNvPicPr>
          <p:nvPr/>
        </p:nvPicPr>
        <p:blipFill>
          <a:blip r:embed="rId2" cstate="print"/>
          <a:srcRect/>
          <a:stretch>
            <a:fillRect/>
          </a:stretch>
        </p:blipFill>
        <p:spPr bwMode="auto">
          <a:xfrm>
            <a:off x="5943600" y="3048000"/>
            <a:ext cx="2209800" cy="1752600"/>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FULL OUTER JOIN keyword returns all rows from the left table (table1) and from the right table (table2).</a:t>
            </a:r>
          </a:p>
          <a:p>
            <a:r>
              <a:rPr lang="en-US" dirty="0"/>
              <a:t>The FULL OUTER JOIN keyword combines the result of both LEFT and RIGHT joins.</a:t>
            </a:r>
          </a:p>
          <a:p>
            <a:r>
              <a:rPr lang="en-US" dirty="0"/>
              <a:t>MySQL does not support Full Join. It should be implemented using UNION of LEFT Join &amp; Right Join.</a:t>
            </a:r>
          </a:p>
          <a:p>
            <a:endParaRPr lang="en-US" dirty="0"/>
          </a:p>
        </p:txBody>
      </p:sp>
      <p:sp>
        <p:nvSpPr>
          <p:cNvPr id="3" name="Title 2"/>
          <p:cNvSpPr>
            <a:spLocks noGrp="1"/>
          </p:cNvSpPr>
          <p:nvPr>
            <p:ph type="title"/>
          </p:nvPr>
        </p:nvSpPr>
        <p:spPr/>
        <p:txBody>
          <a:bodyPr>
            <a:normAutofit/>
          </a:bodyPr>
          <a:lstStyle/>
          <a:p>
            <a:r>
              <a:rPr lang="en-US" b="0" dirty="0"/>
              <a:t>SQL FULL OUTER JOIN Keyword</a:t>
            </a:r>
            <a:endParaRPr lang="en-US" dirty="0"/>
          </a:p>
        </p:txBody>
      </p:sp>
      <p:pic>
        <p:nvPicPr>
          <p:cNvPr id="78850" name="Picture 2" descr="SQL FULL OUTER JOIN"/>
          <p:cNvPicPr>
            <a:picLocks noChangeAspect="1" noChangeArrowheads="1"/>
          </p:cNvPicPr>
          <p:nvPr/>
        </p:nvPicPr>
        <p:blipFill>
          <a:blip r:embed="rId2" cstate="print"/>
          <a:srcRect/>
          <a:stretch>
            <a:fillRect/>
          </a:stretch>
        </p:blipFill>
        <p:spPr bwMode="auto">
          <a:xfrm>
            <a:off x="4114800" y="4724400"/>
            <a:ext cx="2438400" cy="1676400"/>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A2D11B-3BFE-4695-B817-0B888A2E00A1}"/>
              </a:ext>
            </a:extLst>
          </p:cNvPr>
          <p:cNvSpPr>
            <a:spLocks noGrp="1"/>
          </p:cNvSpPr>
          <p:nvPr>
            <p:ph idx="1"/>
          </p:nvPr>
        </p:nvSpPr>
        <p:spPr/>
        <p:txBody>
          <a:bodyPr/>
          <a:lstStyle/>
          <a:p>
            <a:r>
              <a:rPr lang="en-IN" dirty="0"/>
              <a:t>Joining a Table to itself.</a:t>
            </a:r>
          </a:p>
          <a:p>
            <a:r>
              <a:rPr lang="en-IN" dirty="0"/>
              <a:t>The self join is often used to query hierarchical data or to compare a row with other rows within the same table.</a:t>
            </a:r>
          </a:p>
          <a:p>
            <a:r>
              <a:rPr lang="en-IN" dirty="0"/>
              <a:t>To perform a self join, you must use table aliases to not repeat the same table name twice in a single query. </a:t>
            </a:r>
          </a:p>
          <a:p>
            <a:r>
              <a:rPr lang="en-IN" dirty="0"/>
              <a:t>Note that referencing a table twice or more in a query without using table aliases will cause an error.</a:t>
            </a:r>
          </a:p>
        </p:txBody>
      </p:sp>
      <p:sp>
        <p:nvSpPr>
          <p:cNvPr id="3" name="Title 2">
            <a:extLst>
              <a:ext uri="{FF2B5EF4-FFF2-40B4-BE49-F238E27FC236}">
                <a16:creationId xmlns:a16="http://schemas.microsoft.com/office/drawing/2014/main" id="{5E61A514-2ABC-4103-ADB6-5B6FB5955DE2}"/>
              </a:ext>
            </a:extLst>
          </p:cNvPr>
          <p:cNvSpPr>
            <a:spLocks noGrp="1"/>
          </p:cNvSpPr>
          <p:nvPr>
            <p:ph type="title"/>
          </p:nvPr>
        </p:nvSpPr>
        <p:spPr/>
        <p:txBody>
          <a:bodyPr/>
          <a:lstStyle/>
          <a:p>
            <a:r>
              <a:rPr lang="en-IN" dirty="0"/>
              <a:t>Self Join</a:t>
            </a:r>
          </a:p>
        </p:txBody>
      </p:sp>
    </p:spTree>
    <p:extLst>
      <p:ext uri="{BB962C8B-B14F-4D97-AF65-F5344CB8AC3E}">
        <p14:creationId xmlns:p14="http://schemas.microsoft.com/office/powerpoint/2010/main" val="12668071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A004DD-D040-4992-BF4D-ABCCC629AAFF}"/>
              </a:ext>
            </a:extLst>
          </p:cNvPr>
          <p:cNvSpPr>
            <a:spLocks noGrp="1"/>
          </p:cNvSpPr>
          <p:nvPr>
            <p:ph idx="1"/>
          </p:nvPr>
        </p:nvSpPr>
        <p:spPr>
          <a:xfrm>
            <a:off x="3657600" y="588264"/>
            <a:ext cx="5181600" cy="3395472"/>
          </a:xfrm>
        </p:spPr>
        <p:txBody>
          <a:bodyPr/>
          <a:lstStyle/>
          <a:p>
            <a:r>
              <a:rPr lang="en-IN" dirty="0"/>
              <a:t>The table employees stores not only employees data but also the organization structure data. </a:t>
            </a:r>
          </a:p>
          <a:p>
            <a:r>
              <a:rPr lang="en-IN" dirty="0"/>
              <a:t>The </a:t>
            </a:r>
            <a:r>
              <a:rPr lang="en-IN" dirty="0" err="1"/>
              <a:t>reportsto</a:t>
            </a:r>
            <a:r>
              <a:rPr lang="en-IN" dirty="0"/>
              <a:t> column is used to determine the manager id of an employee</a:t>
            </a:r>
          </a:p>
        </p:txBody>
      </p:sp>
      <p:sp>
        <p:nvSpPr>
          <p:cNvPr id="3" name="Title 2">
            <a:extLst>
              <a:ext uri="{FF2B5EF4-FFF2-40B4-BE49-F238E27FC236}">
                <a16:creationId xmlns:a16="http://schemas.microsoft.com/office/drawing/2014/main" id="{7A47C9EC-FA33-4492-A5A9-C0682BA8B0E1}"/>
              </a:ext>
            </a:extLst>
          </p:cNvPr>
          <p:cNvSpPr>
            <a:spLocks noGrp="1"/>
          </p:cNvSpPr>
          <p:nvPr>
            <p:ph type="title"/>
          </p:nvPr>
        </p:nvSpPr>
        <p:spPr/>
        <p:txBody>
          <a:bodyPr/>
          <a:lstStyle/>
          <a:p>
            <a:r>
              <a:rPr lang="en-IN" dirty="0"/>
              <a:t>Self Join</a:t>
            </a:r>
          </a:p>
        </p:txBody>
      </p:sp>
      <p:pic>
        <p:nvPicPr>
          <p:cNvPr id="4" name="Picture 3">
            <a:extLst>
              <a:ext uri="{FF2B5EF4-FFF2-40B4-BE49-F238E27FC236}">
                <a16:creationId xmlns:a16="http://schemas.microsoft.com/office/drawing/2014/main" id="{38C30102-BAF0-4B2D-B79B-88A49040ABA8}"/>
              </a:ext>
            </a:extLst>
          </p:cNvPr>
          <p:cNvPicPr>
            <a:picLocks noChangeAspect="1"/>
          </p:cNvPicPr>
          <p:nvPr/>
        </p:nvPicPr>
        <p:blipFill>
          <a:blip r:embed="rId2"/>
          <a:stretch>
            <a:fillRect/>
          </a:stretch>
        </p:blipFill>
        <p:spPr>
          <a:xfrm>
            <a:off x="457200" y="2286000"/>
            <a:ext cx="2743200" cy="2971800"/>
          </a:xfrm>
          <a:prstGeom prst="rect">
            <a:avLst/>
          </a:prstGeom>
        </p:spPr>
      </p:pic>
      <p:pic>
        <p:nvPicPr>
          <p:cNvPr id="5" name="Picture 4">
            <a:extLst>
              <a:ext uri="{FF2B5EF4-FFF2-40B4-BE49-F238E27FC236}">
                <a16:creationId xmlns:a16="http://schemas.microsoft.com/office/drawing/2014/main" id="{A6F4997C-9C36-9A59-9506-AAFF4D4E7D72}"/>
              </a:ext>
            </a:extLst>
          </p:cNvPr>
          <p:cNvPicPr>
            <a:picLocks noChangeAspect="1"/>
          </p:cNvPicPr>
          <p:nvPr/>
        </p:nvPicPr>
        <p:blipFill>
          <a:blip r:embed="rId3"/>
          <a:stretch>
            <a:fillRect/>
          </a:stretch>
        </p:blipFill>
        <p:spPr>
          <a:xfrm>
            <a:off x="4114800" y="4367212"/>
            <a:ext cx="4095750" cy="1781175"/>
          </a:xfrm>
          <a:prstGeom prst="rect">
            <a:avLst/>
          </a:prstGeom>
        </p:spPr>
      </p:pic>
    </p:spTree>
    <p:extLst>
      <p:ext uri="{BB962C8B-B14F-4D97-AF65-F5344CB8AC3E}">
        <p14:creationId xmlns:p14="http://schemas.microsoft.com/office/powerpoint/2010/main" val="12487443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With SQL, you can copy information from one table into another.</a:t>
            </a:r>
          </a:p>
          <a:p>
            <a:r>
              <a:rPr lang="en-US" dirty="0"/>
              <a:t>The SELECT INTO statement copies data from one table and inserts it into a new table.</a:t>
            </a:r>
          </a:p>
          <a:p>
            <a:pPr>
              <a:buNone/>
            </a:pPr>
            <a:r>
              <a:rPr lang="en-US" dirty="0"/>
              <a:t>Syntax</a:t>
            </a:r>
          </a:p>
          <a:p>
            <a:r>
              <a:rPr lang="en-US" dirty="0"/>
              <a:t>SELECT * INTO </a:t>
            </a:r>
            <a:r>
              <a:rPr lang="en-US" i="1" dirty="0" err="1"/>
              <a:t>newtable</a:t>
            </a:r>
            <a:r>
              <a:rPr lang="en-US" dirty="0"/>
              <a:t> [IN </a:t>
            </a:r>
            <a:r>
              <a:rPr lang="en-US" i="1" dirty="0" err="1"/>
              <a:t>externaldb</a:t>
            </a:r>
            <a:r>
              <a:rPr lang="en-US" dirty="0"/>
              <a:t>]</a:t>
            </a:r>
            <a:br>
              <a:rPr lang="en-US" dirty="0"/>
            </a:br>
            <a:r>
              <a:rPr lang="en-US" dirty="0"/>
              <a:t>FROM </a:t>
            </a:r>
            <a:r>
              <a:rPr lang="en-US" i="1" dirty="0"/>
              <a:t>table1;</a:t>
            </a:r>
          </a:p>
          <a:p>
            <a:r>
              <a:rPr lang="en-US" dirty="0"/>
              <a:t>SELECT </a:t>
            </a:r>
            <a:r>
              <a:rPr lang="en-US" i="1" dirty="0" err="1"/>
              <a:t>column_name</a:t>
            </a:r>
            <a:r>
              <a:rPr lang="en-US" i="1" dirty="0"/>
              <a:t>(s)</a:t>
            </a:r>
            <a:br>
              <a:rPr lang="en-US" dirty="0"/>
            </a:br>
            <a:r>
              <a:rPr lang="en-US" dirty="0"/>
              <a:t>INTO </a:t>
            </a:r>
            <a:r>
              <a:rPr lang="en-US" i="1" dirty="0" err="1"/>
              <a:t>newtable</a:t>
            </a:r>
            <a:r>
              <a:rPr lang="en-US" dirty="0"/>
              <a:t> [IN </a:t>
            </a:r>
            <a:r>
              <a:rPr lang="en-US" i="1" dirty="0" err="1"/>
              <a:t>externaldb</a:t>
            </a:r>
            <a:r>
              <a:rPr lang="en-US" dirty="0"/>
              <a:t>]</a:t>
            </a:r>
            <a:br>
              <a:rPr lang="en-US" dirty="0"/>
            </a:br>
            <a:r>
              <a:rPr lang="en-US" dirty="0"/>
              <a:t>FROM </a:t>
            </a:r>
            <a:r>
              <a:rPr lang="en-US" i="1" dirty="0"/>
              <a:t>table1;</a:t>
            </a:r>
            <a:endParaRPr lang="en-US" dirty="0"/>
          </a:p>
          <a:p>
            <a:endParaRPr lang="en-US" dirty="0"/>
          </a:p>
        </p:txBody>
      </p:sp>
      <p:sp>
        <p:nvSpPr>
          <p:cNvPr id="3" name="Title 2"/>
          <p:cNvSpPr>
            <a:spLocks noGrp="1"/>
          </p:cNvSpPr>
          <p:nvPr>
            <p:ph type="title"/>
          </p:nvPr>
        </p:nvSpPr>
        <p:spPr/>
        <p:txBody>
          <a:bodyPr>
            <a:normAutofit/>
          </a:bodyPr>
          <a:lstStyle/>
          <a:p>
            <a:r>
              <a:rPr lang="en-US" b="0" dirty="0"/>
              <a:t>SQL SELECT INTO Statement</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19472"/>
          </a:xfrm>
        </p:spPr>
        <p:txBody>
          <a:bodyPr>
            <a:normAutofit lnSpcReduction="10000"/>
          </a:bodyPr>
          <a:lstStyle/>
          <a:p>
            <a:r>
              <a:rPr lang="en-US" dirty="0"/>
              <a:t>A MySQL subquery is a query that is nested inside another query.</a:t>
            </a:r>
          </a:p>
          <a:p>
            <a:endParaRPr lang="en-US" dirty="0"/>
          </a:p>
          <a:p>
            <a:r>
              <a:rPr lang="en-US" dirty="0"/>
              <a:t>Subquery is also called an inner query, while the query that contains the subquery is called an outer query.</a:t>
            </a:r>
          </a:p>
          <a:p>
            <a:endParaRPr lang="en-US" dirty="0"/>
          </a:p>
          <a:p>
            <a:r>
              <a:rPr lang="en-US" dirty="0"/>
              <a:t>Sub query acts a criteria for Outer query.</a:t>
            </a:r>
          </a:p>
          <a:p>
            <a:endParaRPr lang="en-US" dirty="0"/>
          </a:p>
          <a:p>
            <a:r>
              <a:rPr lang="en-IN" dirty="0"/>
              <a:t>A subquery is used to return data that will be used in the main query as a condition to further restrict the data to be retrieved.</a:t>
            </a:r>
          </a:p>
        </p:txBody>
      </p:sp>
      <p:sp>
        <p:nvSpPr>
          <p:cNvPr id="3" name="Title 2"/>
          <p:cNvSpPr>
            <a:spLocks noGrp="1"/>
          </p:cNvSpPr>
          <p:nvPr>
            <p:ph type="title"/>
          </p:nvPr>
        </p:nvSpPr>
        <p:spPr/>
        <p:txBody>
          <a:bodyPr/>
          <a:lstStyle/>
          <a:p>
            <a:r>
              <a:rPr lang="en-US" dirty="0"/>
              <a:t>Sub Queries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4D800E-F07B-48C4-9047-191832DC9B97}"/>
              </a:ext>
            </a:extLst>
          </p:cNvPr>
          <p:cNvSpPr>
            <a:spLocks noGrp="1"/>
          </p:cNvSpPr>
          <p:nvPr>
            <p:ph idx="1"/>
          </p:nvPr>
        </p:nvSpPr>
        <p:spPr>
          <a:xfrm>
            <a:off x="457200" y="1066800"/>
            <a:ext cx="8382000" cy="5287962"/>
          </a:xfrm>
        </p:spPr>
        <p:txBody>
          <a:bodyPr>
            <a:normAutofit fontScale="92500"/>
          </a:bodyPr>
          <a:lstStyle/>
          <a:p>
            <a:r>
              <a:rPr lang="en-IN" dirty="0"/>
              <a:t>Subqueries can be used with the SELECT, INSERT, UPDATE, and DELETE statements along with the operators like =, &lt;, &gt;, &gt;=, &lt;=, IN, BETWEEN, etc.</a:t>
            </a:r>
          </a:p>
          <a:p>
            <a:pPr algn="l">
              <a:buFont typeface="Arial" panose="020B0604020202020204" pitchFamily="34" charset="0"/>
              <a:buChar char="•"/>
            </a:pPr>
            <a:r>
              <a:rPr lang="en-IN" dirty="0"/>
              <a:t>Subqueries are on the right side of the comparison operator.</a:t>
            </a:r>
          </a:p>
          <a:p>
            <a:pPr algn="l">
              <a:buFont typeface="Arial" panose="020B0604020202020204" pitchFamily="34" charset="0"/>
              <a:buChar char="•"/>
            </a:pPr>
            <a:r>
              <a:rPr lang="en-IN" dirty="0"/>
              <a:t>A subquery is enclosed in parentheses.</a:t>
            </a:r>
          </a:p>
          <a:p>
            <a:pPr>
              <a:buFont typeface="Arial" panose="020B0604020202020204" pitchFamily="34" charset="0"/>
              <a:buChar char="•"/>
            </a:pPr>
            <a:r>
              <a:rPr lang="en-IN" dirty="0"/>
              <a:t>In the Subquery, ORDER BY command cannot be used. </a:t>
            </a:r>
          </a:p>
          <a:p>
            <a:pPr>
              <a:buFont typeface="Arial" panose="020B0604020202020204" pitchFamily="34" charset="0"/>
              <a:buChar char="•"/>
            </a:pPr>
            <a:r>
              <a:rPr lang="en-IN" dirty="0"/>
              <a:t>But GROUP BY command can be used to perform the same function as ORDER BY command.</a:t>
            </a:r>
          </a:p>
          <a:p>
            <a:r>
              <a:rPr lang="en-US" b="1" dirty="0"/>
              <a:t>SELECT * FROM t1 WHERE column1 = (SELECT column1 FROM t2);</a:t>
            </a:r>
          </a:p>
          <a:p>
            <a:endParaRPr lang="en-IN" dirty="0"/>
          </a:p>
        </p:txBody>
      </p:sp>
      <p:sp>
        <p:nvSpPr>
          <p:cNvPr id="3" name="Title 2">
            <a:extLst>
              <a:ext uri="{FF2B5EF4-FFF2-40B4-BE49-F238E27FC236}">
                <a16:creationId xmlns:a16="http://schemas.microsoft.com/office/drawing/2014/main" id="{68FC7B47-FA73-4E30-8387-7FDA1A4EB29D}"/>
              </a:ext>
            </a:extLst>
          </p:cNvPr>
          <p:cNvSpPr>
            <a:spLocks noGrp="1"/>
          </p:cNvSpPr>
          <p:nvPr>
            <p:ph type="title"/>
          </p:nvPr>
        </p:nvSpPr>
        <p:spPr>
          <a:xfrm>
            <a:off x="437535" y="9832"/>
            <a:ext cx="8229600" cy="1143000"/>
          </a:xfrm>
        </p:spPr>
        <p:txBody>
          <a:bodyPr/>
          <a:lstStyle/>
          <a:p>
            <a:r>
              <a:rPr lang="en-IN" dirty="0"/>
              <a:t>Sub Queries</a:t>
            </a:r>
          </a:p>
        </p:txBody>
      </p:sp>
    </p:spTree>
    <p:extLst>
      <p:ext uri="{BB962C8B-B14F-4D97-AF65-F5344CB8AC3E}">
        <p14:creationId xmlns:p14="http://schemas.microsoft.com/office/powerpoint/2010/main" val="12327357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following SQL statement selects the "</a:t>
            </a:r>
            <a:r>
              <a:rPr lang="en-US" dirty="0" err="1"/>
              <a:t>ProductName</a:t>
            </a:r>
            <a:r>
              <a:rPr lang="en-US" dirty="0"/>
              <a:t>" and "Price" records that have an above average price:</a:t>
            </a:r>
          </a:p>
          <a:p>
            <a:endParaRPr lang="en-US" dirty="0"/>
          </a:p>
          <a:p>
            <a:pPr>
              <a:buNone/>
            </a:pPr>
            <a:r>
              <a:rPr lang="en-US" dirty="0"/>
              <a:t>SELECT </a:t>
            </a:r>
            <a:r>
              <a:rPr lang="en-US" dirty="0" err="1"/>
              <a:t>ProductName</a:t>
            </a:r>
            <a:r>
              <a:rPr lang="en-US" dirty="0"/>
              <a:t>, Price FROM Products</a:t>
            </a:r>
          </a:p>
          <a:p>
            <a:pPr>
              <a:buNone/>
            </a:pPr>
            <a:r>
              <a:rPr lang="en-US" dirty="0"/>
              <a:t>WHERE Price&gt;(SELECT AVG(Price) FROM Products);</a:t>
            </a:r>
          </a:p>
          <a:p>
            <a:r>
              <a:rPr lang="en-US" dirty="0"/>
              <a:t>Sub queries are used, when we are not sure of the criteria value.</a:t>
            </a:r>
          </a:p>
        </p:txBody>
      </p:sp>
      <p:sp>
        <p:nvSpPr>
          <p:cNvPr id="3" name="Title 2"/>
          <p:cNvSpPr>
            <a:spLocks noGrp="1"/>
          </p:cNvSpPr>
          <p:nvPr>
            <p:ph type="title"/>
          </p:nvPr>
        </p:nvSpPr>
        <p:spPr/>
        <p:txBody>
          <a:bodyPr/>
          <a:lstStyle/>
          <a:p>
            <a:r>
              <a:rPr lang="en-US" dirty="0"/>
              <a:t>Examples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8229600" cy="1143000"/>
          </a:xfrm>
        </p:spPr>
        <p:txBody>
          <a:bodyPr/>
          <a:lstStyle/>
          <a:p>
            <a:r>
              <a:rPr lang="en-US" dirty="0"/>
              <a:t>Manipulating Data</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INSERT INTO statement is used to insert new records in a table.</a:t>
            </a:r>
          </a:p>
          <a:p>
            <a:r>
              <a:rPr lang="en-US" dirty="0"/>
              <a:t>It is possible to write the INSERT INTO statement in two forms.</a:t>
            </a:r>
          </a:p>
          <a:p>
            <a:r>
              <a:rPr lang="en-US" dirty="0"/>
              <a:t>The first form does not specify the column names where the data will be inserted, only their values:</a:t>
            </a:r>
          </a:p>
          <a:p>
            <a:pPr>
              <a:buNone/>
            </a:pPr>
            <a:r>
              <a:rPr lang="en-US" dirty="0"/>
              <a:t>Syntax:</a:t>
            </a:r>
          </a:p>
          <a:p>
            <a:pPr>
              <a:buNone/>
            </a:pPr>
            <a:r>
              <a:rPr lang="en-US" sz="2400" dirty="0"/>
              <a:t>INSERT INTO </a:t>
            </a:r>
            <a:r>
              <a:rPr lang="en-US" sz="2400" i="1" dirty="0" err="1"/>
              <a:t>table_name</a:t>
            </a:r>
            <a:r>
              <a:rPr lang="en-US" sz="2400" i="1" dirty="0"/>
              <a:t> </a:t>
            </a:r>
            <a:r>
              <a:rPr lang="en-US" sz="2400" dirty="0"/>
              <a:t>VALUES (</a:t>
            </a:r>
            <a:r>
              <a:rPr lang="en-US" sz="2400" i="1" dirty="0"/>
              <a:t>value1</a:t>
            </a:r>
            <a:r>
              <a:rPr lang="en-US" sz="2400" dirty="0"/>
              <a:t>,</a:t>
            </a:r>
            <a:r>
              <a:rPr lang="en-US" sz="2400" i="1" dirty="0"/>
              <a:t>value2</a:t>
            </a:r>
            <a:r>
              <a:rPr lang="en-US" sz="2400" dirty="0"/>
              <a:t>,</a:t>
            </a:r>
            <a:r>
              <a:rPr lang="en-US" sz="2400" i="1" dirty="0"/>
              <a:t>value3</a:t>
            </a:r>
            <a:r>
              <a:rPr lang="en-US" sz="2400" dirty="0"/>
              <a:t>,...);</a:t>
            </a:r>
          </a:p>
        </p:txBody>
      </p:sp>
      <p:sp>
        <p:nvSpPr>
          <p:cNvPr id="2" name="Title 1"/>
          <p:cNvSpPr>
            <a:spLocks noGrp="1"/>
          </p:cNvSpPr>
          <p:nvPr>
            <p:ph type="title"/>
          </p:nvPr>
        </p:nvSpPr>
        <p:spPr/>
        <p:txBody>
          <a:bodyPr>
            <a:normAutofit/>
          </a:bodyPr>
          <a:lstStyle/>
          <a:p>
            <a:r>
              <a:rPr lang="en-US" dirty="0"/>
              <a:t>SQL INSERT INTO Statement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The second form specifies both the column names and the values to be inserted:</a:t>
            </a:r>
          </a:p>
          <a:p>
            <a:pPr>
              <a:buNone/>
            </a:pPr>
            <a:r>
              <a:rPr lang="en-US" dirty="0" err="1"/>
              <a:t>Synatx</a:t>
            </a:r>
            <a:r>
              <a:rPr lang="en-US" dirty="0"/>
              <a:t>: </a:t>
            </a:r>
          </a:p>
          <a:p>
            <a:pPr>
              <a:buNone/>
            </a:pPr>
            <a:r>
              <a:rPr lang="en-US" dirty="0"/>
              <a:t>INSERT INTO</a:t>
            </a:r>
          </a:p>
          <a:p>
            <a:pPr>
              <a:buNone/>
            </a:pPr>
            <a:r>
              <a:rPr lang="en-US" dirty="0"/>
              <a:t> </a:t>
            </a:r>
            <a:r>
              <a:rPr lang="en-US" i="1" dirty="0" err="1"/>
              <a:t>table_name</a:t>
            </a:r>
            <a:r>
              <a:rPr lang="en-US" dirty="0"/>
              <a:t> (</a:t>
            </a:r>
            <a:r>
              <a:rPr lang="en-US" i="1" dirty="0"/>
              <a:t>column1</a:t>
            </a:r>
            <a:r>
              <a:rPr lang="en-US" dirty="0"/>
              <a:t>,</a:t>
            </a:r>
            <a:r>
              <a:rPr lang="en-US" i="1" dirty="0"/>
              <a:t>column2</a:t>
            </a:r>
            <a:r>
              <a:rPr lang="en-US" dirty="0"/>
              <a:t>,</a:t>
            </a:r>
            <a:r>
              <a:rPr lang="en-US" i="1" dirty="0"/>
              <a:t>column3</a:t>
            </a:r>
            <a:r>
              <a:rPr lang="en-US" dirty="0"/>
              <a:t>,...) VALUES (</a:t>
            </a:r>
            <a:r>
              <a:rPr lang="en-US" i="1" dirty="0"/>
              <a:t>value1</a:t>
            </a:r>
            <a:r>
              <a:rPr lang="en-US" dirty="0"/>
              <a:t>,</a:t>
            </a:r>
            <a:r>
              <a:rPr lang="en-US" i="1" dirty="0"/>
              <a:t>value2</a:t>
            </a:r>
            <a:r>
              <a:rPr lang="en-US" dirty="0"/>
              <a:t>,</a:t>
            </a:r>
            <a:r>
              <a:rPr lang="en-US" i="1" dirty="0"/>
              <a:t>value3</a:t>
            </a:r>
            <a:r>
              <a:rPr lang="en-US" dirty="0"/>
              <a:t>,...);</a:t>
            </a:r>
          </a:p>
          <a:p>
            <a:pPr>
              <a:buNone/>
            </a:pPr>
            <a:r>
              <a:rPr lang="en-US" sz="2600" dirty="0" err="1"/>
              <a:t>Eg</a:t>
            </a:r>
            <a:r>
              <a:rPr lang="en-US" sz="2600" dirty="0"/>
              <a:t>: INSERT INTO Customers (</a:t>
            </a:r>
            <a:r>
              <a:rPr lang="en-US" sz="2600" dirty="0" err="1"/>
              <a:t>CustomerName</a:t>
            </a:r>
            <a:r>
              <a:rPr lang="en-US" sz="2600" dirty="0"/>
              <a:t>, </a:t>
            </a:r>
            <a:r>
              <a:rPr lang="en-US" sz="2600" dirty="0" err="1"/>
              <a:t>ContactName</a:t>
            </a:r>
            <a:r>
              <a:rPr lang="en-US" sz="2600" dirty="0"/>
              <a:t>, Address, City, </a:t>
            </a:r>
            <a:r>
              <a:rPr lang="en-US" sz="2600" dirty="0" err="1"/>
              <a:t>PostalCode</a:t>
            </a:r>
            <a:r>
              <a:rPr lang="en-US" sz="2600" dirty="0"/>
              <a:t>, Country)</a:t>
            </a:r>
            <a:br>
              <a:rPr lang="en-US" sz="2600" dirty="0"/>
            </a:br>
            <a:r>
              <a:rPr lang="en-US" sz="2600" dirty="0"/>
              <a:t>VALUES ('</a:t>
            </a:r>
            <a:r>
              <a:rPr lang="en-US" sz="2600" dirty="0" err="1"/>
              <a:t>Cardinal','Tom</a:t>
            </a:r>
            <a:r>
              <a:rPr lang="en-US" sz="2600" dirty="0"/>
              <a:t> B. </a:t>
            </a:r>
            <a:r>
              <a:rPr lang="en-US" sz="2600" dirty="0" err="1"/>
              <a:t>Erichsen','Skagen</a:t>
            </a:r>
            <a:r>
              <a:rPr lang="en-US" sz="2600" dirty="0"/>
              <a:t> 21','Stavanger','4006','Norway');</a:t>
            </a:r>
          </a:p>
        </p:txBody>
      </p:sp>
      <p:sp>
        <p:nvSpPr>
          <p:cNvPr id="2" name="Title 1"/>
          <p:cNvSpPr>
            <a:spLocks noGrp="1"/>
          </p:cNvSpPr>
          <p:nvPr>
            <p:ph type="title"/>
          </p:nvPr>
        </p:nvSpPr>
        <p:spPr/>
        <p:txBody>
          <a:bodyPr/>
          <a:lstStyle/>
          <a:p>
            <a:r>
              <a:rPr lang="en-US" dirty="0"/>
              <a:t>INSERT INTO Statement…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UPDATE statement is used to update existing records in a table.</a:t>
            </a:r>
          </a:p>
          <a:p>
            <a:pPr>
              <a:buNone/>
            </a:pPr>
            <a:r>
              <a:rPr lang="en-US" dirty="0"/>
              <a:t>Syntax: </a:t>
            </a:r>
          </a:p>
          <a:p>
            <a:pPr>
              <a:buNone/>
            </a:pPr>
            <a:r>
              <a:rPr lang="en-US" dirty="0"/>
              <a:t>UPDATE </a:t>
            </a:r>
            <a:r>
              <a:rPr lang="en-US" i="1" dirty="0" err="1"/>
              <a:t>table_name</a:t>
            </a:r>
            <a:br>
              <a:rPr lang="en-US" dirty="0"/>
            </a:br>
            <a:r>
              <a:rPr lang="en-US" dirty="0"/>
              <a:t>SET </a:t>
            </a:r>
            <a:r>
              <a:rPr lang="en-US" i="1" dirty="0"/>
              <a:t>column1</a:t>
            </a:r>
            <a:r>
              <a:rPr lang="en-US" dirty="0"/>
              <a:t>=</a:t>
            </a:r>
            <a:r>
              <a:rPr lang="en-US" i="1" dirty="0"/>
              <a:t>value1</a:t>
            </a:r>
            <a:r>
              <a:rPr lang="en-US" dirty="0"/>
              <a:t>,</a:t>
            </a:r>
            <a:r>
              <a:rPr lang="en-US" i="1" dirty="0"/>
              <a:t>column2</a:t>
            </a:r>
            <a:r>
              <a:rPr lang="en-US" dirty="0"/>
              <a:t>=</a:t>
            </a:r>
            <a:r>
              <a:rPr lang="en-US" i="1" dirty="0"/>
              <a:t>value2</a:t>
            </a:r>
            <a:r>
              <a:rPr lang="en-US" dirty="0"/>
              <a:t>,...</a:t>
            </a:r>
            <a:br>
              <a:rPr lang="en-US" dirty="0"/>
            </a:br>
            <a:r>
              <a:rPr lang="en-US" dirty="0"/>
              <a:t>WHERE </a:t>
            </a:r>
            <a:r>
              <a:rPr lang="en-US" i="1" dirty="0" err="1"/>
              <a:t>some_column</a:t>
            </a:r>
            <a:r>
              <a:rPr lang="en-US" dirty="0"/>
              <a:t>=</a:t>
            </a:r>
            <a:r>
              <a:rPr lang="en-US" i="1" dirty="0" err="1"/>
              <a:t>some_value</a:t>
            </a:r>
            <a:r>
              <a:rPr lang="en-US" dirty="0"/>
              <a:t>;</a:t>
            </a:r>
          </a:p>
          <a:p>
            <a:pPr>
              <a:buNone/>
            </a:pPr>
            <a:r>
              <a:rPr lang="en-US" dirty="0" err="1"/>
              <a:t>Eg:UPDATE</a:t>
            </a:r>
            <a:r>
              <a:rPr lang="en-US" dirty="0"/>
              <a:t> Customers</a:t>
            </a:r>
            <a:br>
              <a:rPr lang="en-US" dirty="0"/>
            </a:br>
            <a:r>
              <a:rPr lang="en-US" dirty="0"/>
              <a:t>SET </a:t>
            </a:r>
            <a:r>
              <a:rPr lang="en-US" dirty="0" err="1"/>
              <a:t>ContactName</a:t>
            </a:r>
            <a:r>
              <a:rPr lang="en-US" dirty="0"/>
              <a:t>='Alfred Schmidt', City='Hamburg'</a:t>
            </a:r>
            <a:br>
              <a:rPr lang="en-US" dirty="0"/>
            </a:br>
            <a:r>
              <a:rPr lang="en-US" dirty="0"/>
              <a:t>WHERE </a:t>
            </a:r>
            <a:r>
              <a:rPr lang="en-US" dirty="0" err="1"/>
              <a:t>CustomerName</a:t>
            </a:r>
            <a:r>
              <a:rPr lang="en-US" dirty="0"/>
              <a:t>='</a:t>
            </a:r>
            <a:r>
              <a:rPr lang="en-US" dirty="0" err="1"/>
              <a:t>Alfreds</a:t>
            </a:r>
            <a:r>
              <a:rPr lang="en-US" dirty="0"/>
              <a:t> </a:t>
            </a:r>
            <a:r>
              <a:rPr lang="en-US" dirty="0" err="1"/>
              <a:t>Futterkiste</a:t>
            </a:r>
            <a:r>
              <a:rPr lang="en-US" dirty="0"/>
              <a:t>';</a:t>
            </a:r>
          </a:p>
        </p:txBody>
      </p:sp>
      <p:sp>
        <p:nvSpPr>
          <p:cNvPr id="2" name="Title 1"/>
          <p:cNvSpPr>
            <a:spLocks noGrp="1"/>
          </p:cNvSpPr>
          <p:nvPr>
            <p:ph type="title"/>
          </p:nvPr>
        </p:nvSpPr>
        <p:spPr/>
        <p:txBody>
          <a:bodyPr>
            <a:normAutofit/>
          </a:bodyPr>
          <a:lstStyle/>
          <a:p>
            <a:r>
              <a:rPr lang="en-US" dirty="0"/>
              <a:t>SQL UPDATE Statement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Be careful when updating records. If we had omitted the WHERE clause, in the example above, like this</a:t>
            </a:r>
          </a:p>
          <a:p>
            <a:endParaRPr lang="en-US" dirty="0"/>
          </a:p>
          <a:p>
            <a:pPr>
              <a:buNone/>
            </a:pPr>
            <a:r>
              <a:rPr lang="en-US" dirty="0"/>
              <a:t>UPDATE Customers</a:t>
            </a:r>
            <a:br>
              <a:rPr lang="en-US" dirty="0"/>
            </a:br>
            <a:r>
              <a:rPr lang="en-US" dirty="0"/>
              <a:t>SET </a:t>
            </a:r>
            <a:r>
              <a:rPr lang="en-US" dirty="0" err="1"/>
              <a:t>ContactName</a:t>
            </a:r>
            <a:r>
              <a:rPr lang="en-US" dirty="0"/>
              <a:t>='Alfred Schmidt', City='Hamburg';</a:t>
            </a:r>
            <a:endParaRPr lang="en-US" b="1" dirty="0"/>
          </a:p>
        </p:txBody>
      </p:sp>
      <p:sp>
        <p:nvSpPr>
          <p:cNvPr id="3" name="Title 2"/>
          <p:cNvSpPr>
            <a:spLocks noGrp="1"/>
          </p:cNvSpPr>
          <p:nvPr>
            <p:ph type="title"/>
          </p:nvPr>
        </p:nvSpPr>
        <p:spPr/>
        <p:txBody>
          <a:bodyPr>
            <a:normAutofit/>
          </a:bodyPr>
          <a:lstStyle/>
          <a:p>
            <a:r>
              <a:rPr lang="en-US" b="0" dirty="0"/>
              <a:t>Update Warning!</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DELETE statement is used to delete records in a table.</a:t>
            </a:r>
          </a:p>
          <a:p>
            <a:pPr>
              <a:buNone/>
            </a:pPr>
            <a:r>
              <a:rPr lang="en-US" dirty="0"/>
              <a:t>Syntax”</a:t>
            </a:r>
          </a:p>
          <a:p>
            <a:pPr>
              <a:buNone/>
            </a:pPr>
            <a:r>
              <a:rPr lang="en-US" dirty="0"/>
              <a:t>DELETE FROM </a:t>
            </a:r>
            <a:r>
              <a:rPr lang="en-US" i="1" dirty="0" err="1"/>
              <a:t>table_name</a:t>
            </a:r>
            <a:br>
              <a:rPr lang="en-US" dirty="0"/>
            </a:br>
            <a:r>
              <a:rPr lang="en-US" dirty="0"/>
              <a:t>WHERE </a:t>
            </a:r>
            <a:r>
              <a:rPr lang="en-US" i="1" dirty="0" err="1"/>
              <a:t>some_column</a:t>
            </a:r>
            <a:r>
              <a:rPr lang="en-US" dirty="0"/>
              <a:t>=</a:t>
            </a:r>
            <a:r>
              <a:rPr lang="en-US" i="1" dirty="0" err="1"/>
              <a:t>some_value</a:t>
            </a:r>
            <a:r>
              <a:rPr lang="en-US" dirty="0"/>
              <a:t>;</a:t>
            </a:r>
          </a:p>
          <a:p>
            <a:pPr>
              <a:buNone/>
            </a:pPr>
            <a:r>
              <a:rPr lang="en-US" dirty="0"/>
              <a:t>Example</a:t>
            </a:r>
          </a:p>
          <a:p>
            <a:pPr>
              <a:buNone/>
            </a:pPr>
            <a:r>
              <a:rPr lang="en-US" dirty="0"/>
              <a:t>   DELETE FROM Customers</a:t>
            </a:r>
            <a:br>
              <a:rPr lang="en-US" dirty="0"/>
            </a:br>
            <a:r>
              <a:rPr lang="en-US" dirty="0"/>
              <a:t>WHERE </a:t>
            </a:r>
            <a:r>
              <a:rPr lang="en-US" dirty="0" err="1"/>
              <a:t>CustomerName</a:t>
            </a:r>
            <a:r>
              <a:rPr lang="en-US" dirty="0"/>
              <a:t>='</a:t>
            </a:r>
            <a:r>
              <a:rPr lang="en-US" dirty="0" err="1"/>
              <a:t>Alfreds</a:t>
            </a:r>
            <a:r>
              <a:rPr lang="en-US" dirty="0"/>
              <a:t> </a:t>
            </a:r>
            <a:r>
              <a:rPr lang="en-US" dirty="0" err="1"/>
              <a:t>Futterkiste</a:t>
            </a:r>
            <a:r>
              <a:rPr lang="en-US" dirty="0"/>
              <a:t>' AND </a:t>
            </a:r>
            <a:r>
              <a:rPr lang="en-US" dirty="0" err="1"/>
              <a:t>ContactName</a:t>
            </a:r>
            <a:r>
              <a:rPr lang="en-US" dirty="0"/>
              <a:t>='Maria Anders';</a:t>
            </a:r>
          </a:p>
          <a:p>
            <a:pPr>
              <a:buNone/>
            </a:pPr>
            <a:endParaRPr lang="en-US" dirty="0"/>
          </a:p>
          <a:p>
            <a:pPr>
              <a:buNone/>
            </a:pPr>
            <a:endParaRPr lang="en-US" dirty="0"/>
          </a:p>
        </p:txBody>
      </p:sp>
      <p:sp>
        <p:nvSpPr>
          <p:cNvPr id="2" name="Title 1"/>
          <p:cNvSpPr>
            <a:spLocks noGrp="1"/>
          </p:cNvSpPr>
          <p:nvPr>
            <p:ph type="title"/>
          </p:nvPr>
        </p:nvSpPr>
        <p:spPr/>
        <p:txBody>
          <a:bodyPr>
            <a:normAutofit/>
          </a:bodyPr>
          <a:lstStyle/>
          <a:p>
            <a:r>
              <a:rPr lang="en-US" dirty="0"/>
              <a:t>SQL DELETE Statement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a:t>It is possible to delete all rows in a table without deleting the table. </a:t>
            </a:r>
          </a:p>
          <a:p>
            <a:r>
              <a:rPr lang="en-US" dirty="0"/>
              <a:t>This means that the table structure, attributes, and indexes will be intact:</a:t>
            </a:r>
          </a:p>
          <a:p>
            <a:pPr>
              <a:buNone/>
            </a:pPr>
            <a:r>
              <a:rPr lang="en-US" dirty="0"/>
              <a:t>  </a:t>
            </a:r>
          </a:p>
          <a:p>
            <a:pPr>
              <a:buNone/>
            </a:pPr>
            <a:r>
              <a:rPr lang="en-US" dirty="0"/>
              <a:t>   DELETE FROM </a:t>
            </a:r>
            <a:r>
              <a:rPr lang="en-US" i="1" dirty="0" err="1"/>
              <a:t>table_name</a:t>
            </a:r>
            <a:r>
              <a:rPr lang="en-US" dirty="0"/>
              <a:t>;</a:t>
            </a:r>
            <a:br>
              <a:rPr lang="en-US" dirty="0"/>
            </a:br>
            <a:r>
              <a:rPr lang="en-US" dirty="0"/>
              <a:t>or</a:t>
            </a:r>
            <a:br>
              <a:rPr lang="en-US" dirty="0"/>
            </a:br>
            <a:r>
              <a:rPr lang="en-US" dirty="0"/>
              <a:t>DELETE * FROM </a:t>
            </a:r>
            <a:r>
              <a:rPr lang="en-US" i="1" dirty="0" err="1"/>
              <a:t>table_name</a:t>
            </a:r>
            <a:br>
              <a:rPr lang="en-US" i="1" dirty="0"/>
            </a:br>
            <a:endParaRPr lang="en-US" i="1" dirty="0"/>
          </a:p>
          <a:p>
            <a:pPr>
              <a:buNone/>
            </a:pPr>
            <a:r>
              <a:rPr lang="en-US" dirty="0"/>
              <a:t>Example</a:t>
            </a:r>
          </a:p>
          <a:p>
            <a:r>
              <a:rPr lang="en-US" dirty="0"/>
              <a:t>DELETE FROM Customers</a:t>
            </a:r>
            <a:br>
              <a:rPr lang="en-US" dirty="0"/>
            </a:br>
            <a:r>
              <a:rPr lang="en-US" dirty="0"/>
              <a:t>WHERE </a:t>
            </a:r>
            <a:r>
              <a:rPr lang="en-US" dirty="0" err="1"/>
              <a:t>CustomerName</a:t>
            </a:r>
            <a:r>
              <a:rPr lang="en-US" dirty="0"/>
              <a:t>='</a:t>
            </a:r>
            <a:r>
              <a:rPr lang="en-US" dirty="0" err="1"/>
              <a:t>Alfreds</a:t>
            </a:r>
            <a:r>
              <a:rPr lang="en-US" dirty="0"/>
              <a:t> </a:t>
            </a:r>
            <a:r>
              <a:rPr lang="en-US" dirty="0" err="1"/>
              <a:t>Futterkiste</a:t>
            </a:r>
            <a:r>
              <a:rPr lang="en-US" dirty="0"/>
              <a:t>' AND </a:t>
            </a:r>
            <a:r>
              <a:rPr lang="en-US" dirty="0" err="1"/>
              <a:t>ContactName</a:t>
            </a:r>
            <a:r>
              <a:rPr lang="en-US" dirty="0"/>
              <a:t>='Maria Anders';</a:t>
            </a:r>
            <a:br>
              <a:rPr lang="en-US" i="1" dirty="0"/>
            </a:br>
            <a:endParaRPr lang="en-US" sz="1900" i="1" dirty="0"/>
          </a:p>
          <a:p>
            <a:pPr>
              <a:buNone/>
            </a:pPr>
            <a:r>
              <a:rPr lang="en-US" sz="1900" b="1" dirty="0"/>
              <a:t>Note:</a:t>
            </a:r>
            <a:r>
              <a:rPr lang="en-US" sz="1900" dirty="0"/>
              <a:t> Be very careful when deleting records. You cannot undo this statement!</a:t>
            </a:r>
          </a:p>
          <a:p>
            <a:endParaRPr lang="en-US" dirty="0"/>
          </a:p>
        </p:txBody>
      </p:sp>
      <p:sp>
        <p:nvSpPr>
          <p:cNvPr id="3" name="Title 2"/>
          <p:cNvSpPr>
            <a:spLocks noGrp="1"/>
          </p:cNvSpPr>
          <p:nvPr>
            <p:ph type="title"/>
          </p:nvPr>
        </p:nvSpPr>
        <p:spPr/>
        <p:txBody>
          <a:bodyPr>
            <a:normAutofit/>
          </a:bodyPr>
          <a:lstStyle/>
          <a:p>
            <a:r>
              <a:rPr lang="en-US" b="0" dirty="0"/>
              <a:t>Delete All Data</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0711BB-5460-9B64-86BF-97548FC0B81F}"/>
              </a:ext>
            </a:extLst>
          </p:cNvPr>
          <p:cNvSpPr>
            <a:spLocks noGrp="1"/>
          </p:cNvSpPr>
          <p:nvPr>
            <p:ph idx="1"/>
          </p:nvPr>
        </p:nvSpPr>
        <p:spPr>
          <a:xfrm>
            <a:off x="304800" y="1295400"/>
            <a:ext cx="8534400" cy="5181600"/>
          </a:xfrm>
        </p:spPr>
        <p:txBody>
          <a:bodyPr>
            <a:normAutofit fontScale="92500" lnSpcReduction="10000"/>
          </a:bodyPr>
          <a:lstStyle/>
          <a:p>
            <a:r>
              <a:rPr lang="en-US" dirty="0"/>
              <a:t>DDL in SQL stands for Data Definition Language. </a:t>
            </a:r>
          </a:p>
          <a:p>
            <a:r>
              <a:rPr lang="en-US" dirty="0"/>
              <a:t>It is a subset of SQL commands used to define, modify, and manage the structure of a database and its objects. </a:t>
            </a:r>
          </a:p>
          <a:p>
            <a:r>
              <a:rPr lang="en-US" dirty="0"/>
              <a:t>DDL commands are responsible for creating, altering, and dropping database objects like tables, indexes, views, and schemas.</a:t>
            </a:r>
          </a:p>
          <a:p>
            <a:r>
              <a:rPr lang="en-US" dirty="0"/>
              <a:t>DDL commands are fundamental for database administrators and developers to establish and maintain the organizational structure of a database. </a:t>
            </a:r>
          </a:p>
          <a:p>
            <a:r>
              <a:rPr lang="en-US" dirty="0"/>
              <a:t>They define the schema, which is the blueprint of the database, and ensure data integrity through constraints and relationships.</a:t>
            </a:r>
            <a:endParaRPr lang="en-IN" dirty="0"/>
          </a:p>
        </p:txBody>
      </p:sp>
      <p:sp>
        <p:nvSpPr>
          <p:cNvPr id="3" name="Title 2">
            <a:extLst>
              <a:ext uri="{FF2B5EF4-FFF2-40B4-BE49-F238E27FC236}">
                <a16:creationId xmlns:a16="http://schemas.microsoft.com/office/drawing/2014/main" id="{D395583A-1D09-1586-8C19-B803D939DCB3}"/>
              </a:ext>
            </a:extLst>
          </p:cNvPr>
          <p:cNvSpPr>
            <a:spLocks noGrp="1"/>
          </p:cNvSpPr>
          <p:nvPr>
            <p:ph type="title"/>
          </p:nvPr>
        </p:nvSpPr>
        <p:spPr/>
        <p:txBody>
          <a:bodyPr/>
          <a:lstStyle/>
          <a:p>
            <a:r>
              <a:rPr lang="en-US" dirty="0"/>
              <a:t>DDL</a:t>
            </a:r>
            <a:endParaRPr lang="en-IN" dirty="0"/>
          </a:p>
        </p:txBody>
      </p:sp>
    </p:spTree>
    <p:extLst>
      <p:ext uri="{BB962C8B-B14F-4D97-AF65-F5344CB8AC3E}">
        <p14:creationId xmlns:p14="http://schemas.microsoft.com/office/powerpoint/2010/main" val="21200692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E18A54-CD66-DCC3-7B4D-70E47BBAA544}"/>
              </a:ext>
            </a:extLst>
          </p:cNvPr>
          <p:cNvSpPr>
            <a:spLocks noGrp="1"/>
          </p:cNvSpPr>
          <p:nvPr>
            <p:ph idx="1"/>
          </p:nvPr>
        </p:nvSpPr>
        <p:spPr/>
        <p:txBody>
          <a:bodyPr>
            <a:normAutofit fontScale="92500"/>
          </a:bodyPr>
          <a:lstStyle/>
          <a:p>
            <a:r>
              <a:rPr lang="en-US" b="1" dirty="0"/>
              <a:t>CREATE: </a:t>
            </a:r>
            <a:r>
              <a:rPr lang="en-US" dirty="0"/>
              <a:t>Used to create new database objects.</a:t>
            </a:r>
          </a:p>
          <a:p>
            <a:r>
              <a:rPr lang="en-US" b="1" dirty="0"/>
              <a:t>ALTER</a:t>
            </a:r>
            <a:r>
              <a:rPr lang="en-US" dirty="0"/>
              <a:t>: Used to modify the structure of existing database objects. </a:t>
            </a:r>
          </a:p>
          <a:p>
            <a:r>
              <a:rPr lang="en-US" dirty="0"/>
              <a:t>This can involve adding, dropping, or modifying columns, or adding/removing constraints.</a:t>
            </a:r>
          </a:p>
          <a:p>
            <a:pPr marL="109728" indent="0">
              <a:buNone/>
            </a:pPr>
            <a:r>
              <a:rPr lang="en-US" dirty="0"/>
              <a:t>	</a:t>
            </a:r>
            <a:r>
              <a:rPr lang="en-US" dirty="0">
                <a:solidFill>
                  <a:srgbClr val="FF0000"/>
                </a:solidFill>
              </a:rPr>
              <a:t>ALTER TABLE Employees</a:t>
            </a:r>
            <a:br>
              <a:rPr lang="en-US" dirty="0">
                <a:solidFill>
                  <a:srgbClr val="FF0000"/>
                </a:solidFill>
              </a:rPr>
            </a:br>
            <a:r>
              <a:rPr lang="en-US" dirty="0">
                <a:solidFill>
                  <a:srgbClr val="FF0000"/>
                </a:solidFill>
              </a:rPr>
              <a:t>		ADD COLUMN </a:t>
            </a:r>
            <a:r>
              <a:rPr lang="en-US" dirty="0" err="1">
                <a:solidFill>
                  <a:srgbClr val="FF0000"/>
                </a:solidFill>
              </a:rPr>
              <a:t>DepartmentID</a:t>
            </a:r>
            <a:r>
              <a:rPr lang="en-US" dirty="0">
                <a:solidFill>
                  <a:srgbClr val="FF0000"/>
                </a:solidFill>
              </a:rPr>
              <a:t> INT;</a:t>
            </a:r>
          </a:p>
          <a:p>
            <a:r>
              <a:rPr lang="en-US" b="1" dirty="0"/>
              <a:t>DROP: </a:t>
            </a:r>
            <a:r>
              <a:rPr lang="en-US" dirty="0"/>
              <a:t>Used to delete existing database objects. </a:t>
            </a:r>
          </a:p>
          <a:p>
            <a:r>
              <a:rPr lang="en-US" dirty="0"/>
              <a:t>This permanently removes the object and its associated data.</a:t>
            </a:r>
          </a:p>
          <a:p>
            <a:endParaRPr lang="en-IN" dirty="0"/>
          </a:p>
        </p:txBody>
      </p:sp>
      <p:sp>
        <p:nvSpPr>
          <p:cNvPr id="3" name="Title 2">
            <a:extLst>
              <a:ext uri="{FF2B5EF4-FFF2-40B4-BE49-F238E27FC236}">
                <a16:creationId xmlns:a16="http://schemas.microsoft.com/office/drawing/2014/main" id="{2A31EE9E-4E8A-220F-3346-AF7714500409}"/>
              </a:ext>
            </a:extLst>
          </p:cNvPr>
          <p:cNvSpPr>
            <a:spLocks noGrp="1"/>
          </p:cNvSpPr>
          <p:nvPr>
            <p:ph type="title"/>
          </p:nvPr>
        </p:nvSpPr>
        <p:spPr/>
        <p:txBody>
          <a:bodyPr/>
          <a:lstStyle/>
          <a:p>
            <a:r>
              <a:rPr lang="en-US" dirty="0"/>
              <a:t>DDL Commands</a:t>
            </a:r>
            <a:endParaRPr lang="en-IN" dirty="0"/>
          </a:p>
        </p:txBody>
      </p:sp>
    </p:spTree>
    <p:extLst>
      <p:ext uri="{BB962C8B-B14F-4D97-AF65-F5344CB8AC3E}">
        <p14:creationId xmlns:p14="http://schemas.microsoft.com/office/powerpoint/2010/main" val="36961776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B07C6-495F-1723-95DD-749C774193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0C19F2-CE89-7C12-42CB-282F77F5D5B2}"/>
              </a:ext>
            </a:extLst>
          </p:cNvPr>
          <p:cNvSpPr>
            <a:spLocks noGrp="1"/>
          </p:cNvSpPr>
          <p:nvPr>
            <p:ph idx="1"/>
          </p:nvPr>
        </p:nvSpPr>
        <p:spPr/>
        <p:txBody>
          <a:bodyPr/>
          <a:lstStyle/>
          <a:p>
            <a:r>
              <a:rPr lang="en-US" b="1" dirty="0"/>
              <a:t>TRUNCATE: </a:t>
            </a:r>
            <a:r>
              <a:rPr lang="en-US" dirty="0"/>
              <a:t>Used to remove all rows from a table, but keep the table structure intact. </a:t>
            </a:r>
          </a:p>
          <a:p>
            <a:r>
              <a:rPr lang="en-US" dirty="0"/>
              <a:t>It is a faster operation than DELETE for removing all data.</a:t>
            </a:r>
          </a:p>
          <a:p>
            <a:r>
              <a:rPr lang="en-US" b="1" dirty="0"/>
              <a:t>RENAME: </a:t>
            </a:r>
            <a:r>
              <a:rPr lang="en-US" dirty="0"/>
              <a:t>Used to change the name of a database object, such as a table or a column.</a:t>
            </a:r>
            <a:endParaRPr lang="en-IN" dirty="0"/>
          </a:p>
        </p:txBody>
      </p:sp>
      <p:sp>
        <p:nvSpPr>
          <p:cNvPr id="3" name="Title 2">
            <a:extLst>
              <a:ext uri="{FF2B5EF4-FFF2-40B4-BE49-F238E27FC236}">
                <a16:creationId xmlns:a16="http://schemas.microsoft.com/office/drawing/2014/main" id="{D544C703-B1D1-AEA0-1D24-7A494C7651DC}"/>
              </a:ext>
            </a:extLst>
          </p:cNvPr>
          <p:cNvSpPr>
            <a:spLocks noGrp="1"/>
          </p:cNvSpPr>
          <p:nvPr>
            <p:ph type="title"/>
          </p:nvPr>
        </p:nvSpPr>
        <p:spPr/>
        <p:txBody>
          <a:bodyPr/>
          <a:lstStyle/>
          <a:p>
            <a:r>
              <a:rPr lang="en-US" dirty="0"/>
              <a:t>DDL Commands</a:t>
            </a:r>
            <a:endParaRPr lang="en-IN" dirty="0"/>
          </a:p>
        </p:txBody>
      </p:sp>
    </p:spTree>
    <p:extLst>
      <p:ext uri="{BB962C8B-B14F-4D97-AF65-F5344CB8AC3E}">
        <p14:creationId xmlns:p14="http://schemas.microsoft.com/office/powerpoint/2010/main" val="20114873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CREATE DATABASE statement is used to create a database.</a:t>
            </a:r>
          </a:p>
          <a:p>
            <a:pPr>
              <a:buNone/>
            </a:pPr>
            <a:r>
              <a:rPr lang="en-US" dirty="0"/>
              <a:t>Syntax</a:t>
            </a:r>
          </a:p>
          <a:p>
            <a:r>
              <a:rPr lang="en-US" dirty="0"/>
              <a:t>CREATE DATABASE </a:t>
            </a:r>
            <a:r>
              <a:rPr lang="en-US" i="1" dirty="0" err="1"/>
              <a:t>dbname</a:t>
            </a:r>
            <a:r>
              <a:rPr lang="en-US" dirty="0"/>
              <a:t>;</a:t>
            </a:r>
          </a:p>
          <a:p>
            <a:pPr>
              <a:buNone/>
            </a:pPr>
            <a:endParaRPr lang="en-US" dirty="0"/>
          </a:p>
          <a:p>
            <a:r>
              <a:rPr lang="en-US" dirty="0"/>
              <a:t>The following SQL statement creates a database called "</a:t>
            </a:r>
            <a:r>
              <a:rPr lang="en-US" dirty="0" err="1"/>
              <a:t>my_db</a:t>
            </a:r>
            <a:r>
              <a:rPr lang="en-US" dirty="0"/>
              <a:t>":</a:t>
            </a:r>
          </a:p>
          <a:p>
            <a:pPr>
              <a:buNone/>
            </a:pPr>
            <a:r>
              <a:rPr lang="en-US" dirty="0"/>
              <a:t> </a:t>
            </a:r>
          </a:p>
          <a:p>
            <a:pPr>
              <a:buNone/>
            </a:pPr>
            <a:r>
              <a:rPr lang="en-US" dirty="0"/>
              <a:t>CREATE DATABASE </a:t>
            </a:r>
            <a:r>
              <a:rPr lang="en-US" dirty="0" err="1"/>
              <a:t>my_db</a:t>
            </a:r>
            <a:r>
              <a:rPr lang="en-US" dirty="0"/>
              <a:t>;</a:t>
            </a:r>
          </a:p>
          <a:p>
            <a:endParaRPr lang="en-US" dirty="0"/>
          </a:p>
          <a:p>
            <a:endParaRPr lang="en-US" dirty="0"/>
          </a:p>
        </p:txBody>
      </p:sp>
      <p:sp>
        <p:nvSpPr>
          <p:cNvPr id="3" name="Title 2"/>
          <p:cNvSpPr>
            <a:spLocks noGrp="1"/>
          </p:cNvSpPr>
          <p:nvPr>
            <p:ph type="title"/>
          </p:nvPr>
        </p:nvSpPr>
        <p:spPr/>
        <p:txBody>
          <a:bodyPr>
            <a:normAutofit fontScale="90000"/>
          </a:bodyPr>
          <a:lstStyle/>
          <a:p>
            <a:r>
              <a:rPr lang="en-US" b="0" dirty="0"/>
              <a:t>SQL CREATE DATABASE Statement</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The CREATE TABLE statement is used to create a table in a database.</a:t>
            </a:r>
          </a:p>
          <a:p>
            <a:r>
              <a:rPr lang="en-US" dirty="0"/>
              <a:t>Tables are organized into rows and columns; and each table must have a name.</a:t>
            </a:r>
          </a:p>
          <a:p>
            <a:pPr>
              <a:buNone/>
            </a:pPr>
            <a:r>
              <a:rPr lang="en-US" dirty="0"/>
              <a:t>Syntax</a:t>
            </a:r>
          </a:p>
          <a:p>
            <a:r>
              <a:rPr lang="en-US" dirty="0"/>
              <a:t>CREATE TABLE </a:t>
            </a:r>
            <a:r>
              <a:rPr lang="en-US" i="1" dirty="0" err="1"/>
              <a:t>table_name</a:t>
            </a:r>
            <a:br>
              <a:rPr lang="en-US" dirty="0"/>
            </a:br>
            <a:r>
              <a:rPr lang="en-US" dirty="0"/>
              <a:t>(</a:t>
            </a:r>
            <a:br>
              <a:rPr lang="en-US" dirty="0"/>
            </a:br>
            <a:r>
              <a:rPr lang="en-US" i="1" dirty="0"/>
              <a:t>column_name1 </a:t>
            </a:r>
            <a:r>
              <a:rPr lang="en-US" i="1" dirty="0" err="1"/>
              <a:t>data_type</a:t>
            </a:r>
            <a:r>
              <a:rPr lang="en-US" dirty="0"/>
              <a:t>(</a:t>
            </a:r>
            <a:r>
              <a:rPr lang="en-US" i="1" dirty="0"/>
              <a:t>size</a:t>
            </a:r>
            <a:r>
              <a:rPr lang="en-US" dirty="0"/>
              <a:t>),</a:t>
            </a:r>
            <a:br>
              <a:rPr lang="en-US" dirty="0"/>
            </a:br>
            <a:r>
              <a:rPr lang="en-US" i="1" dirty="0"/>
              <a:t>column_name2 </a:t>
            </a:r>
            <a:r>
              <a:rPr lang="en-US" i="1" dirty="0" err="1"/>
              <a:t>data_type</a:t>
            </a:r>
            <a:r>
              <a:rPr lang="en-US" dirty="0"/>
              <a:t>(</a:t>
            </a:r>
            <a:r>
              <a:rPr lang="en-US" i="1" dirty="0"/>
              <a:t>size</a:t>
            </a:r>
            <a:r>
              <a:rPr lang="en-US" dirty="0"/>
              <a:t>),</a:t>
            </a:r>
            <a:br>
              <a:rPr lang="en-US" dirty="0"/>
            </a:br>
            <a:r>
              <a:rPr lang="en-US" i="1" dirty="0"/>
              <a:t>column_name3 </a:t>
            </a:r>
            <a:r>
              <a:rPr lang="en-US" i="1" dirty="0" err="1"/>
              <a:t>data_type</a:t>
            </a:r>
            <a:r>
              <a:rPr lang="en-US" dirty="0"/>
              <a:t>(</a:t>
            </a:r>
            <a:r>
              <a:rPr lang="en-US" i="1" dirty="0"/>
              <a:t>size</a:t>
            </a:r>
            <a:r>
              <a:rPr lang="en-US" dirty="0"/>
              <a:t>),....);</a:t>
            </a:r>
          </a:p>
          <a:p>
            <a:endParaRPr lang="en-US" dirty="0"/>
          </a:p>
        </p:txBody>
      </p:sp>
      <p:sp>
        <p:nvSpPr>
          <p:cNvPr id="3" name="Title 2"/>
          <p:cNvSpPr>
            <a:spLocks noGrp="1"/>
          </p:cNvSpPr>
          <p:nvPr>
            <p:ph type="title"/>
          </p:nvPr>
        </p:nvSpPr>
        <p:spPr/>
        <p:txBody>
          <a:bodyPr>
            <a:normAutofit fontScale="90000"/>
          </a:bodyPr>
          <a:lstStyle/>
          <a:p>
            <a:r>
              <a:rPr lang="en-US" b="0" dirty="0"/>
              <a:t>SQL CREATE TABLE Statement-DDL</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dirty="0"/>
              <a:t>The </a:t>
            </a:r>
            <a:r>
              <a:rPr lang="en-US" dirty="0" err="1"/>
              <a:t>column_name</a:t>
            </a:r>
            <a:r>
              <a:rPr lang="en-US" dirty="0"/>
              <a:t> parameters specify the names of the columns of the table.</a:t>
            </a:r>
          </a:p>
          <a:p>
            <a:r>
              <a:rPr lang="en-US" dirty="0"/>
              <a:t>The </a:t>
            </a:r>
            <a:r>
              <a:rPr lang="en-US" dirty="0" err="1"/>
              <a:t>data_type</a:t>
            </a:r>
            <a:r>
              <a:rPr lang="en-US" dirty="0"/>
              <a:t> parameter specifies what type of data the column can hold (e.g. </a:t>
            </a:r>
            <a:r>
              <a:rPr lang="en-US" dirty="0" err="1"/>
              <a:t>varchar</a:t>
            </a:r>
            <a:r>
              <a:rPr lang="en-US" dirty="0"/>
              <a:t>, integer, decimal, date, etc.).</a:t>
            </a:r>
          </a:p>
          <a:p>
            <a:r>
              <a:rPr lang="en-US" dirty="0"/>
              <a:t>The size parameter specifies the maximum length of the column of the table.</a:t>
            </a:r>
          </a:p>
          <a:p>
            <a:pPr>
              <a:buNone/>
            </a:pPr>
            <a:r>
              <a:rPr lang="en-US" dirty="0"/>
              <a:t>Example</a:t>
            </a:r>
          </a:p>
          <a:p>
            <a:pPr>
              <a:buNone/>
            </a:pPr>
            <a:endParaRPr lang="en-US" dirty="0"/>
          </a:p>
          <a:p>
            <a:r>
              <a:rPr lang="en-US" dirty="0"/>
              <a:t>CREATE TABLE Persons</a:t>
            </a:r>
            <a:br>
              <a:rPr lang="en-US" dirty="0"/>
            </a:br>
            <a:r>
              <a:rPr lang="en-US" dirty="0"/>
              <a:t>(</a:t>
            </a:r>
            <a:br>
              <a:rPr lang="en-US" dirty="0"/>
            </a:br>
            <a:r>
              <a:rPr lang="en-US" dirty="0" err="1"/>
              <a:t>PersonID</a:t>
            </a:r>
            <a:r>
              <a:rPr lang="en-US" dirty="0"/>
              <a:t> </a:t>
            </a:r>
            <a:r>
              <a:rPr lang="en-US" dirty="0" err="1"/>
              <a:t>int</a:t>
            </a:r>
            <a:r>
              <a:rPr lang="en-US" dirty="0"/>
              <a:t>,</a:t>
            </a:r>
            <a:br>
              <a:rPr lang="en-US" dirty="0"/>
            </a:br>
            <a:r>
              <a:rPr lang="en-US" dirty="0" err="1"/>
              <a:t>LastName</a:t>
            </a:r>
            <a:r>
              <a:rPr lang="en-US" dirty="0"/>
              <a:t> </a:t>
            </a:r>
            <a:r>
              <a:rPr lang="en-US" dirty="0" err="1"/>
              <a:t>varchar</a:t>
            </a:r>
            <a:r>
              <a:rPr lang="en-US" dirty="0"/>
              <a:t>(255),</a:t>
            </a:r>
            <a:br>
              <a:rPr lang="en-US" dirty="0"/>
            </a:br>
            <a:r>
              <a:rPr lang="en-US" dirty="0" err="1"/>
              <a:t>FirstName</a:t>
            </a:r>
            <a:r>
              <a:rPr lang="en-US" dirty="0"/>
              <a:t> </a:t>
            </a:r>
            <a:r>
              <a:rPr lang="en-US" dirty="0" err="1"/>
              <a:t>varchar</a:t>
            </a:r>
            <a:r>
              <a:rPr lang="en-US" dirty="0"/>
              <a:t>(255),</a:t>
            </a:r>
            <a:br>
              <a:rPr lang="en-US" dirty="0"/>
            </a:br>
            <a:r>
              <a:rPr lang="en-US" dirty="0"/>
              <a:t>Address </a:t>
            </a:r>
            <a:r>
              <a:rPr lang="en-US" dirty="0" err="1"/>
              <a:t>varchar</a:t>
            </a:r>
            <a:r>
              <a:rPr lang="en-US" dirty="0"/>
              <a:t>(255),</a:t>
            </a:r>
            <a:br>
              <a:rPr lang="en-US" dirty="0"/>
            </a:br>
            <a:r>
              <a:rPr lang="en-US" dirty="0"/>
              <a:t>City </a:t>
            </a:r>
            <a:r>
              <a:rPr lang="en-US" dirty="0" err="1"/>
              <a:t>varchar</a:t>
            </a:r>
            <a:r>
              <a:rPr lang="en-US" dirty="0"/>
              <a:t>(255)</a:t>
            </a:r>
            <a:br>
              <a:rPr lang="en-US" dirty="0"/>
            </a:br>
            <a:r>
              <a:rPr lang="en-US" dirty="0"/>
              <a:t>);</a:t>
            </a:r>
          </a:p>
          <a:p>
            <a:endParaRPr lang="en-US" dirty="0"/>
          </a:p>
          <a:p>
            <a:endParaRPr lang="en-US" dirty="0"/>
          </a:p>
        </p:txBody>
      </p:sp>
      <p:sp>
        <p:nvSpPr>
          <p:cNvPr id="3" name="Title 2"/>
          <p:cNvSpPr>
            <a:spLocks noGrp="1"/>
          </p:cNvSpPr>
          <p:nvPr>
            <p:ph type="title"/>
          </p:nvPr>
        </p:nvSpPr>
        <p:spPr/>
        <p:txBody>
          <a:bodyPr/>
          <a:lstStyle/>
          <a:p>
            <a:r>
              <a:rPr lang="en-US" b="0" dirty="0"/>
              <a:t>CREATE TABLE….</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62000" y="1295400"/>
          <a:ext cx="7620000" cy="4953000"/>
        </p:xfrm>
        <a:graphic>
          <a:graphicData uri="http://schemas.openxmlformats.org/drawingml/2006/table">
            <a:tbl>
              <a:tblPr/>
              <a:tblGrid>
                <a:gridCol w="1523999">
                  <a:extLst>
                    <a:ext uri="{9D8B030D-6E8A-4147-A177-3AD203B41FA5}">
                      <a16:colId xmlns:a16="http://schemas.microsoft.com/office/drawing/2014/main" val="20000"/>
                    </a:ext>
                  </a:extLst>
                </a:gridCol>
                <a:gridCol w="6096001">
                  <a:extLst>
                    <a:ext uri="{9D8B030D-6E8A-4147-A177-3AD203B41FA5}">
                      <a16:colId xmlns:a16="http://schemas.microsoft.com/office/drawing/2014/main" val="20001"/>
                    </a:ext>
                  </a:extLst>
                </a:gridCol>
              </a:tblGrid>
              <a:tr h="241325">
                <a:tc>
                  <a:txBody>
                    <a:bodyPr/>
                    <a:lstStyle/>
                    <a:p>
                      <a:pPr algn="l" fontAlgn="t"/>
                      <a:r>
                        <a:rPr lang="en-US" sz="1200" dirty="0">
                          <a:solidFill>
                            <a:srgbClr val="FFFFFF"/>
                          </a:solidFill>
                          <a:latin typeface="verdana"/>
                        </a:rPr>
                        <a:t>Data type</a:t>
                      </a:r>
                    </a:p>
                  </a:txBody>
                  <a:tcPr marL="12228" marR="12228" marT="12228" marB="12228">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en-US" sz="1200" dirty="0">
                          <a:solidFill>
                            <a:srgbClr val="FFFFFF"/>
                          </a:solidFill>
                          <a:latin typeface="verdana"/>
                        </a:rPr>
                        <a:t>Description</a:t>
                      </a:r>
                    </a:p>
                  </a:txBody>
                  <a:tcPr marL="12228" marR="12228" marT="12228" marB="12228">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10000"/>
                  </a:ext>
                </a:extLst>
              </a:tr>
              <a:tr h="704995">
                <a:tc>
                  <a:txBody>
                    <a:bodyPr/>
                    <a:lstStyle/>
                    <a:p>
                      <a:pPr fontAlgn="t"/>
                      <a:r>
                        <a:rPr lang="en-US" sz="1200" dirty="0">
                          <a:latin typeface="verdana"/>
                        </a:rPr>
                        <a:t>CHAR(size)</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200">
                          <a:latin typeface="verdana"/>
                        </a:rPr>
                        <a:t>Holds a fixed length string (can contain letters, numbers, and special characters). The fixed size is specified in parenthesis. Can store up to 255 characters</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7854">
                <a:tc>
                  <a:txBody>
                    <a:bodyPr/>
                    <a:lstStyle/>
                    <a:p>
                      <a:pPr fontAlgn="t"/>
                      <a:r>
                        <a:rPr lang="en-US" sz="1200" dirty="0">
                          <a:latin typeface="verdana"/>
                        </a:rPr>
                        <a:t>VARCHAR(size)</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sz="1200" dirty="0">
                          <a:latin typeface="verdana"/>
                        </a:rPr>
                        <a:t>Holds a variable length string (can contain letters, numbers, and special characters). The maximum size is specified in parenthesis. Can store up to 255 characters. </a:t>
                      </a:r>
                      <a:r>
                        <a:rPr lang="en-US" sz="1200" b="1" dirty="0">
                          <a:latin typeface="verdana"/>
                        </a:rPr>
                        <a:t>Note:</a:t>
                      </a:r>
                      <a:r>
                        <a:rPr lang="en-US" sz="1200" dirty="0">
                          <a:latin typeface="verdana"/>
                        </a:rPr>
                        <a:t> If you put a greater value than 255 it will be converted to a TEXT type</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2"/>
                  </a:ext>
                </a:extLst>
              </a:tr>
              <a:tr h="320524">
                <a:tc>
                  <a:txBody>
                    <a:bodyPr/>
                    <a:lstStyle/>
                    <a:p>
                      <a:pPr fontAlgn="t"/>
                      <a:r>
                        <a:rPr lang="en-US" sz="1200" dirty="0">
                          <a:latin typeface="verdana"/>
                        </a:rPr>
                        <a:t>TEXT</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sz="1200" dirty="0">
                          <a:latin typeface="verdana"/>
                        </a:rPr>
                        <a:t>Holds a string with a maximum length of 65,535 characters</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3"/>
                  </a:ext>
                </a:extLst>
              </a:tr>
              <a:tr h="320524">
                <a:tc>
                  <a:txBody>
                    <a:bodyPr/>
                    <a:lstStyle/>
                    <a:p>
                      <a:pPr fontAlgn="t"/>
                      <a:r>
                        <a:rPr lang="en-US" sz="1200">
                          <a:latin typeface="verdana"/>
                        </a:rPr>
                        <a:t>BLOB</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200" dirty="0">
                          <a:latin typeface="verdana"/>
                        </a:rPr>
                        <a:t>For BLOBs (Binary Large </a:t>
                      </a:r>
                      <a:r>
                        <a:rPr lang="en-US" sz="1200" dirty="0" err="1">
                          <a:latin typeface="verdana"/>
                        </a:rPr>
                        <a:t>OBjects</a:t>
                      </a:r>
                      <a:r>
                        <a:rPr lang="en-US" sz="1200" dirty="0">
                          <a:latin typeface="verdana"/>
                        </a:rPr>
                        <a:t>). Holds up to 65,535 bytes of data</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2136">
                <a:tc>
                  <a:txBody>
                    <a:bodyPr/>
                    <a:lstStyle/>
                    <a:p>
                      <a:pPr fontAlgn="t"/>
                      <a:r>
                        <a:rPr lang="en-US" sz="1200" dirty="0">
                          <a:latin typeface="verdana"/>
                        </a:rPr>
                        <a:t>SET</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200" dirty="0">
                          <a:latin typeface="verdana"/>
                        </a:rPr>
                        <a:t>Similar to ENUM except that SET may contain up to 64 list items and can store more than one choice</a:t>
                      </a:r>
                    </a:p>
                  </a:txBody>
                  <a:tcPr marL="20380" marR="20380" marT="28532" marB="28532">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80928">
                <a:tc>
                  <a:txBody>
                    <a:bodyPr/>
                    <a:lstStyle/>
                    <a:p>
                      <a:pPr fontAlgn="t"/>
                      <a:r>
                        <a:rPr kumimoji="0" lang="en-US" sz="1200" kern="1200" dirty="0">
                          <a:solidFill>
                            <a:schemeClr val="tx1"/>
                          </a:solidFill>
                          <a:latin typeface="verdana"/>
                          <a:ea typeface="+mn-ea"/>
                          <a:cs typeface="+mn-cs"/>
                        </a:rPr>
                        <a:t>SMALLINT(size)</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kumimoji="0" lang="en-US" sz="1200" kern="1200" dirty="0">
                          <a:solidFill>
                            <a:schemeClr val="tx1"/>
                          </a:solidFill>
                          <a:latin typeface="verdana"/>
                          <a:ea typeface="+mn-ea"/>
                          <a:cs typeface="+mn-cs"/>
                        </a:rPr>
                        <a:t>-32768 to 32767 normal. 0 to 65535 UNSIGNED*. The maximum number of digits may be specified in parenthesis</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80928">
                <a:tc>
                  <a:txBody>
                    <a:bodyPr/>
                    <a:lstStyle/>
                    <a:p>
                      <a:pPr fontAlgn="t"/>
                      <a:r>
                        <a:rPr lang="en-US" sz="1200" dirty="0">
                          <a:latin typeface="verdana"/>
                        </a:rPr>
                        <a:t>INT(size)</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200" dirty="0">
                          <a:latin typeface="verdana"/>
                        </a:rPr>
                        <a:t>-2147483648 to 2147483647 normal. 0 to 4294967295 UNSIGNED*. The maximum number of digits may be specified in parenthesis</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793786">
                <a:tc>
                  <a:txBody>
                    <a:bodyPr/>
                    <a:lstStyle/>
                    <a:p>
                      <a:pPr fontAlgn="t"/>
                      <a:r>
                        <a:rPr lang="en-US" sz="1200" dirty="0">
                          <a:latin typeface="verdana"/>
                        </a:rPr>
                        <a:t>FLOAT(</a:t>
                      </a:r>
                      <a:r>
                        <a:rPr lang="en-US" sz="1200" dirty="0" err="1">
                          <a:latin typeface="verdana"/>
                        </a:rPr>
                        <a:t>size,d</a:t>
                      </a:r>
                      <a:r>
                        <a:rPr lang="en-US" sz="1200" dirty="0">
                          <a:latin typeface="verdana"/>
                        </a:rPr>
                        <a:t>)</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200" dirty="0">
                          <a:latin typeface="verdana"/>
                        </a:rPr>
                        <a:t>A small number with a floating decimal point. The maximum number of digits may be specified in the size parameter. The maximum number of digits to the right of the decimal point is specified in the d parameter</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3" name="Title 2"/>
          <p:cNvSpPr>
            <a:spLocks noGrp="1"/>
          </p:cNvSpPr>
          <p:nvPr>
            <p:ph type="title"/>
          </p:nvPr>
        </p:nvSpPr>
        <p:spPr/>
        <p:txBody>
          <a:bodyPr/>
          <a:lstStyle/>
          <a:p>
            <a:r>
              <a:rPr lang="en-US" dirty="0"/>
              <a:t>SQL Data Types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481138"/>
          <a:ext cx="8229600" cy="414655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endParaRPr lang="en-US"/>
                    </a:p>
                  </a:txBody>
                  <a:tcPr/>
                </a:tc>
                <a:extLst>
                  <a:ext uri="{0D108BD9-81ED-4DB2-BD59-A6C34878D82A}">
                    <a16:rowId xmlns:a16="http://schemas.microsoft.com/office/drawing/2014/main" val="10000"/>
                  </a:ext>
                </a:extLst>
              </a:tr>
              <a:tr h="370840">
                <a:tc>
                  <a:txBody>
                    <a:bodyPr/>
                    <a:lstStyle/>
                    <a:p>
                      <a:pPr fontAlgn="t"/>
                      <a:r>
                        <a:rPr lang="en-US" sz="1200" dirty="0">
                          <a:latin typeface="verdana"/>
                        </a:rPr>
                        <a:t>DOUBLE(</a:t>
                      </a:r>
                      <a:r>
                        <a:rPr lang="en-US" sz="1200" dirty="0" err="1">
                          <a:latin typeface="verdana"/>
                        </a:rPr>
                        <a:t>size,d</a:t>
                      </a:r>
                      <a:r>
                        <a:rPr lang="en-US" sz="1200" dirty="0">
                          <a:latin typeface="verdana"/>
                        </a:rPr>
                        <a:t>)</a:t>
                      </a:r>
                    </a:p>
                  </a:txBody>
                  <a:tcPr marL="47625" marR="47625" marT="66675" marB="66675"/>
                </a:tc>
                <a:tc>
                  <a:txBody>
                    <a:bodyPr/>
                    <a:lstStyle/>
                    <a:p>
                      <a:pPr fontAlgn="t"/>
                      <a:r>
                        <a:rPr lang="en-US" sz="1200" dirty="0">
                          <a:latin typeface="verdana"/>
                        </a:rPr>
                        <a:t>A large number with a floating decimal point. The maximum number of digits may be specified in the size parameter. The maximum number of digits to the right of the decimal point is specified in the d parameter</a:t>
                      </a:r>
                    </a:p>
                  </a:txBody>
                  <a:tcPr marL="47625" marR="47625" marT="66675" marB="66675"/>
                </a:tc>
                <a:extLst>
                  <a:ext uri="{0D108BD9-81ED-4DB2-BD59-A6C34878D82A}">
                    <a16:rowId xmlns:a16="http://schemas.microsoft.com/office/drawing/2014/main" val="10001"/>
                  </a:ext>
                </a:extLst>
              </a:tr>
              <a:tr h="370840">
                <a:tc>
                  <a:txBody>
                    <a:bodyPr/>
                    <a:lstStyle/>
                    <a:p>
                      <a:pPr fontAlgn="t"/>
                      <a:r>
                        <a:rPr lang="en-US" sz="1200">
                          <a:latin typeface="verdana"/>
                        </a:rPr>
                        <a:t>DECIMAL(size,d)</a:t>
                      </a:r>
                    </a:p>
                  </a:txBody>
                  <a:tcPr marL="47625" marR="47625" marT="66675" marB="66675"/>
                </a:tc>
                <a:tc>
                  <a:txBody>
                    <a:bodyPr/>
                    <a:lstStyle/>
                    <a:p>
                      <a:pPr fontAlgn="t"/>
                      <a:r>
                        <a:rPr lang="en-US" sz="1200" dirty="0">
                          <a:latin typeface="verdana"/>
                        </a:rPr>
                        <a:t>A DOUBLE stored as a string , allowing for a fixed decimal point. The maximum number of digits may be specified in the size parameter. The maximum number of digits to the right of the decimal point is specified in the d parameter</a:t>
                      </a:r>
                    </a:p>
                  </a:txBody>
                  <a:tcPr marL="47625" marR="47625" marT="66675" marB="66675"/>
                </a:tc>
                <a:extLst>
                  <a:ext uri="{0D108BD9-81ED-4DB2-BD59-A6C34878D82A}">
                    <a16:rowId xmlns:a16="http://schemas.microsoft.com/office/drawing/2014/main" val="10002"/>
                  </a:ext>
                </a:extLst>
              </a:tr>
              <a:tr h="370840">
                <a:tc>
                  <a:txBody>
                    <a:bodyPr/>
                    <a:lstStyle/>
                    <a:p>
                      <a:pPr fontAlgn="t"/>
                      <a:r>
                        <a:rPr lang="en-US" sz="1200" dirty="0">
                          <a:latin typeface="verdana"/>
                        </a:rPr>
                        <a:t>DATE()</a:t>
                      </a:r>
                    </a:p>
                  </a:txBody>
                  <a:tcPr marL="47625" marR="47625" marT="66675" marB="66675"/>
                </a:tc>
                <a:tc>
                  <a:txBody>
                    <a:bodyPr/>
                    <a:lstStyle/>
                    <a:p>
                      <a:pPr fontAlgn="t"/>
                      <a:r>
                        <a:rPr lang="en-US" sz="1200" dirty="0">
                          <a:latin typeface="verdana"/>
                        </a:rPr>
                        <a:t>A date. Format: YYYY-MM-</a:t>
                      </a:r>
                      <a:r>
                        <a:rPr lang="en-US" sz="1200" dirty="0" err="1">
                          <a:latin typeface="verdana"/>
                        </a:rPr>
                        <a:t>DD</a:t>
                      </a:r>
                      <a:r>
                        <a:rPr lang="en-US" sz="1200" b="1" dirty="0" err="1">
                          <a:latin typeface="verdana"/>
                        </a:rPr>
                        <a:t>Note</a:t>
                      </a:r>
                      <a:r>
                        <a:rPr lang="en-US" sz="1200" b="1" dirty="0">
                          <a:latin typeface="verdana"/>
                        </a:rPr>
                        <a:t>:</a:t>
                      </a:r>
                      <a:r>
                        <a:rPr lang="en-US" sz="1200" dirty="0">
                          <a:latin typeface="verdana"/>
                        </a:rPr>
                        <a:t> The supported range is from '1000-01-01' to '9999-12-31'</a:t>
                      </a:r>
                    </a:p>
                  </a:txBody>
                  <a:tcPr marL="47625" marR="47625" marT="66675" marB="66675"/>
                </a:tc>
                <a:extLst>
                  <a:ext uri="{0D108BD9-81ED-4DB2-BD59-A6C34878D82A}">
                    <a16:rowId xmlns:a16="http://schemas.microsoft.com/office/drawing/2014/main" val="10003"/>
                  </a:ext>
                </a:extLst>
              </a:tr>
              <a:tr h="370840">
                <a:tc>
                  <a:txBody>
                    <a:bodyPr/>
                    <a:lstStyle/>
                    <a:p>
                      <a:pPr fontAlgn="t"/>
                      <a:r>
                        <a:rPr lang="en-US" sz="1200" dirty="0">
                          <a:latin typeface="verdana"/>
                        </a:rPr>
                        <a:t>DATETIME()</a:t>
                      </a:r>
                    </a:p>
                  </a:txBody>
                  <a:tcPr marL="47625" marR="47625" marT="66675" marB="66675"/>
                </a:tc>
                <a:tc>
                  <a:txBody>
                    <a:bodyPr/>
                    <a:lstStyle/>
                    <a:p>
                      <a:pPr fontAlgn="t"/>
                      <a:r>
                        <a:rPr lang="en-US" sz="1200" dirty="0">
                          <a:latin typeface="verdana"/>
                        </a:rPr>
                        <a:t>*A date and time combination. Format: YYYY-MM-DD </a:t>
                      </a:r>
                      <a:r>
                        <a:rPr lang="en-US" sz="1200" dirty="0" err="1">
                          <a:latin typeface="verdana"/>
                        </a:rPr>
                        <a:t>HH:MM:SS</a:t>
                      </a:r>
                      <a:r>
                        <a:rPr lang="en-US" sz="1200" b="1" dirty="0" err="1">
                          <a:latin typeface="verdana"/>
                        </a:rPr>
                        <a:t>Note</a:t>
                      </a:r>
                      <a:r>
                        <a:rPr lang="en-US" sz="1200" b="1" dirty="0">
                          <a:latin typeface="verdana"/>
                        </a:rPr>
                        <a:t>:</a:t>
                      </a:r>
                      <a:r>
                        <a:rPr lang="en-US" sz="1200" dirty="0">
                          <a:latin typeface="verdana"/>
                        </a:rPr>
                        <a:t> The supported range is from '1000-01-01 00:00:00' to '9999-12-31 23:59:59'</a:t>
                      </a:r>
                    </a:p>
                  </a:txBody>
                  <a:tcPr marL="47625" marR="47625" marT="66675" marB="66675"/>
                </a:tc>
                <a:extLst>
                  <a:ext uri="{0D108BD9-81ED-4DB2-BD59-A6C34878D82A}">
                    <a16:rowId xmlns:a16="http://schemas.microsoft.com/office/drawing/2014/main" val="10004"/>
                  </a:ext>
                </a:extLst>
              </a:tr>
              <a:tr h="370840">
                <a:tc>
                  <a:txBody>
                    <a:bodyPr/>
                    <a:lstStyle/>
                    <a:p>
                      <a:pPr fontAlgn="t"/>
                      <a:r>
                        <a:rPr lang="en-US" sz="1200" dirty="0">
                          <a:latin typeface="verdana"/>
                        </a:rPr>
                        <a:t>TIME()</a:t>
                      </a:r>
                    </a:p>
                  </a:txBody>
                  <a:tcPr marL="47625" marR="47625" marT="66675" marB="66675"/>
                </a:tc>
                <a:tc>
                  <a:txBody>
                    <a:bodyPr/>
                    <a:lstStyle/>
                    <a:p>
                      <a:pPr fontAlgn="t"/>
                      <a:r>
                        <a:rPr lang="en-US" sz="1200" dirty="0">
                          <a:latin typeface="verdana"/>
                        </a:rPr>
                        <a:t>A time. Format: </a:t>
                      </a:r>
                      <a:r>
                        <a:rPr lang="en-US" sz="1200" dirty="0" err="1">
                          <a:latin typeface="verdana"/>
                        </a:rPr>
                        <a:t>HH:MM:SS</a:t>
                      </a:r>
                      <a:r>
                        <a:rPr lang="en-US" sz="1200" b="1" dirty="0" err="1">
                          <a:latin typeface="verdana"/>
                        </a:rPr>
                        <a:t>Note</a:t>
                      </a:r>
                      <a:r>
                        <a:rPr lang="en-US" sz="1200" b="1" dirty="0">
                          <a:latin typeface="verdana"/>
                        </a:rPr>
                        <a:t>:</a:t>
                      </a:r>
                      <a:r>
                        <a:rPr lang="en-US" sz="1200" dirty="0">
                          <a:latin typeface="verdana"/>
                        </a:rPr>
                        <a:t> The supported range is from '-838:59:59' to '838:59:59'</a:t>
                      </a:r>
                    </a:p>
                  </a:txBody>
                  <a:tcPr marL="47625" marR="47625" marT="66675" marB="66675"/>
                </a:tc>
                <a:extLst>
                  <a:ext uri="{0D108BD9-81ED-4DB2-BD59-A6C34878D82A}">
                    <a16:rowId xmlns:a16="http://schemas.microsoft.com/office/drawing/2014/main" val="10005"/>
                  </a:ext>
                </a:extLst>
              </a:tr>
            </a:tbl>
          </a:graphicData>
        </a:graphic>
      </p:graphicFrame>
      <p:sp>
        <p:nvSpPr>
          <p:cNvPr id="3" name="Title 2"/>
          <p:cNvSpPr>
            <a:spLocks noGrp="1"/>
          </p:cNvSpPr>
          <p:nvPr>
            <p:ph type="title"/>
          </p:nvPr>
        </p:nvSpPr>
        <p:spPr/>
        <p:txBody>
          <a:bodyPr/>
          <a:lstStyle/>
          <a:p>
            <a:r>
              <a:rPr lang="en-US" dirty="0"/>
              <a:t>Data Types….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57F2CB-EAB3-4BDA-AAF2-325DDDA7BE51}"/>
              </a:ext>
            </a:extLst>
          </p:cNvPr>
          <p:cNvSpPr/>
          <p:nvPr/>
        </p:nvSpPr>
        <p:spPr>
          <a:xfrm>
            <a:off x="395112" y="381000"/>
            <a:ext cx="8308621" cy="77893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Data Integrity</a:t>
            </a:r>
          </a:p>
        </p:txBody>
      </p:sp>
      <p:graphicFrame>
        <p:nvGraphicFramePr>
          <p:cNvPr id="6" name="Diagram 5">
            <a:extLst>
              <a:ext uri="{FF2B5EF4-FFF2-40B4-BE49-F238E27FC236}">
                <a16:creationId xmlns:a16="http://schemas.microsoft.com/office/drawing/2014/main" id="{9480347D-9A0E-48D4-92FE-5FE1C7871DDE}"/>
              </a:ext>
            </a:extLst>
          </p:cNvPr>
          <p:cNvGraphicFramePr/>
          <p:nvPr>
            <p:extLst>
              <p:ext uri="{D42A27DB-BD31-4B8C-83A1-F6EECF244321}">
                <p14:modId xmlns:p14="http://schemas.microsoft.com/office/powerpoint/2010/main" val="965893600"/>
              </p:ext>
            </p:extLst>
          </p:nvPr>
        </p:nvGraphicFramePr>
        <p:xfrm>
          <a:off x="395112" y="1524000"/>
          <a:ext cx="8444088"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24515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57F2CB-EAB3-4BDA-AAF2-325DDDA7BE51}"/>
              </a:ext>
            </a:extLst>
          </p:cNvPr>
          <p:cNvSpPr/>
          <p:nvPr/>
        </p:nvSpPr>
        <p:spPr>
          <a:xfrm>
            <a:off x="304800" y="457200"/>
            <a:ext cx="8308621" cy="77893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Data Integrity</a:t>
            </a:r>
          </a:p>
        </p:txBody>
      </p:sp>
      <p:graphicFrame>
        <p:nvGraphicFramePr>
          <p:cNvPr id="6" name="Diagram 5">
            <a:extLst>
              <a:ext uri="{FF2B5EF4-FFF2-40B4-BE49-F238E27FC236}">
                <a16:creationId xmlns:a16="http://schemas.microsoft.com/office/drawing/2014/main" id="{9480347D-9A0E-48D4-92FE-5FE1C7871DDE}"/>
              </a:ext>
            </a:extLst>
          </p:cNvPr>
          <p:cNvGraphicFramePr/>
          <p:nvPr>
            <p:extLst>
              <p:ext uri="{D42A27DB-BD31-4B8C-83A1-F6EECF244321}">
                <p14:modId xmlns:p14="http://schemas.microsoft.com/office/powerpoint/2010/main" val="4140750011"/>
              </p:ext>
            </p:extLst>
          </p:nvPr>
        </p:nvGraphicFramePr>
        <p:xfrm>
          <a:off x="395112" y="1524000"/>
          <a:ext cx="8308621"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40491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SQL constraints are used to specify rules for the data in a table.</a:t>
            </a:r>
          </a:p>
          <a:p>
            <a:r>
              <a:rPr lang="en-US" dirty="0"/>
              <a:t> If there is any violation between the constraint and the data action, the action is aborted by the constraint.</a:t>
            </a:r>
          </a:p>
          <a:p>
            <a:r>
              <a:rPr lang="en-US" dirty="0"/>
              <a:t>Constraints can be specified when the table is created (inside the CREATE TABLE statement) or after the table is created (inside the ALTER TABLE statement).</a:t>
            </a:r>
          </a:p>
          <a:p>
            <a:endParaRPr lang="en-US" dirty="0"/>
          </a:p>
        </p:txBody>
      </p:sp>
      <p:sp>
        <p:nvSpPr>
          <p:cNvPr id="3" name="Title 2"/>
          <p:cNvSpPr>
            <a:spLocks noGrp="1"/>
          </p:cNvSpPr>
          <p:nvPr>
            <p:ph type="title"/>
          </p:nvPr>
        </p:nvSpPr>
        <p:spPr/>
        <p:txBody>
          <a:bodyPr>
            <a:normAutofit/>
          </a:bodyPr>
          <a:lstStyle/>
          <a:p>
            <a:r>
              <a:rPr lang="en-US" b="0" dirty="0"/>
              <a:t>SQL Constraints</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US" dirty="0"/>
              <a:t>Syntax</a:t>
            </a:r>
          </a:p>
          <a:p>
            <a:r>
              <a:rPr lang="en-US" dirty="0"/>
              <a:t>CREATE TABLE </a:t>
            </a:r>
            <a:r>
              <a:rPr lang="en-US" i="1" dirty="0" err="1"/>
              <a:t>table_name</a:t>
            </a:r>
            <a:br>
              <a:rPr lang="en-US" dirty="0"/>
            </a:br>
            <a:r>
              <a:rPr lang="en-US" dirty="0"/>
              <a:t>(</a:t>
            </a:r>
            <a:br>
              <a:rPr lang="en-US" dirty="0"/>
            </a:br>
            <a:r>
              <a:rPr lang="en-US" i="1" dirty="0"/>
              <a:t>column_name1 </a:t>
            </a:r>
            <a:r>
              <a:rPr lang="en-US" i="1" dirty="0" err="1"/>
              <a:t>data_type</a:t>
            </a:r>
            <a:r>
              <a:rPr lang="en-US" dirty="0"/>
              <a:t>(</a:t>
            </a:r>
            <a:r>
              <a:rPr lang="en-US" i="1" dirty="0"/>
              <a:t>size</a:t>
            </a:r>
            <a:r>
              <a:rPr lang="en-US" dirty="0"/>
              <a:t>) </a:t>
            </a:r>
            <a:r>
              <a:rPr lang="en-US" i="1" dirty="0" err="1"/>
              <a:t>constraint_name</a:t>
            </a:r>
            <a:r>
              <a:rPr lang="en-US" dirty="0"/>
              <a:t>,</a:t>
            </a:r>
            <a:br>
              <a:rPr lang="en-US" dirty="0"/>
            </a:br>
            <a:r>
              <a:rPr lang="en-US" i="1" dirty="0"/>
              <a:t>column_name2 </a:t>
            </a:r>
            <a:r>
              <a:rPr lang="en-US" i="1" dirty="0" err="1"/>
              <a:t>data_type</a:t>
            </a:r>
            <a:r>
              <a:rPr lang="en-US" dirty="0"/>
              <a:t>(</a:t>
            </a:r>
            <a:r>
              <a:rPr lang="en-US" i="1" dirty="0"/>
              <a:t>size</a:t>
            </a:r>
            <a:r>
              <a:rPr lang="en-US" dirty="0"/>
              <a:t>) </a:t>
            </a:r>
            <a:r>
              <a:rPr lang="en-US" i="1" dirty="0" err="1"/>
              <a:t>constraint_name</a:t>
            </a:r>
            <a:r>
              <a:rPr lang="en-US" dirty="0"/>
              <a:t>,</a:t>
            </a:r>
            <a:br>
              <a:rPr lang="en-US" dirty="0"/>
            </a:br>
            <a:r>
              <a:rPr lang="en-US" i="1" dirty="0"/>
              <a:t>column_name3 </a:t>
            </a:r>
            <a:r>
              <a:rPr lang="en-US" i="1" dirty="0" err="1"/>
              <a:t>data_type</a:t>
            </a:r>
            <a:r>
              <a:rPr lang="en-US" dirty="0"/>
              <a:t>(</a:t>
            </a:r>
            <a:r>
              <a:rPr lang="en-US" i="1" dirty="0"/>
              <a:t>size</a:t>
            </a:r>
            <a:r>
              <a:rPr lang="en-US" dirty="0"/>
              <a:t>) </a:t>
            </a:r>
            <a:r>
              <a:rPr lang="en-US" i="1" dirty="0" err="1"/>
              <a:t>constraint_name</a:t>
            </a:r>
            <a:r>
              <a:rPr lang="en-US" dirty="0"/>
              <a:t>,</a:t>
            </a:r>
            <a:br>
              <a:rPr lang="en-US" dirty="0"/>
            </a:br>
            <a:r>
              <a:rPr lang="en-US" dirty="0"/>
              <a:t>....</a:t>
            </a:r>
            <a:br>
              <a:rPr lang="en-US" dirty="0"/>
            </a:br>
            <a:r>
              <a:rPr lang="en-US" dirty="0"/>
              <a:t>);</a:t>
            </a:r>
          </a:p>
          <a:p>
            <a:endParaRPr lang="en-US" dirty="0"/>
          </a:p>
        </p:txBody>
      </p:sp>
      <p:sp>
        <p:nvSpPr>
          <p:cNvPr id="3" name="Title 2"/>
          <p:cNvSpPr>
            <a:spLocks noGrp="1"/>
          </p:cNvSpPr>
          <p:nvPr>
            <p:ph type="title"/>
          </p:nvPr>
        </p:nvSpPr>
        <p:spPr/>
        <p:txBody>
          <a:bodyPr/>
          <a:lstStyle/>
          <a:p>
            <a:r>
              <a:rPr lang="en-US" b="0" dirty="0"/>
              <a:t>SQL Constraints….</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690872"/>
          </a:xfrm>
        </p:spPr>
        <p:txBody>
          <a:bodyPr>
            <a:normAutofit fontScale="85000" lnSpcReduction="20000"/>
          </a:bodyPr>
          <a:lstStyle/>
          <a:p>
            <a:r>
              <a:rPr lang="en-US" b="1" dirty="0"/>
              <a:t>NOT NULL</a:t>
            </a:r>
            <a:r>
              <a:rPr lang="en-US" dirty="0"/>
              <a:t> - Indicates that a column cannot store NULL value</a:t>
            </a:r>
          </a:p>
          <a:p>
            <a:r>
              <a:rPr lang="en-US" b="1" dirty="0"/>
              <a:t>UNIQUE</a:t>
            </a:r>
            <a:r>
              <a:rPr lang="en-US" dirty="0"/>
              <a:t> - Ensures that each row for a column must have a unique value</a:t>
            </a:r>
          </a:p>
          <a:p>
            <a:r>
              <a:rPr lang="en-US" b="1" dirty="0"/>
              <a:t>PRIMARY KEY</a:t>
            </a:r>
            <a:r>
              <a:rPr lang="en-US" dirty="0"/>
              <a:t> - A combination of a NOT NULL and UNIQUE. Ensures that a column (or combination of two or more columns) have an unique identity which helps to find a particular record in a table more easily and quickly</a:t>
            </a:r>
          </a:p>
          <a:p>
            <a:r>
              <a:rPr lang="en-US" b="1" dirty="0"/>
              <a:t>FOREIGN KEY</a:t>
            </a:r>
            <a:r>
              <a:rPr lang="en-US" dirty="0"/>
              <a:t> - Ensure the referential integrity of the data in one table to match values in another table</a:t>
            </a:r>
          </a:p>
          <a:p>
            <a:r>
              <a:rPr lang="en-US" b="1" dirty="0"/>
              <a:t>CHECK</a:t>
            </a:r>
            <a:r>
              <a:rPr lang="en-US" dirty="0"/>
              <a:t> - Ensures that the value in a column meets a specific condition</a:t>
            </a:r>
          </a:p>
          <a:p>
            <a:r>
              <a:rPr lang="en-US" b="1" dirty="0"/>
              <a:t>DEFAULT</a:t>
            </a:r>
            <a:r>
              <a:rPr lang="en-US" dirty="0"/>
              <a:t> - Specifies a default value when specified none for this column</a:t>
            </a:r>
          </a:p>
        </p:txBody>
      </p:sp>
      <p:sp>
        <p:nvSpPr>
          <p:cNvPr id="3" name="Title 2"/>
          <p:cNvSpPr>
            <a:spLocks noGrp="1"/>
          </p:cNvSpPr>
          <p:nvPr>
            <p:ph type="title"/>
          </p:nvPr>
        </p:nvSpPr>
        <p:spPr/>
        <p:txBody>
          <a:bodyPr/>
          <a:lstStyle/>
          <a:p>
            <a:r>
              <a:rPr lang="en-US" b="0" dirty="0"/>
              <a:t>SQL Constraints….</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614672"/>
          </a:xfrm>
        </p:spPr>
        <p:txBody>
          <a:bodyPr>
            <a:normAutofit fontScale="85000" lnSpcReduction="20000"/>
          </a:bodyPr>
          <a:lstStyle/>
          <a:p>
            <a:r>
              <a:rPr lang="en-US" dirty="0"/>
              <a:t>By default, a table column can hold NULL values.</a:t>
            </a:r>
          </a:p>
          <a:p>
            <a:r>
              <a:rPr lang="en-US" dirty="0"/>
              <a:t>The NOT NULL constraint enforces a column to NOT accept NULL values.</a:t>
            </a:r>
          </a:p>
          <a:p>
            <a:r>
              <a:rPr lang="en-US" dirty="0"/>
              <a:t>The NOT NULL constraint enforces a field to always contain a value. This means that you cannot insert a new record, or update a record without adding a value to this field.</a:t>
            </a:r>
          </a:p>
          <a:p>
            <a:pPr>
              <a:buNone/>
            </a:pPr>
            <a:r>
              <a:rPr lang="en-US" dirty="0"/>
              <a:t>Example</a:t>
            </a:r>
          </a:p>
          <a:p>
            <a:r>
              <a:rPr lang="en-US" dirty="0"/>
              <a:t>CREATE TABLE </a:t>
            </a:r>
            <a:r>
              <a:rPr lang="en-US" dirty="0" err="1"/>
              <a:t>PersonsNotNull</a:t>
            </a:r>
            <a:br>
              <a:rPr lang="en-US" dirty="0"/>
            </a:br>
            <a:r>
              <a:rPr lang="en-US" dirty="0"/>
              <a:t>(</a:t>
            </a:r>
            <a:br>
              <a:rPr lang="en-US" dirty="0"/>
            </a:br>
            <a:r>
              <a:rPr lang="en-US" dirty="0" err="1"/>
              <a:t>P_Id</a:t>
            </a:r>
            <a:r>
              <a:rPr lang="en-US" dirty="0"/>
              <a:t> </a:t>
            </a:r>
            <a:r>
              <a:rPr lang="en-US" dirty="0" err="1"/>
              <a:t>int</a:t>
            </a:r>
            <a:r>
              <a:rPr lang="en-US" dirty="0"/>
              <a:t> NOT NULL,</a:t>
            </a:r>
            <a:br>
              <a:rPr lang="en-US" dirty="0"/>
            </a:br>
            <a:r>
              <a:rPr lang="en-US" dirty="0" err="1"/>
              <a:t>LastName</a:t>
            </a:r>
            <a:r>
              <a:rPr lang="en-US" dirty="0"/>
              <a:t> </a:t>
            </a:r>
            <a:r>
              <a:rPr lang="en-US" dirty="0" err="1"/>
              <a:t>varchar</a:t>
            </a:r>
            <a:r>
              <a:rPr lang="en-US" dirty="0"/>
              <a:t>(255) NOT NULL,</a:t>
            </a:r>
            <a:br>
              <a:rPr lang="en-US" dirty="0"/>
            </a:br>
            <a:r>
              <a:rPr lang="en-US" dirty="0" err="1"/>
              <a:t>FirstName</a:t>
            </a:r>
            <a:r>
              <a:rPr lang="en-US" dirty="0"/>
              <a:t> </a:t>
            </a:r>
            <a:r>
              <a:rPr lang="en-US" dirty="0" err="1"/>
              <a:t>varchar</a:t>
            </a:r>
            <a:r>
              <a:rPr lang="en-US" dirty="0"/>
              <a:t>(255),</a:t>
            </a:r>
            <a:br>
              <a:rPr lang="en-US" dirty="0"/>
            </a:br>
            <a:r>
              <a:rPr lang="en-US" dirty="0"/>
              <a:t>Address </a:t>
            </a:r>
            <a:r>
              <a:rPr lang="en-US" dirty="0" err="1"/>
              <a:t>varchar</a:t>
            </a:r>
            <a:r>
              <a:rPr lang="en-US" dirty="0"/>
              <a:t>(255),</a:t>
            </a:r>
            <a:br>
              <a:rPr lang="en-US" dirty="0"/>
            </a:br>
            <a:r>
              <a:rPr lang="en-US" dirty="0"/>
              <a:t>City </a:t>
            </a:r>
            <a:r>
              <a:rPr lang="en-US" dirty="0" err="1"/>
              <a:t>varchar</a:t>
            </a:r>
            <a:r>
              <a:rPr lang="en-US" dirty="0"/>
              <a:t>(255) )</a:t>
            </a:r>
          </a:p>
          <a:p>
            <a:endParaRPr lang="en-US" dirty="0"/>
          </a:p>
        </p:txBody>
      </p:sp>
      <p:sp>
        <p:nvSpPr>
          <p:cNvPr id="3" name="Title 2"/>
          <p:cNvSpPr>
            <a:spLocks noGrp="1"/>
          </p:cNvSpPr>
          <p:nvPr>
            <p:ph type="title"/>
          </p:nvPr>
        </p:nvSpPr>
        <p:spPr/>
        <p:txBody>
          <a:bodyPr>
            <a:normAutofit/>
          </a:bodyPr>
          <a:lstStyle/>
          <a:p>
            <a:r>
              <a:rPr lang="en-US" b="0" dirty="0"/>
              <a:t>SQL NOT NULL Constraint</a:t>
            </a: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UNIQUE constraint uniquely identifies each record in a database table.</a:t>
            </a:r>
          </a:p>
          <a:p>
            <a:r>
              <a:rPr lang="en-US" dirty="0"/>
              <a:t>The UNIQUE and PRIMARY KEY constraints both provide a guarantee for uniqueness for a column or set of columns.</a:t>
            </a:r>
          </a:p>
          <a:p>
            <a:r>
              <a:rPr lang="en-US" dirty="0"/>
              <a:t>A PRIMARY KEY constraint automatically has a UNIQUE constraint defined on it.</a:t>
            </a:r>
          </a:p>
          <a:p>
            <a:r>
              <a:rPr lang="en-US" dirty="0"/>
              <a:t>Note that you can have many UNIQUE constraints per table, but only one PRIMARY KEY constraint per table.</a:t>
            </a:r>
          </a:p>
          <a:p>
            <a:endParaRPr lang="en-US" dirty="0"/>
          </a:p>
        </p:txBody>
      </p:sp>
      <p:sp>
        <p:nvSpPr>
          <p:cNvPr id="3" name="Title 2"/>
          <p:cNvSpPr>
            <a:spLocks noGrp="1"/>
          </p:cNvSpPr>
          <p:nvPr>
            <p:ph type="title"/>
          </p:nvPr>
        </p:nvSpPr>
        <p:spPr/>
        <p:txBody>
          <a:bodyPr>
            <a:normAutofit/>
          </a:bodyPr>
          <a:lstStyle/>
          <a:p>
            <a:r>
              <a:rPr lang="en-US" b="0" dirty="0"/>
              <a:t>SQL UNIQUE Constraint</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690872"/>
          </a:xfrm>
        </p:spPr>
        <p:txBody>
          <a:bodyPr>
            <a:normAutofit fontScale="92500" lnSpcReduction="10000"/>
          </a:bodyPr>
          <a:lstStyle/>
          <a:p>
            <a:r>
              <a:rPr lang="en-US" dirty="0"/>
              <a:t>CREATE TABLE </a:t>
            </a:r>
            <a:r>
              <a:rPr lang="en-US" dirty="0" err="1"/>
              <a:t>PersonsUnique</a:t>
            </a:r>
            <a:br>
              <a:rPr lang="en-US" dirty="0"/>
            </a:br>
            <a:r>
              <a:rPr lang="en-US" dirty="0"/>
              <a:t>(</a:t>
            </a:r>
            <a:br>
              <a:rPr lang="en-US" dirty="0"/>
            </a:br>
            <a:r>
              <a:rPr lang="en-US" dirty="0" err="1"/>
              <a:t>P_Id</a:t>
            </a:r>
            <a:r>
              <a:rPr lang="en-US" dirty="0"/>
              <a:t> </a:t>
            </a:r>
            <a:r>
              <a:rPr lang="en-US" dirty="0" err="1"/>
              <a:t>int</a:t>
            </a:r>
            <a:r>
              <a:rPr lang="en-US" dirty="0"/>
              <a:t> NOT NULL,</a:t>
            </a:r>
            <a:br>
              <a:rPr lang="en-US" dirty="0"/>
            </a:br>
            <a:r>
              <a:rPr lang="en-US" dirty="0" err="1"/>
              <a:t>LastName</a:t>
            </a:r>
            <a:r>
              <a:rPr lang="en-US" dirty="0"/>
              <a:t> </a:t>
            </a:r>
            <a:r>
              <a:rPr lang="en-US" dirty="0" err="1"/>
              <a:t>varchar</a:t>
            </a:r>
            <a:r>
              <a:rPr lang="en-US" dirty="0"/>
              <a:t>(255) NOT NULL,</a:t>
            </a:r>
            <a:br>
              <a:rPr lang="en-US" dirty="0"/>
            </a:br>
            <a:r>
              <a:rPr lang="en-US" dirty="0" err="1"/>
              <a:t>FirstName</a:t>
            </a:r>
            <a:r>
              <a:rPr lang="en-US" dirty="0"/>
              <a:t> </a:t>
            </a:r>
            <a:r>
              <a:rPr lang="en-US" dirty="0" err="1"/>
              <a:t>varchar</a:t>
            </a:r>
            <a:r>
              <a:rPr lang="en-US" dirty="0"/>
              <a:t>(255),</a:t>
            </a:r>
            <a:br>
              <a:rPr lang="en-US" dirty="0"/>
            </a:br>
            <a:r>
              <a:rPr lang="en-US" dirty="0"/>
              <a:t>Address </a:t>
            </a:r>
            <a:r>
              <a:rPr lang="en-US" dirty="0" err="1"/>
              <a:t>varchar</a:t>
            </a:r>
            <a:r>
              <a:rPr lang="en-US" dirty="0"/>
              <a:t>(255),</a:t>
            </a:r>
            <a:br>
              <a:rPr lang="en-US" dirty="0"/>
            </a:br>
            <a:r>
              <a:rPr lang="en-US" dirty="0"/>
              <a:t>City </a:t>
            </a:r>
            <a:r>
              <a:rPr lang="en-US" dirty="0" err="1"/>
              <a:t>varchar</a:t>
            </a:r>
            <a:r>
              <a:rPr lang="en-US" dirty="0"/>
              <a:t>(255),</a:t>
            </a:r>
            <a:br>
              <a:rPr lang="en-US" dirty="0"/>
            </a:br>
            <a:r>
              <a:rPr lang="en-US" dirty="0"/>
              <a:t>UNIQUE (</a:t>
            </a:r>
            <a:r>
              <a:rPr lang="en-US" dirty="0" err="1"/>
              <a:t>P_Id</a:t>
            </a:r>
            <a:r>
              <a:rPr lang="en-US" dirty="0"/>
              <a:t>) )</a:t>
            </a:r>
            <a:br>
              <a:rPr lang="en-US" dirty="0"/>
            </a:br>
            <a:endParaRPr lang="en-US" dirty="0"/>
          </a:p>
          <a:p>
            <a:r>
              <a:rPr lang="en-US" dirty="0"/>
              <a:t>ALTER TABLE Persons</a:t>
            </a:r>
            <a:br>
              <a:rPr lang="en-US" dirty="0"/>
            </a:br>
            <a:r>
              <a:rPr lang="en-US" dirty="0"/>
              <a:t>ADD CONSTRAINT </a:t>
            </a:r>
            <a:r>
              <a:rPr lang="en-US" dirty="0" err="1"/>
              <a:t>uc_PersonID</a:t>
            </a:r>
            <a:r>
              <a:rPr lang="en-US" dirty="0"/>
              <a:t> UNIQUE (</a:t>
            </a:r>
            <a:r>
              <a:rPr lang="en-US" dirty="0" err="1"/>
              <a:t>P_Id,LastName</a:t>
            </a:r>
            <a:r>
              <a:rPr lang="en-US" dirty="0"/>
              <a:t>)</a:t>
            </a:r>
          </a:p>
          <a:p>
            <a:pPr>
              <a:buNone/>
            </a:pPr>
            <a:endParaRPr lang="en-US" dirty="0"/>
          </a:p>
        </p:txBody>
      </p:sp>
      <p:sp>
        <p:nvSpPr>
          <p:cNvPr id="3" name="Title 2"/>
          <p:cNvSpPr>
            <a:spLocks noGrp="1"/>
          </p:cNvSpPr>
          <p:nvPr>
            <p:ph type="title"/>
          </p:nvPr>
        </p:nvSpPr>
        <p:spPr/>
        <p:txBody>
          <a:bodyPr>
            <a:normAutofit fontScale="90000"/>
          </a:bodyPr>
          <a:lstStyle/>
          <a:p>
            <a:r>
              <a:rPr lang="en-US" b="0" dirty="0"/>
              <a:t>UNIQUE Constraint on CREATE TABLE</a:t>
            </a: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PRIMARY KEY constraint uniquely identifies each record in a database table.</a:t>
            </a:r>
          </a:p>
          <a:p>
            <a:r>
              <a:rPr lang="en-US" dirty="0"/>
              <a:t>Primary keys must contain unique values.</a:t>
            </a:r>
          </a:p>
          <a:p>
            <a:r>
              <a:rPr lang="en-US" dirty="0"/>
              <a:t>A primary key column cannot contain NULL values.</a:t>
            </a:r>
          </a:p>
          <a:p>
            <a:r>
              <a:rPr lang="en-US" dirty="0"/>
              <a:t>Each table should have a primary key, and each table can have only ONE primary key.</a:t>
            </a:r>
          </a:p>
          <a:p>
            <a:pPr>
              <a:buNone/>
            </a:pPr>
            <a:endParaRPr lang="en-US" dirty="0"/>
          </a:p>
        </p:txBody>
      </p:sp>
      <p:sp>
        <p:nvSpPr>
          <p:cNvPr id="3" name="Title 2"/>
          <p:cNvSpPr>
            <a:spLocks noGrp="1"/>
          </p:cNvSpPr>
          <p:nvPr>
            <p:ph type="title"/>
          </p:nvPr>
        </p:nvSpPr>
        <p:spPr/>
        <p:txBody>
          <a:bodyPr>
            <a:normAutofit/>
          </a:bodyPr>
          <a:lstStyle/>
          <a:p>
            <a:r>
              <a:rPr lang="en-US" b="0" dirty="0"/>
              <a:t>SQL PRIMARY KEY Constraint</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CREATE TABLE Persons</a:t>
            </a:r>
            <a:br>
              <a:rPr lang="en-US" dirty="0"/>
            </a:br>
            <a:r>
              <a:rPr lang="en-US" dirty="0"/>
              <a:t>(</a:t>
            </a:r>
            <a:br>
              <a:rPr lang="en-US" dirty="0"/>
            </a:br>
            <a:r>
              <a:rPr lang="en-US" dirty="0" err="1"/>
              <a:t>P_Id</a:t>
            </a:r>
            <a:r>
              <a:rPr lang="en-US" dirty="0"/>
              <a:t> </a:t>
            </a:r>
            <a:r>
              <a:rPr lang="en-US" dirty="0" err="1"/>
              <a:t>int</a:t>
            </a:r>
            <a:r>
              <a:rPr lang="en-US" dirty="0"/>
              <a:t> NOT NULL,</a:t>
            </a:r>
            <a:br>
              <a:rPr lang="en-US" dirty="0"/>
            </a:br>
            <a:r>
              <a:rPr lang="en-US" dirty="0" err="1"/>
              <a:t>LastName</a:t>
            </a:r>
            <a:r>
              <a:rPr lang="en-US" dirty="0"/>
              <a:t> </a:t>
            </a:r>
            <a:r>
              <a:rPr lang="en-US" dirty="0" err="1"/>
              <a:t>varchar</a:t>
            </a:r>
            <a:r>
              <a:rPr lang="en-US" dirty="0"/>
              <a:t>(255) NOT NULL,</a:t>
            </a:r>
            <a:br>
              <a:rPr lang="en-US" dirty="0"/>
            </a:br>
            <a:r>
              <a:rPr lang="en-US" dirty="0" err="1"/>
              <a:t>FirstName</a:t>
            </a:r>
            <a:r>
              <a:rPr lang="en-US" dirty="0"/>
              <a:t> </a:t>
            </a:r>
            <a:r>
              <a:rPr lang="en-US" dirty="0" err="1"/>
              <a:t>varchar</a:t>
            </a:r>
            <a:r>
              <a:rPr lang="en-US" dirty="0"/>
              <a:t>(255),</a:t>
            </a:r>
            <a:br>
              <a:rPr lang="en-US" dirty="0"/>
            </a:br>
            <a:r>
              <a:rPr lang="en-US" dirty="0"/>
              <a:t>Address </a:t>
            </a:r>
            <a:r>
              <a:rPr lang="en-US" dirty="0" err="1"/>
              <a:t>varchar</a:t>
            </a:r>
            <a:r>
              <a:rPr lang="en-US" dirty="0"/>
              <a:t>(255),</a:t>
            </a:r>
            <a:br>
              <a:rPr lang="en-US" dirty="0"/>
            </a:br>
            <a:r>
              <a:rPr lang="en-US" dirty="0"/>
              <a:t>City </a:t>
            </a:r>
            <a:r>
              <a:rPr lang="en-US" dirty="0" err="1"/>
              <a:t>varchar</a:t>
            </a:r>
            <a:r>
              <a:rPr lang="en-US" dirty="0"/>
              <a:t>(255),</a:t>
            </a:r>
            <a:br>
              <a:rPr lang="en-US" dirty="0"/>
            </a:br>
            <a:r>
              <a:rPr lang="en-US" dirty="0"/>
              <a:t>PRIMARY KEY (</a:t>
            </a:r>
            <a:r>
              <a:rPr lang="en-US" dirty="0" err="1"/>
              <a:t>P_Id</a:t>
            </a:r>
            <a:r>
              <a:rPr lang="en-US" dirty="0"/>
              <a:t>) )</a:t>
            </a:r>
          </a:p>
        </p:txBody>
      </p:sp>
      <p:sp>
        <p:nvSpPr>
          <p:cNvPr id="3" name="Title 2"/>
          <p:cNvSpPr>
            <a:spLocks noGrp="1"/>
          </p:cNvSpPr>
          <p:nvPr>
            <p:ph type="title"/>
          </p:nvPr>
        </p:nvSpPr>
        <p:spPr/>
        <p:txBody>
          <a:bodyPr>
            <a:normAutofit fontScale="90000"/>
          </a:bodyPr>
          <a:lstStyle/>
          <a:p>
            <a:r>
              <a:rPr lang="en-US" b="0" dirty="0"/>
              <a:t>PRIMARY KEY Constraint on CREATE TABLE</a:t>
            </a: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C58AE9-44E1-23A4-BA51-C68D11D02DC1}"/>
              </a:ext>
            </a:extLst>
          </p:cNvPr>
          <p:cNvSpPr>
            <a:spLocks noGrp="1"/>
          </p:cNvSpPr>
          <p:nvPr>
            <p:ph idx="1"/>
          </p:nvPr>
        </p:nvSpPr>
        <p:spPr/>
        <p:txBody>
          <a:bodyPr/>
          <a:lstStyle/>
          <a:p>
            <a:r>
              <a:rPr lang="en-US" dirty="0"/>
              <a:t>A candidate key is a minimal set of attributes (columns) in a table that can uniquely identify each row. </a:t>
            </a:r>
          </a:p>
          <a:p>
            <a:endParaRPr lang="en-US" dirty="0"/>
          </a:p>
          <a:p>
            <a:r>
              <a:rPr lang="en-US" dirty="0"/>
              <a:t>A table can have multiple candidate keys, but only one is chosen to be the primary key.</a:t>
            </a:r>
          </a:p>
          <a:p>
            <a:endParaRPr lang="en-US" dirty="0"/>
          </a:p>
          <a:p>
            <a:r>
              <a:rPr lang="en-US" dirty="0"/>
              <a:t> These keys are essential for maintaining data integrity and preventing duplicate data. </a:t>
            </a:r>
            <a:endParaRPr lang="en-IN" dirty="0"/>
          </a:p>
        </p:txBody>
      </p:sp>
      <p:sp>
        <p:nvSpPr>
          <p:cNvPr id="3" name="Title 2">
            <a:extLst>
              <a:ext uri="{FF2B5EF4-FFF2-40B4-BE49-F238E27FC236}">
                <a16:creationId xmlns:a16="http://schemas.microsoft.com/office/drawing/2014/main" id="{23D59939-6109-75CD-E542-D9E4456B5AE8}"/>
              </a:ext>
            </a:extLst>
          </p:cNvPr>
          <p:cNvSpPr>
            <a:spLocks noGrp="1"/>
          </p:cNvSpPr>
          <p:nvPr>
            <p:ph type="title"/>
          </p:nvPr>
        </p:nvSpPr>
        <p:spPr/>
        <p:txBody>
          <a:bodyPr/>
          <a:lstStyle/>
          <a:p>
            <a:r>
              <a:rPr lang="en-US" dirty="0"/>
              <a:t>Candidate Key</a:t>
            </a:r>
            <a:endParaRPr lang="en-IN" dirty="0"/>
          </a:p>
        </p:txBody>
      </p:sp>
    </p:spTree>
    <p:extLst>
      <p:ext uri="{BB962C8B-B14F-4D97-AF65-F5344CB8AC3E}">
        <p14:creationId xmlns:p14="http://schemas.microsoft.com/office/powerpoint/2010/main" val="13830157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27CE-709D-C88C-2E01-6FB0369CB4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9E9A2E-56D9-7B5F-37F4-20E52C143969}"/>
              </a:ext>
            </a:extLst>
          </p:cNvPr>
          <p:cNvSpPr>
            <a:spLocks noGrp="1"/>
          </p:cNvSpPr>
          <p:nvPr>
            <p:ph type="title"/>
          </p:nvPr>
        </p:nvSpPr>
        <p:spPr/>
        <p:txBody>
          <a:bodyPr>
            <a:normAutofit fontScale="90000"/>
          </a:bodyPr>
          <a:lstStyle/>
          <a:p>
            <a:r>
              <a:rPr lang="en-US" dirty="0"/>
              <a:t>Candidate Key – Key </a:t>
            </a:r>
            <a:r>
              <a:rPr lang="en-US" dirty="0" err="1"/>
              <a:t>Characterstics</a:t>
            </a:r>
            <a:endParaRPr lang="en-IN" dirty="0"/>
          </a:p>
        </p:txBody>
      </p:sp>
      <p:sp>
        <p:nvSpPr>
          <p:cNvPr id="6" name="Rectangle 2">
            <a:extLst>
              <a:ext uri="{FF2B5EF4-FFF2-40B4-BE49-F238E27FC236}">
                <a16:creationId xmlns:a16="http://schemas.microsoft.com/office/drawing/2014/main" id="{9E48CE73-F6B1-7BB9-8120-74782D791F96}"/>
              </a:ext>
            </a:extLst>
          </p:cNvPr>
          <p:cNvSpPr>
            <a:spLocks noChangeArrowheads="1"/>
          </p:cNvSpPr>
          <p:nvPr/>
        </p:nvSpPr>
        <p:spPr bwMode="auto">
          <a:xfrm>
            <a:off x="381000" y="1417638"/>
            <a:ext cx="8610600" cy="49936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Uniqueness</a:t>
            </a:r>
            <a:r>
              <a:rPr kumimoji="0" lang="en-US" altLang="en-US" sz="2400" b="0" i="0" u="none" strike="noStrike" cap="none" normalizeH="0" baseline="0" dirty="0">
                <a:ln>
                  <a:noFill/>
                </a:ln>
                <a:solidFill>
                  <a:srgbClr val="0A0A0A"/>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A0A0A"/>
                </a:solidFill>
                <a:effectLst/>
                <a:latin typeface="Google Sans"/>
              </a:rPr>
              <a:t>	Every value in the candidate key column(s) must be unique for each row.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Minimality</a:t>
            </a:r>
            <a:r>
              <a:rPr kumimoji="0" lang="en-US" altLang="en-US" sz="2400" b="0" i="0" u="none" strike="noStrike" cap="none" normalizeH="0" baseline="0" dirty="0">
                <a:ln>
                  <a:noFill/>
                </a:ln>
                <a:solidFill>
                  <a:srgbClr val="0A0A0A"/>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A0A0A"/>
                </a:solidFill>
                <a:effectLst/>
                <a:latin typeface="Google Sans"/>
              </a:rPr>
              <a:t>	A candidate key is "minimal" because removing any attribute from it would make it unable to uniquely identify a row.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One or more attributes</a:t>
            </a:r>
            <a:r>
              <a:rPr kumimoji="0" lang="en-US" altLang="en-US" sz="2400" b="0" i="0" u="none" strike="noStrike" cap="none" normalizeH="0" baseline="0" dirty="0">
                <a:ln>
                  <a:noFill/>
                </a:ln>
                <a:solidFill>
                  <a:srgbClr val="0A0A0A"/>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A0A0A"/>
                </a:solidFill>
                <a:effectLst/>
                <a:latin typeface="Google Sans"/>
              </a:rPr>
              <a:t>	A candidate key can be a single column or a combination of multiple columns.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Multiple candidate keys</a:t>
            </a:r>
            <a:r>
              <a:rPr kumimoji="0" lang="en-US" altLang="en-US" sz="2400" b="0" i="0" u="none" strike="noStrike" cap="none" normalizeH="0" baseline="0" dirty="0">
                <a:ln>
                  <a:noFill/>
                </a:ln>
                <a:solidFill>
                  <a:srgbClr val="0A0A0A"/>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A0A0A"/>
                </a:solidFill>
                <a:effectLst/>
                <a:latin typeface="Google Sans"/>
              </a:rPr>
              <a:t>	A table can have more than one candidate key. From these, one is selected as the </a:t>
            </a:r>
            <a:r>
              <a:rPr kumimoji="0" lang="en-US" altLang="en-US" sz="2400" b="0" i="0" u="none" strike="noStrike" cap="none" normalizeH="0" baseline="0" dirty="0">
                <a:ln>
                  <a:noFill/>
                </a:ln>
                <a:solidFill>
                  <a:srgbClr val="0A0A0A"/>
                </a:solidFill>
                <a:effectLst/>
                <a:latin typeface="Google Sans"/>
                <a:hlinkClick r:id="rId2"/>
              </a:rPr>
              <a:t>primary key</a:t>
            </a:r>
            <a:r>
              <a:rPr kumimoji="0" lang="en-US" altLang="en-US" sz="2400" b="0" i="0" u="none" strike="noStrike" cap="none" normalizeH="0" baseline="0" dirty="0">
                <a:ln>
                  <a:noFill/>
                </a:ln>
                <a:solidFill>
                  <a:srgbClr val="0A0A0A"/>
                </a:solidFill>
                <a:effectLst/>
                <a:latin typeface="Google Sans"/>
              </a:rPr>
              <a:t>, while the others are called </a:t>
            </a:r>
            <a:r>
              <a:rPr kumimoji="0" lang="en-US" altLang="en-US" sz="2400" b="0" i="0" u="none" strike="noStrike" cap="none" normalizeH="0" baseline="0" dirty="0">
                <a:ln>
                  <a:noFill/>
                </a:ln>
                <a:solidFill>
                  <a:srgbClr val="0A0A0A"/>
                </a:solidFill>
                <a:effectLst/>
                <a:latin typeface="Google Sans"/>
                <a:hlinkClick r:id="rId3"/>
              </a:rPr>
              <a:t>alternate keys</a:t>
            </a:r>
            <a:r>
              <a:rPr kumimoji="0" lang="en-US" altLang="en-US" sz="2400" b="0" i="0" u="none" strike="noStrike" cap="none" normalizeH="0" baseline="0" dirty="0">
                <a:ln>
                  <a:noFill/>
                </a:ln>
                <a:solidFill>
                  <a:srgbClr val="0A0A0A"/>
                </a:solidFill>
                <a:effectLst/>
                <a:latin typeface="Google Sans"/>
              </a:rPr>
              <a:t>. </a:t>
            </a:r>
          </a:p>
        </p:txBody>
      </p:sp>
    </p:spTree>
    <p:extLst>
      <p:ext uri="{BB962C8B-B14F-4D97-AF65-F5344CB8AC3E}">
        <p14:creationId xmlns:p14="http://schemas.microsoft.com/office/powerpoint/2010/main" val="31379583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DF2A9-6BEE-D64F-5777-54411E4DA3B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A44672-2055-1690-2AE0-928B5388E96E}"/>
              </a:ext>
            </a:extLst>
          </p:cNvPr>
          <p:cNvSpPr>
            <a:spLocks noGrp="1"/>
          </p:cNvSpPr>
          <p:nvPr>
            <p:ph type="title"/>
          </p:nvPr>
        </p:nvSpPr>
        <p:spPr/>
        <p:txBody>
          <a:bodyPr>
            <a:normAutofit/>
          </a:bodyPr>
          <a:lstStyle/>
          <a:p>
            <a:r>
              <a:rPr lang="en-US" dirty="0"/>
              <a:t>Candidate Key – Example</a:t>
            </a:r>
            <a:endParaRPr lang="en-IN" dirty="0"/>
          </a:p>
        </p:txBody>
      </p:sp>
      <p:sp>
        <p:nvSpPr>
          <p:cNvPr id="2" name="Rectangle 1">
            <a:extLst>
              <a:ext uri="{FF2B5EF4-FFF2-40B4-BE49-F238E27FC236}">
                <a16:creationId xmlns:a16="http://schemas.microsoft.com/office/drawing/2014/main" id="{85FB4A72-D841-7746-E82A-4FA016FABBC6}"/>
              </a:ext>
            </a:extLst>
          </p:cNvPr>
          <p:cNvSpPr>
            <a:spLocks noChangeArrowheads="1"/>
          </p:cNvSpPr>
          <p:nvPr/>
        </p:nvSpPr>
        <p:spPr bwMode="auto">
          <a:xfrm>
            <a:off x="304800" y="1220416"/>
            <a:ext cx="8382000" cy="53629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A0A0A"/>
                </a:solidFill>
                <a:effectLst/>
                <a:latin typeface="Google Sans"/>
              </a:rPr>
              <a:t>Consider a </a:t>
            </a:r>
            <a:r>
              <a:rPr kumimoji="0" lang="en-US" altLang="en-US" b="0" i="0" u="none" strike="noStrike" cap="none" normalizeH="0" baseline="0" dirty="0">
                <a:ln>
                  <a:noFill/>
                </a:ln>
                <a:solidFill>
                  <a:srgbClr val="0A0A0A"/>
                </a:solidFill>
                <a:effectLst/>
                <a:latin typeface="Courier New" panose="02070309020205020404" pitchFamily="49" charset="0"/>
                <a:cs typeface="Courier New" panose="02070309020205020404" pitchFamily="49" charset="0"/>
              </a:rPr>
              <a:t>Students</a:t>
            </a:r>
            <a:r>
              <a:rPr kumimoji="0" lang="en-US" altLang="en-US" sz="2800" b="0" i="0" u="none" strike="noStrike" cap="none" normalizeH="0" baseline="0" dirty="0">
                <a:ln>
                  <a:noFill/>
                </a:ln>
                <a:solidFill>
                  <a:srgbClr val="0A0A0A"/>
                </a:solidFill>
                <a:effectLst/>
                <a:latin typeface="Google Sans"/>
              </a:rPr>
              <a:t> table with the following columns: </a:t>
            </a:r>
            <a:r>
              <a:rPr kumimoji="0" lang="en-US" altLang="en-US" b="0" i="0" u="none" strike="noStrike" cap="none" normalizeH="0" baseline="0" dirty="0" err="1">
                <a:ln>
                  <a:noFill/>
                </a:ln>
                <a:solidFill>
                  <a:srgbClr val="0A0A0A"/>
                </a:solidFill>
                <a:effectLst/>
                <a:latin typeface="Courier New" panose="02070309020205020404" pitchFamily="49" charset="0"/>
                <a:cs typeface="Courier New" panose="02070309020205020404" pitchFamily="49" charset="0"/>
              </a:rPr>
              <a:t>StudentID</a:t>
            </a:r>
            <a:r>
              <a:rPr kumimoji="0" lang="en-US" altLang="en-US" sz="2800" b="0" i="0" u="none" strike="noStrike" cap="none" normalizeH="0" baseline="0" dirty="0">
                <a:ln>
                  <a:noFill/>
                </a:ln>
                <a:solidFill>
                  <a:srgbClr val="0A0A0A"/>
                </a:solidFill>
                <a:effectLst/>
                <a:latin typeface="Google Sans"/>
              </a:rPr>
              <a:t>, </a:t>
            </a:r>
            <a:r>
              <a:rPr kumimoji="0" lang="en-US" altLang="en-US" b="0" i="0" u="none" strike="noStrike" cap="none" normalizeH="0" baseline="0" dirty="0">
                <a:ln>
                  <a:noFill/>
                </a:ln>
                <a:solidFill>
                  <a:srgbClr val="0A0A0A"/>
                </a:solidFill>
                <a:effectLst/>
                <a:latin typeface="Courier New" panose="02070309020205020404" pitchFamily="49" charset="0"/>
                <a:cs typeface="Courier New" panose="02070309020205020404" pitchFamily="49" charset="0"/>
              </a:rPr>
              <a:t>Email</a:t>
            </a:r>
            <a:r>
              <a:rPr kumimoji="0" lang="en-US" altLang="en-US" sz="2800" b="0" i="0" u="none" strike="noStrike" cap="none" normalizeH="0" baseline="0" dirty="0">
                <a:ln>
                  <a:noFill/>
                </a:ln>
                <a:solidFill>
                  <a:srgbClr val="0A0A0A"/>
                </a:solidFill>
                <a:effectLst/>
                <a:latin typeface="Google Sans"/>
              </a:rPr>
              <a:t>, and </a:t>
            </a:r>
            <a:r>
              <a:rPr kumimoji="0" lang="en-US" altLang="en-US" b="0" i="0" u="none" strike="noStrike" cap="none" normalizeH="0" baseline="0" dirty="0">
                <a:ln>
                  <a:noFill/>
                </a:ln>
                <a:solidFill>
                  <a:srgbClr val="0A0A0A"/>
                </a:solidFill>
                <a:effectLst/>
                <a:latin typeface="Courier New" panose="02070309020205020404" pitchFamily="49" charset="0"/>
                <a:cs typeface="Courier New" panose="02070309020205020404" pitchFamily="49" charset="0"/>
              </a:rPr>
              <a:t>Phone</a:t>
            </a:r>
            <a:r>
              <a:rPr kumimoji="0" lang="en-US" altLang="en-US" sz="2800" b="0" i="0" u="none" strike="noStrike" cap="none" normalizeH="0" baseline="0" dirty="0">
                <a:ln>
                  <a:noFill/>
                </a:ln>
                <a:solidFill>
                  <a:srgbClr val="0A0A0A"/>
                </a:solidFill>
                <a:effectLst/>
                <a:latin typeface="Google Sans"/>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rgbClr val="0A0A0A"/>
                </a:solidFill>
                <a:effectLst/>
                <a:latin typeface="Courier New" panose="02070309020205020404" pitchFamily="49" charset="0"/>
                <a:cs typeface="Courier New" panose="02070309020205020404" pitchFamily="49" charset="0"/>
              </a:rPr>
              <a:t>StudentID</a:t>
            </a:r>
            <a:r>
              <a:rPr kumimoji="0" lang="en-US" altLang="en-US" sz="2800" b="0" i="0" u="none" strike="noStrike" cap="none" normalizeH="0" baseline="0" dirty="0">
                <a:ln>
                  <a:noFill/>
                </a:ln>
                <a:solidFill>
                  <a:srgbClr val="0A0A0A"/>
                </a:solidFill>
                <a:effectLst/>
                <a:latin typeface="Google Sans"/>
              </a:rPr>
              <a:t> can uniquely identify each student, and no two students can have the same </a:t>
            </a:r>
            <a:r>
              <a:rPr kumimoji="0" lang="en-US" altLang="en-US" b="0" i="0" u="none" strike="noStrike" cap="none" normalizeH="0" baseline="0" dirty="0" err="1">
                <a:ln>
                  <a:noFill/>
                </a:ln>
                <a:solidFill>
                  <a:srgbClr val="0A0A0A"/>
                </a:solidFill>
                <a:effectLst/>
                <a:latin typeface="Courier New" panose="02070309020205020404" pitchFamily="49" charset="0"/>
                <a:cs typeface="Courier New" panose="02070309020205020404" pitchFamily="49" charset="0"/>
              </a:rPr>
              <a:t>StudentID</a:t>
            </a:r>
            <a:r>
              <a:rPr kumimoji="0" lang="en-US" altLang="en-US" sz="2800" b="0" i="0" u="none" strike="noStrike" cap="none" normalizeH="0" baseline="0" dirty="0">
                <a:ln>
                  <a:noFill/>
                </a:ln>
                <a:solidFill>
                  <a:srgbClr val="0A0A0A"/>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latin typeface="Courier New" panose="02070309020205020404" pitchFamily="49" charset="0"/>
                <a:cs typeface="Courier New" panose="02070309020205020404" pitchFamily="49" charset="0"/>
              </a:rPr>
              <a:t>Email</a:t>
            </a:r>
            <a:r>
              <a:rPr kumimoji="0" lang="en-US" altLang="en-US" sz="2800" b="0" i="0" u="none" strike="noStrike" cap="none" normalizeH="0" baseline="0" dirty="0">
                <a:ln>
                  <a:noFill/>
                </a:ln>
                <a:solidFill>
                  <a:srgbClr val="0A0A0A"/>
                </a:solidFill>
                <a:effectLst/>
                <a:latin typeface="Google Sans"/>
              </a:rPr>
              <a:t> can also uniquely identify each student.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latin typeface="Courier New" panose="02070309020205020404" pitchFamily="49" charset="0"/>
                <a:cs typeface="Courier New" panose="02070309020205020404" pitchFamily="49" charset="0"/>
              </a:rPr>
              <a:t>Phone</a:t>
            </a:r>
            <a:r>
              <a:rPr kumimoji="0" lang="en-US" altLang="en-US" sz="2800" b="0" i="0" u="none" strike="noStrike" cap="none" normalizeH="0" baseline="0" dirty="0">
                <a:ln>
                  <a:noFill/>
                </a:ln>
                <a:solidFill>
                  <a:srgbClr val="0A0A0A"/>
                </a:solidFill>
                <a:effectLst/>
                <a:latin typeface="Google Sans"/>
              </a:rPr>
              <a:t> could also be a candidate key if each student has a unique phone number.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rgbClr val="0A0A0A"/>
                </a:solidFill>
                <a:effectLst/>
                <a:latin typeface="Google Sans"/>
              </a:rPr>
              <a:t>In this case, </a:t>
            </a:r>
            <a:r>
              <a:rPr kumimoji="0" lang="en-US" altLang="en-US" b="0" i="0" u="none" strike="noStrike" cap="none" normalizeH="0" baseline="0" dirty="0" err="1">
                <a:ln>
                  <a:noFill/>
                </a:ln>
                <a:solidFill>
                  <a:srgbClr val="0A0A0A"/>
                </a:solidFill>
                <a:effectLst/>
                <a:latin typeface="Courier New" panose="02070309020205020404" pitchFamily="49" charset="0"/>
                <a:cs typeface="Courier New" panose="02070309020205020404" pitchFamily="49" charset="0"/>
              </a:rPr>
              <a:t>StudentID</a:t>
            </a:r>
            <a:r>
              <a:rPr kumimoji="0" lang="en-US" altLang="en-US" sz="2800" b="0" i="0" u="none" strike="noStrike" cap="none" normalizeH="0" baseline="0" dirty="0">
                <a:ln>
                  <a:noFill/>
                </a:ln>
                <a:solidFill>
                  <a:srgbClr val="0A0A0A"/>
                </a:solidFill>
                <a:effectLst/>
                <a:latin typeface="Google Sans"/>
              </a:rPr>
              <a:t>, </a:t>
            </a:r>
            <a:r>
              <a:rPr kumimoji="0" lang="en-US" altLang="en-US" b="0" i="0" u="none" strike="noStrike" cap="none" normalizeH="0" baseline="0" dirty="0">
                <a:ln>
                  <a:noFill/>
                </a:ln>
                <a:solidFill>
                  <a:srgbClr val="0A0A0A"/>
                </a:solidFill>
                <a:effectLst/>
                <a:latin typeface="Courier New" panose="02070309020205020404" pitchFamily="49" charset="0"/>
                <a:cs typeface="Courier New" panose="02070309020205020404" pitchFamily="49" charset="0"/>
              </a:rPr>
              <a:t>Email</a:t>
            </a:r>
            <a:r>
              <a:rPr kumimoji="0" lang="en-US" altLang="en-US" sz="2800" b="0" i="0" u="none" strike="noStrike" cap="none" normalizeH="0" baseline="0" dirty="0">
                <a:ln>
                  <a:noFill/>
                </a:ln>
                <a:solidFill>
                  <a:srgbClr val="0A0A0A"/>
                </a:solidFill>
                <a:effectLst/>
                <a:latin typeface="Google Sans"/>
              </a:rPr>
              <a:t>, and </a:t>
            </a:r>
            <a:r>
              <a:rPr kumimoji="0" lang="en-US" altLang="en-US" b="0" i="0" u="none" strike="noStrike" cap="none" normalizeH="0" baseline="0" dirty="0">
                <a:ln>
                  <a:noFill/>
                </a:ln>
                <a:solidFill>
                  <a:srgbClr val="0A0A0A"/>
                </a:solidFill>
                <a:effectLst/>
                <a:latin typeface="Courier New" panose="02070309020205020404" pitchFamily="49" charset="0"/>
                <a:cs typeface="Courier New" panose="02070309020205020404" pitchFamily="49" charset="0"/>
              </a:rPr>
              <a:t>Phone</a:t>
            </a:r>
            <a:r>
              <a:rPr kumimoji="0" lang="en-US" altLang="en-US" sz="2800" b="0" i="0" u="none" strike="noStrike" cap="none" normalizeH="0" baseline="0" dirty="0">
                <a:ln>
                  <a:noFill/>
                </a:ln>
                <a:solidFill>
                  <a:srgbClr val="0A0A0A"/>
                </a:solidFill>
                <a:effectLst/>
                <a:latin typeface="Google Sans"/>
              </a:rPr>
              <a:t> are all candidate keys.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rgbClr val="0A0A0A"/>
                </a:solidFill>
                <a:effectLst/>
                <a:latin typeface="Google Sans"/>
              </a:rPr>
              <a:t>The database designer would then choose one of them (e.g., </a:t>
            </a:r>
            <a:r>
              <a:rPr kumimoji="0" lang="en-US" altLang="en-US" b="0" i="0" u="none" strike="noStrike" cap="none" normalizeH="0" baseline="0" dirty="0" err="1">
                <a:ln>
                  <a:noFill/>
                </a:ln>
                <a:solidFill>
                  <a:srgbClr val="0A0A0A"/>
                </a:solidFill>
                <a:effectLst/>
                <a:latin typeface="Courier New" panose="02070309020205020404" pitchFamily="49" charset="0"/>
                <a:cs typeface="Courier New" panose="02070309020205020404" pitchFamily="49" charset="0"/>
              </a:rPr>
              <a:t>StudentID</a:t>
            </a:r>
            <a:r>
              <a:rPr kumimoji="0" lang="en-US" altLang="en-US" sz="2800" b="0" i="0" u="none" strike="noStrike" cap="none" normalizeH="0" baseline="0" dirty="0">
                <a:ln>
                  <a:noFill/>
                </a:ln>
                <a:solidFill>
                  <a:srgbClr val="0A0A0A"/>
                </a:solidFill>
                <a:effectLst/>
                <a:latin typeface="Google Sans"/>
              </a:rPr>
              <a:t>) as the primary key, and the other(s) would be designated as alternate keys.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26346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FOREIGN KEY in one table points to a PRIMARY KEY in another table.</a:t>
            </a:r>
          </a:p>
          <a:p>
            <a:endParaRPr lang="en-US" dirty="0"/>
          </a:p>
        </p:txBody>
      </p:sp>
      <p:sp>
        <p:nvSpPr>
          <p:cNvPr id="3" name="Title 2"/>
          <p:cNvSpPr>
            <a:spLocks noGrp="1"/>
          </p:cNvSpPr>
          <p:nvPr>
            <p:ph type="title"/>
          </p:nvPr>
        </p:nvSpPr>
        <p:spPr/>
        <p:txBody>
          <a:bodyPr>
            <a:normAutofit/>
          </a:bodyPr>
          <a:lstStyle/>
          <a:p>
            <a:r>
              <a:rPr lang="en-US" b="0" dirty="0"/>
              <a:t>SQL FOREIGN KEY Constraint</a:t>
            </a:r>
            <a:endParaRPr lang="en-US" dirty="0"/>
          </a:p>
        </p:txBody>
      </p:sp>
      <p:graphicFrame>
        <p:nvGraphicFramePr>
          <p:cNvPr id="4" name="Table 3"/>
          <p:cNvGraphicFramePr>
            <a:graphicFrameLocks noGrp="1"/>
          </p:cNvGraphicFramePr>
          <p:nvPr/>
        </p:nvGraphicFramePr>
        <p:xfrm>
          <a:off x="381000" y="2438400"/>
          <a:ext cx="5791200" cy="1425618"/>
        </p:xfrm>
        <a:graphic>
          <a:graphicData uri="http://schemas.openxmlformats.org/drawingml/2006/table">
            <a:tbl>
              <a:tblPr/>
              <a:tblGrid>
                <a:gridCol w="115824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gridCol w="1158240">
                  <a:extLst>
                    <a:ext uri="{9D8B030D-6E8A-4147-A177-3AD203B41FA5}">
                      <a16:colId xmlns:a16="http://schemas.microsoft.com/office/drawing/2014/main" val="20002"/>
                    </a:ext>
                  </a:extLst>
                </a:gridCol>
                <a:gridCol w="1158240">
                  <a:extLst>
                    <a:ext uri="{9D8B030D-6E8A-4147-A177-3AD203B41FA5}">
                      <a16:colId xmlns:a16="http://schemas.microsoft.com/office/drawing/2014/main" val="20003"/>
                    </a:ext>
                  </a:extLst>
                </a:gridCol>
                <a:gridCol w="1158240">
                  <a:extLst>
                    <a:ext uri="{9D8B030D-6E8A-4147-A177-3AD203B41FA5}">
                      <a16:colId xmlns:a16="http://schemas.microsoft.com/office/drawing/2014/main" val="20004"/>
                    </a:ext>
                  </a:extLst>
                </a:gridCol>
              </a:tblGrid>
              <a:tr h="258393">
                <a:tc>
                  <a:txBody>
                    <a:bodyPr/>
                    <a:lstStyle/>
                    <a:p>
                      <a:pPr algn="l" fontAlgn="t"/>
                      <a:r>
                        <a:rPr lang="en-US" sz="1400" dirty="0" err="1">
                          <a:solidFill>
                            <a:srgbClr val="FFFFFF"/>
                          </a:solidFill>
                          <a:latin typeface="verdana"/>
                        </a:rPr>
                        <a:t>P_Id</a:t>
                      </a:r>
                      <a:endParaRPr lang="en-US" sz="1400" dirty="0">
                        <a:solidFill>
                          <a:srgbClr val="FFFFFF"/>
                        </a:solidFill>
                        <a:latin typeface="verdana"/>
                      </a:endParaRPr>
                    </a:p>
                  </a:txBody>
                  <a:tcPr marL="22275" marR="22275" marT="22275" marB="222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en-US" sz="1400" dirty="0" err="1">
                          <a:solidFill>
                            <a:srgbClr val="FFFFFF"/>
                          </a:solidFill>
                          <a:latin typeface="verdana"/>
                        </a:rPr>
                        <a:t>LastName</a:t>
                      </a:r>
                      <a:endParaRPr lang="en-US" sz="1400" dirty="0">
                        <a:solidFill>
                          <a:srgbClr val="FFFFFF"/>
                        </a:solidFill>
                        <a:latin typeface="verdana"/>
                      </a:endParaRPr>
                    </a:p>
                  </a:txBody>
                  <a:tcPr marL="22275" marR="22275" marT="22275" marB="222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en-US" sz="1400">
                          <a:solidFill>
                            <a:srgbClr val="FFFFFF"/>
                          </a:solidFill>
                          <a:latin typeface="verdana"/>
                        </a:rPr>
                        <a:t>FirstName</a:t>
                      </a:r>
                    </a:p>
                  </a:txBody>
                  <a:tcPr marL="22275" marR="22275" marT="22275" marB="222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en-US" sz="1400">
                          <a:solidFill>
                            <a:srgbClr val="FFFFFF"/>
                          </a:solidFill>
                          <a:latin typeface="verdana"/>
                        </a:rPr>
                        <a:t>Address</a:t>
                      </a:r>
                    </a:p>
                  </a:txBody>
                  <a:tcPr marL="22275" marR="22275" marT="22275" marB="222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en-US" sz="1400">
                          <a:solidFill>
                            <a:srgbClr val="FFFFFF"/>
                          </a:solidFill>
                          <a:latin typeface="verdana"/>
                        </a:rPr>
                        <a:t>City</a:t>
                      </a:r>
                    </a:p>
                  </a:txBody>
                  <a:tcPr marL="22275" marR="22275" marT="22275" marB="222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10000"/>
                  </a:ext>
                </a:extLst>
              </a:tr>
              <a:tr h="531637">
                <a:tc>
                  <a:txBody>
                    <a:bodyPr/>
                    <a:lstStyle/>
                    <a:p>
                      <a:pPr fontAlgn="t"/>
                      <a:r>
                        <a:rPr lang="en-US" sz="1400">
                          <a:latin typeface="verdana"/>
                        </a:rPr>
                        <a:t>1</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a:latin typeface="verdana"/>
                        </a:rPr>
                        <a:t>Hansen</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a:latin typeface="verdana"/>
                        </a:rPr>
                        <a:t>Ola</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a:latin typeface="verdana"/>
                        </a:rPr>
                        <a:t>Timoteivn 10</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dirty="0" err="1">
                          <a:latin typeface="verdana"/>
                        </a:rPr>
                        <a:t>Sandnes</a:t>
                      </a:r>
                      <a:endParaRPr lang="en-US" sz="1400" dirty="0">
                        <a:latin typeface="verdana"/>
                      </a:endParaRP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7794">
                <a:tc>
                  <a:txBody>
                    <a:bodyPr/>
                    <a:lstStyle/>
                    <a:p>
                      <a:pPr fontAlgn="t"/>
                      <a:r>
                        <a:rPr lang="en-US" sz="1400">
                          <a:latin typeface="verdana"/>
                        </a:rPr>
                        <a:t>2</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sz="1400">
                          <a:latin typeface="verdana"/>
                        </a:rPr>
                        <a:t>Svendson</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sz="1400">
                          <a:latin typeface="verdana"/>
                        </a:rPr>
                        <a:t>Tove</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sz="1400">
                          <a:latin typeface="verdana"/>
                        </a:rPr>
                        <a:t>Borgvn 23</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sz="1400">
                          <a:latin typeface="verdana"/>
                        </a:rPr>
                        <a:t>Sandnes</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2"/>
                  </a:ext>
                </a:extLst>
              </a:tr>
              <a:tr h="317794">
                <a:tc>
                  <a:txBody>
                    <a:bodyPr/>
                    <a:lstStyle/>
                    <a:p>
                      <a:pPr fontAlgn="t"/>
                      <a:r>
                        <a:rPr lang="en-US" sz="1400">
                          <a:latin typeface="verdana"/>
                        </a:rPr>
                        <a:t>3</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a:latin typeface="verdana"/>
                        </a:rPr>
                        <a:t>Pettersen</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a:latin typeface="verdana"/>
                        </a:rPr>
                        <a:t>Kari</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a:latin typeface="verdana"/>
                        </a:rPr>
                        <a:t>Storgt 20</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sz="1400" dirty="0">
                          <a:latin typeface="verdana"/>
                        </a:rPr>
                        <a:t>Stavanger</a:t>
                      </a:r>
                    </a:p>
                  </a:txBody>
                  <a:tcPr marL="37125" marR="37125" marT="51976" marB="51976">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nvGraphicFramePr>
        <p:xfrm>
          <a:off x="5791200" y="4038600"/>
          <a:ext cx="2943225" cy="2522638"/>
        </p:xfrm>
        <a:graphic>
          <a:graphicData uri="http://schemas.openxmlformats.org/drawingml/2006/table">
            <a:tbl>
              <a:tblPr/>
              <a:tblGrid>
                <a:gridCol w="635794">
                  <a:extLst>
                    <a:ext uri="{9D8B030D-6E8A-4147-A177-3AD203B41FA5}">
                      <a16:colId xmlns:a16="http://schemas.microsoft.com/office/drawing/2014/main" val="20000"/>
                    </a:ext>
                  </a:extLst>
                </a:gridCol>
                <a:gridCol w="888206">
                  <a:extLst>
                    <a:ext uri="{9D8B030D-6E8A-4147-A177-3AD203B41FA5}">
                      <a16:colId xmlns:a16="http://schemas.microsoft.com/office/drawing/2014/main" val="20001"/>
                    </a:ext>
                  </a:extLst>
                </a:gridCol>
                <a:gridCol w="1419225">
                  <a:extLst>
                    <a:ext uri="{9D8B030D-6E8A-4147-A177-3AD203B41FA5}">
                      <a16:colId xmlns:a16="http://schemas.microsoft.com/office/drawing/2014/main" val="20002"/>
                    </a:ext>
                  </a:extLst>
                </a:gridCol>
              </a:tblGrid>
              <a:tr h="425668">
                <a:tc>
                  <a:txBody>
                    <a:bodyPr/>
                    <a:lstStyle/>
                    <a:p>
                      <a:pPr algn="l" fontAlgn="t"/>
                      <a:r>
                        <a:rPr lang="en-US" dirty="0" err="1">
                          <a:solidFill>
                            <a:srgbClr val="FFFFFF"/>
                          </a:solidFill>
                          <a:latin typeface="verdana"/>
                        </a:rPr>
                        <a:t>O_Id</a:t>
                      </a:r>
                      <a:endParaRPr lang="en-US" dirty="0">
                        <a:solidFill>
                          <a:srgbClr val="FFFFFF"/>
                        </a:solidFill>
                        <a:latin typeface="verdana"/>
                      </a:endParaRP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en-US" dirty="0" err="1">
                          <a:solidFill>
                            <a:srgbClr val="FFFFFF"/>
                          </a:solidFill>
                          <a:latin typeface="verdana"/>
                        </a:rPr>
                        <a:t>OrderNo</a:t>
                      </a:r>
                      <a:endParaRPr lang="en-US" dirty="0">
                        <a:solidFill>
                          <a:srgbClr val="FFFFFF"/>
                        </a:solidFill>
                        <a:latin typeface="verdana"/>
                      </a:endParaRP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en-US">
                          <a:solidFill>
                            <a:srgbClr val="FFFFFF"/>
                          </a:solidFill>
                          <a:latin typeface="verdana"/>
                        </a:rPr>
                        <a:t>P_Id</a:t>
                      </a: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10000"/>
                  </a:ext>
                </a:extLst>
              </a:tr>
              <a:tr h="479212">
                <a:tc>
                  <a:txBody>
                    <a:bodyPr/>
                    <a:lstStyle/>
                    <a:p>
                      <a:pPr fontAlgn="t"/>
                      <a:r>
                        <a:rPr lang="en-US">
                          <a:latin typeface="verdana"/>
                        </a:rPr>
                        <a:t>1</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atin typeface="verdana"/>
                        </a:rPr>
                        <a:t>77895</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atin typeface="verdana"/>
                        </a:rPr>
                        <a:t>3</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9212">
                <a:tc>
                  <a:txBody>
                    <a:bodyPr/>
                    <a:lstStyle/>
                    <a:p>
                      <a:pPr fontAlgn="t"/>
                      <a:r>
                        <a:rPr lang="en-US">
                          <a:latin typeface="verdana"/>
                        </a:rPr>
                        <a:t>2</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a:latin typeface="verdana"/>
                        </a:rPr>
                        <a:t>44678</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a:latin typeface="verdana"/>
                        </a:rPr>
                        <a:t>3</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2"/>
                  </a:ext>
                </a:extLst>
              </a:tr>
              <a:tr h="479212">
                <a:tc>
                  <a:txBody>
                    <a:bodyPr/>
                    <a:lstStyle/>
                    <a:p>
                      <a:pPr fontAlgn="t"/>
                      <a:r>
                        <a:rPr lang="en-US">
                          <a:latin typeface="verdana"/>
                        </a:rPr>
                        <a:t>3</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atin typeface="verdana"/>
                        </a:rPr>
                        <a:t>22456</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atin typeface="verdana"/>
                        </a:rPr>
                        <a:t>2</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9212">
                <a:tc>
                  <a:txBody>
                    <a:bodyPr/>
                    <a:lstStyle/>
                    <a:p>
                      <a:pPr fontAlgn="t"/>
                      <a:r>
                        <a:rPr lang="en-US">
                          <a:latin typeface="verdana"/>
                        </a:rPr>
                        <a:t>4</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a:latin typeface="verdana"/>
                        </a:rPr>
                        <a:t>24562</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dirty="0">
                          <a:latin typeface="verdana"/>
                        </a:rPr>
                        <a:t>1</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324600" y="2362200"/>
            <a:ext cx="1295400" cy="369332"/>
          </a:xfrm>
          <a:prstGeom prst="rect">
            <a:avLst/>
          </a:prstGeom>
          <a:noFill/>
        </p:spPr>
        <p:txBody>
          <a:bodyPr wrap="square" rtlCol="0">
            <a:spAutoFit/>
          </a:bodyPr>
          <a:lstStyle/>
          <a:p>
            <a:r>
              <a:rPr lang="en-US" b="1" dirty="0"/>
              <a:t>Persons</a:t>
            </a:r>
          </a:p>
        </p:txBody>
      </p:sp>
      <p:sp>
        <p:nvSpPr>
          <p:cNvPr id="8" name="TextBox 7"/>
          <p:cNvSpPr txBox="1"/>
          <p:nvPr/>
        </p:nvSpPr>
        <p:spPr>
          <a:xfrm>
            <a:off x="4191000" y="4876800"/>
            <a:ext cx="1066800" cy="369332"/>
          </a:xfrm>
          <a:prstGeom prst="rect">
            <a:avLst/>
          </a:prstGeom>
          <a:noFill/>
        </p:spPr>
        <p:txBody>
          <a:bodyPr wrap="square" rtlCol="0">
            <a:spAutoFit/>
          </a:bodyPr>
          <a:lstStyle/>
          <a:p>
            <a:r>
              <a:rPr lang="en-US" b="1" dirty="0"/>
              <a:t>Orders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Note that the "</a:t>
            </a:r>
            <a:r>
              <a:rPr lang="en-US" dirty="0" err="1"/>
              <a:t>P_Id</a:t>
            </a:r>
            <a:r>
              <a:rPr lang="en-US" dirty="0"/>
              <a:t>" column in the "Orders" table points to the "</a:t>
            </a:r>
            <a:r>
              <a:rPr lang="en-US" dirty="0" err="1"/>
              <a:t>P_Id</a:t>
            </a:r>
            <a:r>
              <a:rPr lang="en-US" dirty="0"/>
              <a:t>" column in the "Persons" table.</a:t>
            </a:r>
          </a:p>
          <a:p>
            <a:r>
              <a:rPr lang="en-US" dirty="0"/>
              <a:t>The "</a:t>
            </a:r>
            <a:r>
              <a:rPr lang="en-US" dirty="0" err="1"/>
              <a:t>P_Id</a:t>
            </a:r>
            <a:r>
              <a:rPr lang="en-US" dirty="0"/>
              <a:t>" column in the "Persons" table is the PRIMARY KEY in the "Persons" table.</a:t>
            </a:r>
          </a:p>
          <a:p>
            <a:r>
              <a:rPr lang="en-US" dirty="0"/>
              <a:t>The "</a:t>
            </a:r>
            <a:r>
              <a:rPr lang="en-US" dirty="0" err="1"/>
              <a:t>P_Id</a:t>
            </a:r>
            <a:r>
              <a:rPr lang="en-US" dirty="0"/>
              <a:t>" column in the "Orders" table is a FOREIGN KEY in the "Orders" table.</a:t>
            </a:r>
          </a:p>
          <a:p>
            <a:r>
              <a:rPr lang="en-US" dirty="0"/>
              <a:t>The FOREIGN KEY constraint is used to prevent actions that would destroy links between tables.</a:t>
            </a:r>
          </a:p>
          <a:p>
            <a:r>
              <a:rPr lang="en-US" dirty="0"/>
              <a:t>The FOREIGN KEY constraint also prevents invalid data from being inserted into the foreign key column, because it has to be one of the values contained in the table it points to.</a:t>
            </a:r>
          </a:p>
          <a:p>
            <a:endParaRPr lang="en-US" dirty="0"/>
          </a:p>
        </p:txBody>
      </p:sp>
      <p:sp>
        <p:nvSpPr>
          <p:cNvPr id="3" name="Title 2"/>
          <p:cNvSpPr>
            <a:spLocks noGrp="1"/>
          </p:cNvSpPr>
          <p:nvPr>
            <p:ph type="title"/>
          </p:nvPr>
        </p:nvSpPr>
        <p:spPr/>
        <p:txBody>
          <a:bodyPr/>
          <a:lstStyle/>
          <a:p>
            <a:r>
              <a:rPr lang="en-US" b="0" dirty="0"/>
              <a:t>FOREIGN KEY Constraint…</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None/>
            </a:pPr>
            <a:r>
              <a:rPr lang="en-US" dirty="0"/>
              <a:t>CREATE TABLE Orders (</a:t>
            </a:r>
            <a:br>
              <a:rPr lang="en-US" dirty="0"/>
            </a:br>
            <a:r>
              <a:rPr lang="en-US" dirty="0" err="1"/>
              <a:t>O_Id</a:t>
            </a:r>
            <a:r>
              <a:rPr lang="en-US" dirty="0"/>
              <a:t> </a:t>
            </a:r>
            <a:r>
              <a:rPr lang="en-US" dirty="0" err="1"/>
              <a:t>int</a:t>
            </a:r>
            <a:r>
              <a:rPr lang="en-US" dirty="0"/>
              <a:t> NOT NULL,</a:t>
            </a:r>
            <a:br>
              <a:rPr lang="en-US" dirty="0"/>
            </a:br>
            <a:r>
              <a:rPr lang="en-US" dirty="0" err="1"/>
              <a:t>OrderNo</a:t>
            </a:r>
            <a:r>
              <a:rPr lang="en-US" dirty="0"/>
              <a:t> </a:t>
            </a:r>
            <a:r>
              <a:rPr lang="en-US" dirty="0" err="1"/>
              <a:t>int</a:t>
            </a:r>
            <a:r>
              <a:rPr lang="en-US" dirty="0"/>
              <a:t> NOT NULL,</a:t>
            </a:r>
            <a:br>
              <a:rPr lang="en-US" dirty="0"/>
            </a:br>
            <a:r>
              <a:rPr lang="en-US" dirty="0" err="1"/>
              <a:t>P_Id</a:t>
            </a:r>
            <a:r>
              <a:rPr lang="en-US" dirty="0"/>
              <a:t> </a:t>
            </a:r>
            <a:r>
              <a:rPr lang="en-US" dirty="0" err="1"/>
              <a:t>int</a:t>
            </a:r>
            <a:r>
              <a:rPr lang="en-US" dirty="0"/>
              <a:t>,</a:t>
            </a:r>
            <a:br>
              <a:rPr lang="en-US" dirty="0"/>
            </a:br>
            <a:r>
              <a:rPr lang="en-US" dirty="0"/>
              <a:t>PRIMARY KEY (</a:t>
            </a:r>
            <a:r>
              <a:rPr lang="en-US" dirty="0" err="1"/>
              <a:t>O_Id</a:t>
            </a:r>
            <a:r>
              <a:rPr lang="en-US" dirty="0"/>
              <a:t>),</a:t>
            </a:r>
            <a:br>
              <a:rPr lang="en-US" dirty="0"/>
            </a:br>
            <a:r>
              <a:rPr lang="en-US" dirty="0"/>
              <a:t>FOREIGN KEY (</a:t>
            </a:r>
            <a:r>
              <a:rPr lang="en-US" dirty="0" err="1"/>
              <a:t>P_Id</a:t>
            </a:r>
            <a:r>
              <a:rPr lang="en-US" dirty="0"/>
              <a:t>) REFERENCES Persons(</a:t>
            </a:r>
            <a:r>
              <a:rPr lang="en-US" dirty="0" err="1"/>
              <a:t>P_Id</a:t>
            </a:r>
            <a:r>
              <a:rPr lang="en-US" dirty="0"/>
              <a:t>)</a:t>
            </a:r>
            <a:br>
              <a:rPr lang="en-US" dirty="0"/>
            </a:br>
            <a:r>
              <a:rPr lang="en-US" dirty="0"/>
              <a:t>)</a:t>
            </a:r>
          </a:p>
          <a:p>
            <a:pPr>
              <a:buNone/>
            </a:pPr>
            <a:endParaRPr lang="en-US" dirty="0"/>
          </a:p>
          <a:p>
            <a:pPr>
              <a:buNone/>
            </a:pPr>
            <a:r>
              <a:rPr lang="en-US" dirty="0"/>
              <a:t>ALTER TABLE Orders</a:t>
            </a:r>
            <a:br>
              <a:rPr lang="en-US" dirty="0"/>
            </a:br>
            <a:r>
              <a:rPr lang="en-US" dirty="0"/>
              <a:t>DROP FOREIGN KEY </a:t>
            </a:r>
            <a:r>
              <a:rPr lang="en-US" dirty="0" err="1"/>
              <a:t>fk_PerOrders</a:t>
            </a:r>
            <a:endParaRPr lang="en-US" dirty="0"/>
          </a:p>
        </p:txBody>
      </p:sp>
      <p:sp>
        <p:nvSpPr>
          <p:cNvPr id="3" name="Title 2"/>
          <p:cNvSpPr>
            <a:spLocks noGrp="1"/>
          </p:cNvSpPr>
          <p:nvPr>
            <p:ph type="title"/>
          </p:nvPr>
        </p:nvSpPr>
        <p:spPr/>
        <p:txBody>
          <a:bodyPr/>
          <a:lstStyle/>
          <a:p>
            <a:r>
              <a:rPr lang="en-US" b="0" dirty="0"/>
              <a:t>FOREIGN KEY Constraint Syntax</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CHECK constraint is used to limit the value range that can be placed in a column.</a:t>
            </a:r>
          </a:p>
          <a:p>
            <a:r>
              <a:rPr lang="en-US" dirty="0"/>
              <a:t>If you define a CHECK constraint on a single column it allows only certain values for this column.</a:t>
            </a:r>
          </a:p>
          <a:p>
            <a:r>
              <a:rPr lang="en-US" dirty="0"/>
              <a:t>If you define a CHECK constraint on a table it can limit the values in certain columns based on values in other columns in the row.</a:t>
            </a:r>
          </a:p>
          <a:p>
            <a:pPr>
              <a:buNone/>
            </a:pPr>
            <a:endParaRPr lang="en-US" dirty="0"/>
          </a:p>
        </p:txBody>
      </p:sp>
      <p:sp>
        <p:nvSpPr>
          <p:cNvPr id="3" name="Title 2"/>
          <p:cNvSpPr>
            <a:spLocks noGrp="1"/>
          </p:cNvSpPr>
          <p:nvPr>
            <p:ph type="title"/>
          </p:nvPr>
        </p:nvSpPr>
        <p:spPr/>
        <p:txBody>
          <a:bodyPr>
            <a:normAutofit/>
          </a:bodyPr>
          <a:lstStyle/>
          <a:p>
            <a:r>
              <a:rPr lang="en-US" b="0" dirty="0"/>
              <a:t>SQL CHECK Constraint</a:t>
            </a: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US" dirty="0"/>
              <a:t>CREATE TABLE Persons</a:t>
            </a:r>
            <a:br>
              <a:rPr lang="en-US" dirty="0"/>
            </a:br>
            <a:r>
              <a:rPr lang="en-US" dirty="0"/>
              <a:t>(</a:t>
            </a:r>
            <a:br>
              <a:rPr lang="en-US" dirty="0"/>
            </a:br>
            <a:r>
              <a:rPr lang="en-US" dirty="0" err="1"/>
              <a:t>P_Id</a:t>
            </a:r>
            <a:r>
              <a:rPr lang="en-US" dirty="0"/>
              <a:t> </a:t>
            </a:r>
            <a:r>
              <a:rPr lang="en-US" dirty="0" err="1"/>
              <a:t>int</a:t>
            </a:r>
            <a:r>
              <a:rPr lang="en-US" dirty="0"/>
              <a:t> NOT NULL,</a:t>
            </a:r>
            <a:br>
              <a:rPr lang="en-US" dirty="0"/>
            </a:br>
            <a:r>
              <a:rPr lang="en-US" dirty="0" err="1"/>
              <a:t>LastName</a:t>
            </a:r>
            <a:r>
              <a:rPr lang="en-US" dirty="0"/>
              <a:t> </a:t>
            </a:r>
            <a:r>
              <a:rPr lang="en-US" dirty="0" err="1"/>
              <a:t>varchar</a:t>
            </a:r>
            <a:r>
              <a:rPr lang="en-US" dirty="0"/>
              <a:t>(255) NOT NULL,</a:t>
            </a:r>
            <a:br>
              <a:rPr lang="en-US" dirty="0"/>
            </a:br>
            <a:r>
              <a:rPr lang="en-US" dirty="0" err="1"/>
              <a:t>FirstName</a:t>
            </a:r>
            <a:r>
              <a:rPr lang="en-US" dirty="0"/>
              <a:t> </a:t>
            </a:r>
            <a:r>
              <a:rPr lang="en-US" dirty="0" err="1"/>
              <a:t>varchar</a:t>
            </a:r>
            <a:r>
              <a:rPr lang="en-US" dirty="0"/>
              <a:t>(255),</a:t>
            </a:r>
            <a:br>
              <a:rPr lang="en-US" dirty="0"/>
            </a:br>
            <a:r>
              <a:rPr lang="en-US" dirty="0"/>
              <a:t>Address </a:t>
            </a:r>
            <a:r>
              <a:rPr lang="en-US" dirty="0" err="1"/>
              <a:t>varchar</a:t>
            </a:r>
            <a:r>
              <a:rPr lang="en-US" dirty="0"/>
              <a:t>(255),</a:t>
            </a:r>
            <a:br>
              <a:rPr lang="en-US" dirty="0"/>
            </a:br>
            <a:r>
              <a:rPr lang="en-US" dirty="0"/>
              <a:t>City </a:t>
            </a:r>
            <a:r>
              <a:rPr lang="en-US" dirty="0" err="1"/>
              <a:t>varchar</a:t>
            </a:r>
            <a:r>
              <a:rPr lang="en-US" dirty="0"/>
              <a:t>(255),</a:t>
            </a:r>
            <a:br>
              <a:rPr lang="en-US" dirty="0"/>
            </a:br>
            <a:r>
              <a:rPr lang="en-US" dirty="0"/>
              <a:t>CHECK (</a:t>
            </a:r>
            <a:r>
              <a:rPr lang="en-US" dirty="0" err="1"/>
              <a:t>P_Id</a:t>
            </a:r>
            <a:r>
              <a:rPr lang="en-US" dirty="0"/>
              <a:t>&gt;0)</a:t>
            </a:r>
            <a:br>
              <a:rPr lang="en-US" dirty="0"/>
            </a:br>
            <a:r>
              <a:rPr lang="en-US" dirty="0"/>
              <a:t>)</a:t>
            </a:r>
          </a:p>
          <a:p>
            <a:pPr>
              <a:buNone/>
            </a:pPr>
            <a:r>
              <a:rPr lang="en-US" dirty="0"/>
              <a:t>"</a:t>
            </a:r>
            <a:r>
              <a:rPr lang="en-US" dirty="0" err="1"/>
              <a:t>P_Id</a:t>
            </a:r>
            <a:r>
              <a:rPr lang="en-US" dirty="0"/>
              <a:t>" must only include integers greater than 0.</a:t>
            </a:r>
          </a:p>
        </p:txBody>
      </p:sp>
      <p:sp>
        <p:nvSpPr>
          <p:cNvPr id="3" name="Title 2"/>
          <p:cNvSpPr>
            <a:spLocks noGrp="1"/>
          </p:cNvSpPr>
          <p:nvPr>
            <p:ph type="title"/>
          </p:nvPr>
        </p:nvSpPr>
        <p:spPr/>
        <p:txBody>
          <a:bodyPr>
            <a:normAutofit fontScale="90000"/>
          </a:bodyPr>
          <a:lstStyle/>
          <a:p>
            <a:r>
              <a:rPr lang="en-US" b="0" dirty="0"/>
              <a:t>CHECK Constraint on CREATE TABLE</a:t>
            </a: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767072"/>
          </a:xfrm>
        </p:spPr>
        <p:txBody>
          <a:bodyPr>
            <a:normAutofit fontScale="92500" lnSpcReduction="10000"/>
          </a:bodyPr>
          <a:lstStyle/>
          <a:p>
            <a:r>
              <a:rPr lang="en-US" dirty="0"/>
              <a:t>The DEFAULT constraint is used to insert a default value into a column.</a:t>
            </a:r>
          </a:p>
          <a:p>
            <a:r>
              <a:rPr lang="en-US" dirty="0"/>
              <a:t>The default value will be added to all new records, if no other value is specified. </a:t>
            </a:r>
          </a:p>
          <a:p>
            <a:endParaRPr lang="en-US" dirty="0"/>
          </a:p>
          <a:p>
            <a:pPr>
              <a:buNone/>
            </a:pPr>
            <a:r>
              <a:rPr lang="en-US" dirty="0"/>
              <a:t>  CREATE TABLE Persons</a:t>
            </a:r>
            <a:br>
              <a:rPr lang="en-US" dirty="0"/>
            </a:br>
            <a:r>
              <a:rPr lang="en-US" dirty="0"/>
              <a:t>(</a:t>
            </a:r>
            <a:br>
              <a:rPr lang="en-US" dirty="0"/>
            </a:br>
            <a:r>
              <a:rPr lang="en-US" dirty="0" err="1"/>
              <a:t>P_Id</a:t>
            </a:r>
            <a:r>
              <a:rPr lang="en-US" dirty="0"/>
              <a:t> </a:t>
            </a:r>
            <a:r>
              <a:rPr lang="en-US" dirty="0" err="1"/>
              <a:t>int</a:t>
            </a:r>
            <a:r>
              <a:rPr lang="en-US" dirty="0"/>
              <a:t> NOT NULL,</a:t>
            </a:r>
            <a:br>
              <a:rPr lang="en-US" dirty="0"/>
            </a:br>
            <a:r>
              <a:rPr lang="en-US" dirty="0" err="1"/>
              <a:t>LastName</a:t>
            </a:r>
            <a:r>
              <a:rPr lang="en-US" dirty="0"/>
              <a:t> </a:t>
            </a:r>
            <a:r>
              <a:rPr lang="en-US" dirty="0" err="1"/>
              <a:t>varchar</a:t>
            </a:r>
            <a:r>
              <a:rPr lang="en-US" dirty="0"/>
              <a:t>(255) NOT NULL,</a:t>
            </a:r>
            <a:br>
              <a:rPr lang="en-US" dirty="0"/>
            </a:br>
            <a:r>
              <a:rPr lang="en-US" dirty="0" err="1"/>
              <a:t>FirstName</a:t>
            </a:r>
            <a:r>
              <a:rPr lang="en-US" dirty="0"/>
              <a:t> </a:t>
            </a:r>
            <a:r>
              <a:rPr lang="en-US" dirty="0" err="1"/>
              <a:t>varchar</a:t>
            </a:r>
            <a:r>
              <a:rPr lang="en-US" dirty="0"/>
              <a:t>(255),</a:t>
            </a:r>
            <a:br>
              <a:rPr lang="en-US" dirty="0"/>
            </a:br>
            <a:r>
              <a:rPr lang="en-US" dirty="0"/>
              <a:t>Address </a:t>
            </a:r>
            <a:r>
              <a:rPr lang="en-US" dirty="0" err="1"/>
              <a:t>varchar</a:t>
            </a:r>
            <a:r>
              <a:rPr lang="en-US" dirty="0"/>
              <a:t>(255),</a:t>
            </a:r>
            <a:br>
              <a:rPr lang="en-US" dirty="0"/>
            </a:br>
            <a:r>
              <a:rPr lang="en-US" dirty="0"/>
              <a:t>City </a:t>
            </a:r>
            <a:r>
              <a:rPr lang="en-US" dirty="0" err="1"/>
              <a:t>varchar</a:t>
            </a:r>
            <a:r>
              <a:rPr lang="en-US" dirty="0"/>
              <a:t>(255) DEFAULT '</a:t>
            </a:r>
            <a:r>
              <a:rPr lang="en-US" dirty="0" err="1"/>
              <a:t>Sandnes</a:t>
            </a:r>
            <a:r>
              <a:rPr lang="en-US" dirty="0"/>
              <a:t>’)</a:t>
            </a:r>
          </a:p>
        </p:txBody>
      </p:sp>
      <p:sp>
        <p:nvSpPr>
          <p:cNvPr id="3" name="Title 2"/>
          <p:cNvSpPr>
            <a:spLocks noGrp="1"/>
          </p:cNvSpPr>
          <p:nvPr>
            <p:ph type="title"/>
          </p:nvPr>
        </p:nvSpPr>
        <p:spPr/>
        <p:txBody>
          <a:bodyPr>
            <a:normAutofit/>
          </a:bodyPr>
          <a:lstStyle/>
          <a:p>
            <a:r>
              <a:rPr lang="en-US" b="0" dirty="0"/>
              <a:t>SQL DEFAULT Constraint</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BE64C0-5D5B-B487-EFC5-3E500B1714E8}"/>
              </a:ext>
            </a:extLst>
          </p:cNvPr>
          <p:cNvSpPr>
            <a:spLocks noGrp="1"/>
          </p:cNvSpPr>
          <p:nvPr>
            <p:ph idx="1"/>
          </p:nvPr>
        </p:nvSpPr>
        <p:spPr/>
        <p:txBody>
          <a:bodyPr/>
          <a:lstStyle/>
          <a:p>
            <a:r>
              <a:rPr lang="en-US" dirty="0"/>
              <a:t>In SQL, "CASCADE" is an action used in conjunction with foreign key constraints to define how changes in a parent table affect related data in child tables. </a:t>
            </a:r>
          </a:p>
          <a:p>
            <a:r>
              <a:rPr lang="en-US" dirty="0"/>
              <a:t>It is primarily used to maintain referential integrity automatically.</a:t>
            </a:r>
          </a:p>
          <a:p>
            <a:r>
              <a:rPr lang="en-US" dirty="0"/>
              <a:t>Types of CASCADE actions are:</a:t>
            </a:r>
          </a:p>
          <a:p>
            <a:pPr lvl="2"/>
            <a:r>
              <a:rPr lang="en-IN" b="1" dirty="0"/>
              <a:t>ON DELETE CASCADE</a:t>
            </a:r>
          </a:p>
          <a:p>
            <a:pPr lvl="2"/>
            <a:r>
              <a:rPr lang="en-IN" b="1" dirty="0"/>
              <a:t>ON UPDATE CASCADE</a:t>
            </a:r>
            <a:endParaRPr lang="en-IN" dirty="0"/>
          </a:p>
        </p:txBody>
      </p:sp>
      <p:sp>
        <p:nvSpPr>
          <p:cNvPr id="3" name="Title 2">
            <a:extLst>
              <a:ext uri="{FF2B5EF4-FFF2-40B4-BE49-F238E27FC236}">
                <a16:creationId xmlns:a16="http://schemas.microsoft.com/office/drawing/2014/main" id="{4DFDCA11-9D57-DB87-D432-D011F0BE5CF7}"/>
              </a:ext>
            </a:extLst>
          </p:cNvPr>
          <p:cNvSpPr>
            <a:spLocks noGrp="1"/>
          </p:cNvSpPr>
          <p:nvPr>
            <p:ph type="title"/>
          </p:nvPr>
        </p:nvSpPr>
        <p:spPr/>
        <p:txBody>
          <a:bodyPr/>
          <a:lstStyle/>
          <a:p>
            <a:r>
              <a:rPr lang="en-US" dirty="0"/>
              <a:t>CASCADE</a:t>
            </a:r>
            <a:endParaRPr lang="en-IN" dirty="0"/>
          </a:p>
        </p:txBody>
      </p:sp>
    </p:spTree>
    <p:extLst>
      <p:ext uri="{BB962C8B-B14F-4D97-AF65-F5344CB8AC3E}">
        <p14:creationId xmlns:p14="http://schemas.microsoft.com/office/powerpoint/2010/main" val="31736473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9B893F-71B0-19BF-6BC4-64F71A93DEDD}"/>
              </a:ext>
            </a:extLst>
          </p:cNvPr>
          <p:cNvSpPr>
            <a:spLocks noGrp="1"/>
          </p:cNvSpPr>
          <p:nvPr>
            <p:ph idx="1"/>
          </p:nvPr>
        </p:nvSpPr>
        <p:spPr>
          <a:xfrm>
            <a:off x="457200" y="1481329"/>
            <a:ext cx="8229600" cy="1871472"/>
          </a:xfrm>
        </p:spPr>
        <p:txBody>
          <a:bodyPr/>
          <a:lstStyle/>
          <a:p>
            <a:r>
              <a:rPr lang="en-US" dirty="0"/>
              <a:t>When the primary key value of a row in the parent table is updated, the corresponding foreign key values in the child table(s) are automatically updated to reflect this change.</a:t>
            </a:r>
            <a:endParaRPr lang="en-IN" dirty="0"/>
          </a:p>
        </p:txBody>
      </p:sp>
      <p:sp>
        <p:nvSpPr>
          <p:cNvPr id="3" name="Title 2">
            <a:extLst>
              <a:ext uri="{FF2B5EF4-FFF2-40B4-BE49-F238E27FC236}">
                <a16:creationId xmlns:a16="http://schemas.microsoft.com/office/drawing/2014/main" id="{7F674DE0-6DC2-AFD4-A880-918E6072980A}"/>
              </a:ext>
            </a:extLst>
          </p:cNvPr>
          <p:cNvSpPr>
            <a:spLocks noGrp="1"/>
          </p:cNvSpPr>
          <p:nvPr>
            <p:ph type="title"/>
          </p:nvPr>
        </p:nvSpPr>
        <p:spPr/>
        <p:txBody>
          <a:bodyPr/>
          <a:lstStyle/>
          <a:p>
            <a:r>
              <a:rPr lang="en-IN" dirty="0"/>
              <a:t>ON UPDATE CASCADE</a:t>
            </a:r>
          </a:p>
        </p:txBody>
      </p:sp>
      <p:sp>
        <p:nvSpPr>
          <p:cNvPr id="5" name="TextBox 4">
            <a:extLst>
              <a:ext uri="{FF2B5EF4-FFF2-40B4-BE49-F238E27FC236}">
                <a16:creationId xmlns:a16="http://schemas.microsoft.com/office/drawing/2014/main" id="{A7AEF3CC-88EE-342D-8463-6D7161E3C520}"/>
              </a:ext>
            </a:extLst>
          </p:cNvPr>
          <p:cNvSpPr txBox="1"/>
          <p:nvPr/>
        </p:nvSpPr>
        <p:spPr>
          <a:xfrm>
            <a:off x="838200" y="3352801"/>
            <a:ext cx="7315200" cy="2862322"/>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p>
            <a:r>
              <a:rPr lang="en-IN" dirty="0"/>
              <a:t> CREATE TABLE Products (        </a:t>
            </a:r>
          </a:p>
          <a:p>
            <a:r>
              <a:rPr lang="en-IN" dirty="0" err="1"/>
              <a:t>ProductID</a:t>
            </a:r>
            <a:r>
              <a:rPr lang="en-IN" dirty="0"/>
              <a:t> INT PRIMARY KEY,        </a:t>
            </a:r>
          </a:p>
          <a:p>
            <a:r>
              <a:rPr lang="en-IN" dirty="0"/>
              <a:t>ProductName VARCHAR(255)    );    </a:t>
            </a:r>
          </a:p>
          <a:p>
            <a:endParaRPr lang="en-IN" dirty="0"/>
          </a:p>
          <a:p>
            <a:r>
              <a:rPr lang="en-IN" dirty="0"/>
              <a:t>CREATE TABLE </a:t>
            </a:r>
            <a:r>
              <a:rPr lang="en-IN" dirty="0" err="1"/>
              <a:t>OrderItems</a:t>
            </a:r>
            <a:r>
              <a:rPr lang="en-IN" dirty="0"/>
              <a:t> (        </a:t>
            </a:r>
          </a:p>
          <a:p>
            <a:r>
              <a:rPr lang="en-IN" dirty="0" err="1"/>
              <a:t>ItemID</a:t>
            </a:r>
            <a:r>
              <a:rPr lang="en-IN" dirty="0"/>
              <a:t> INT PRIMARY KEY,        </a:t>
            </a:r>
          </a:p>
          <a:p>
            <a:r>
              <a:rPr lang="en-IN" dirty="0" err="1"/>
              <a:t>OrderID</a:t>
            </a:r>
            <a:r>
              <a:rPr lang="en-IN" dirty="0"/>
              <a:t> INT,        </a:t>
            </a:r>
          </a:p>
          <a:p>
            <a:r>
              <a:rPr lang="en-IN" dirty="0" err="1"/>
              <a:t>ProductID</a:t>
            </a:r>
            <a:r>
              <a:rPr lang="en-IN" dirty="0"/>
              <a:t> INT,        </a:t>
            </a:r>
          </a:p>
          <a:p>
            <a:r>
              <a:rPr lang="en-IN" dirty="0"/>
              <a:t>Quantity INT, FOREIGN KEY (</a:t>
            </a:r>
            <a:r>
              <a:rPr lang="en-IN" dirty="0" err="1"/>
              <a:t>ProductID</a:t>
            </a:r>
            <a:r>
              <a:rPr lang="en-IN" dirty="0"/>
              <a:t>) REFERENCES Products(</a:t>
            </a:r>
            <a:r>
              <a:rPr lang="en-IN" dirty="0" err="1"/>
              <a:t>ProductID</a:t>
            </a:r>
            <a:r>
              <a:rPr lang="en-IN" dirty="0"/>
              <a:t>) ON    UPDATE CASCADE    );</a:t>
            </a:r>
          </a:p>
        </p:txBody>
      </p:sp>
    </p:spTree>
    <p:extLst>
      <p:ext uri="{BB962C8B-B14F-4D97-AF65-F5344CB8AC3E}">
        <p14:creationId xmlns:p14="http://schemas.microsoft.com/office/powerpoint/2010/main" val="369209102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2E367E-0672-ECBD-7511-261C29F6B7CA}"/>
              </a:ext>
            </a:extLst>
          </p:cNvPr>
          <p:cNvSpPr>
            <a:spLocks noGrp="1"/>
          </p:cNvSpPr>
          <p:nvPr>
            <p:ph idx="1"/>
          </p:nvPr>
        </p:nvSpPr>
        <p:spPr/>
        <p:txBody>
          <a:bodyPr/>
          <a:lstStyle/>
          <a:p>
            <a:r>
              <a:rPr lang="en-US" b="1" dirty="0"/>
              <a:t>Automated Referential Integrity:</a:t>
            </a:r>
          </a:p>
          <a:p>
            <a:pPr lvl="1"/>
            <a:r>
              <a:rPr lang="en-US" dirty="0"/>
              <a:t>Eliminates the need for manual deletion or updating of related records, reducing the risk of inconsistencies.</a:t>
            </a:r>
          </a:p>
          <a:p>
            <a:r>
              <a:rPr lang="en-US" b="1" dirty="0"/>
              <a:t>Simplified Application Logic:</a:t>
            </a:r>
          </a:p>
          <a:p>
            <a:pPr lvl="1"/>
            <a:r>
              <a:rPr lang="en-US" dirty="0"/>
              <a:t>Reduces the amount of code needed in applications to handle related data changes.</a:t>
            </a:r>
            <a:endParaRPr lang="en-IN" dirty="0"/>
          </a:p>
        </p:txBody>
      </p:sp>
      <p:sp>
        <p:nvSpPr>
          <p:cNvPr id="3" name="Title 2">
            <a:extLst>
              <a:ext uri="{FF2B5EF4-FFF2-40B4-BE49-F238E27FC236}">
                <a16:creationId xmlns:a16="http://schemas.microsoft.com/office/drawing/2014/main" id="{19BFE602-AF16-CAE1-4C23-6578CD6598FC}"/>
              </a:ext>
            </a:extLst>
          </p:cNvPr>
          <p:cNvSpPr>
            <a:spLocks noGrp="1"/>
          </p:cNvSpPr>
          <p:nvPr>
            <p:ph type="title"/>
          </p:nvPr>
        </p:nvSpPr>
        <p:spPr/>
        <p:txBody>
          <a:bodyPr/>
          <a:lstStyle/>
          <a:p>
            <a:r>
              <a:rPr lang="en-IN" dirty="0"/>
              <a:t>Benefits of using CASCADE</a:t>
            </a:r>
          </a:p>
        </p:txBody>
      </p:sp>
    </p:spTree>
    <p:extLst>
      <p:ext uri="{BB962C8B-B14F-4D97-AF65-F5344CB8AC3E}">
        <p14:creationId xmlns:p14="http://schemas.microsoft.com/office/powerpoint/2010/main" val="266945853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5029200"/>
          </a:xfrm>
        </p:spPr>
        <p:txBody>
          <a:bodyPr>
            <a:normAutofit/>
          </a:bodyPr>
          <a:lstStyle/>
          <a:p>
            <a:r>
              <a:rPr lang="en-US" dirty="0"/>
              <a:t>A view is a virtual table based on the result-set of an SQL statement.</a:t>
            </a:r>
          </a:p>
          <a:p>
            <a:r>
              <a:rPr lang="en-US" dirty="0"/>
              <a:t>A view contains rows and columns, just like a real table. </a:t>
            </a:r>
          </a:p>
          <a:p>
            <a:r>
              <a:rPr lang="en-US" dirty="0"/>
              <a:t>The fields in a view are fields from one or more real tables in the database.</a:t>
            </a:r>
          </a:p>
          <a:p>
            <a:r>
              <a:rPr lang="en-US" dirty="0"/>
              <a:t>You can add SQL functions, WHERE, and JOIN statements to a view and present the data as if the data were coming from one single table.</a:t>
            </a:r>
          </a:p>
          <a:p>
            <a:endParaRPr lang="en-US" dirty="0"/>
          </a:p>
          <a:p>
            <a:endParaRPr lang="en-US" dirty="0"/>
          </a:p>
        </p:txBody>
      </p:sp>
      <p:sp>
        <p:nvSpPr>
          <p:cNvPr id="3" name="Title 2"/>
          <p:cNvSpPr>
            <a:spLocks noGrp="1"/>
          </p:cNvSpPr>
          <p:nvPr>
            <p:ph type="title"/>
          </p:nvPr>
        </p:nvSpPr>
        <p:spPr/>
        <p:txBody>
          <a:bodyPr>
            <a:normAutofit/>
          </a:bodyPr>
          <a:lstStyle/>
          <a:p>
            <a:r>
              <a:rPr lang="en-US" b="0" dirty="0"/>
              <a:t>SQL Views</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3A4341-1F8D-4379-9C1B-1D148A99024C}"/>
              </a:ext>
            </a:extLst>
          </p:cNvPr>
          <p:cNvSpPr>
            <a:spLocks noGrp="1"/>
          </p:cNvSpPr>
          <p:nvPr>
            <p:ph idx="1"/>
          </p:nvPr>
        </p:nvSpPr>
        <p:spPr>
          <a:xfrm>
            <a:off x="457200" y="1417638"/>
            <a:ext cx="8229600" cy="5059362"/>
          </a:xfrm>
        </p:spPr>
        <p:txBody>
          <a:bodyPr>
            <a:normAutofit fontScale="92500" lnSpcReduction="10000"/>
          </a:bodyPr>
          <a:lstStyle/>
          <a:p>
            <a:r>
              <a:rPr lang="en-IN" dirty="0"/>
              <a:t>Note that a view does not physically store the data. </a:t>
            </a:r>
          </a:p>
          <a:p>
            <a:r>
              <a:rPr lang="en-IN" dirty="0"/>
              <a:t>When you issue the SELECT statement against the view, MySQL executes the underlying query specified in the view’s definition and returns the result set.</a:t>
            </a:r>
          </a:p>
          <a:p>
            <a:r>
              <a:rPr lang="en-IN" dirty="0"/>
              <a:t> For this reason, sometimes, a view is referred to as a virtual table.</a:t>
            </a:r>
          </a:p>
          <a:p>
            <a:pPr>
              <a:buNone/>
            </a:pPr>
            <a:r>
              <a:rPr lang="en-US" dirty="0"/>
              <a:t>Syntax :</a:t>
            </a:r>
          </a:p>
          <a:p>
            <a:pPr>
              <a:buNone/>
            </a:pPr>
            <a:r>
              <a:rPr lang="en-US" dirty="0"/>
              <a:t>CREATE VIEW </a:t>
            </a:r>
            <a:r>
              <a:rPr lang="en-US" dirty="0" err="1"/>
              <a:t>view_name</a:t>
            </a:r>
            <a:r>
              <a:rPr lang="en-US" dirty="0"/>
              <a:t> AS</a:t>
            </a:r>
            <a:br>
              <a:rPr lang="en-US" dirty="0"/>
            </a:br>
            <a:r>
              <a:rPr lang="en-US" dirty="0"/>
              <a:t>SELECT </a:t>
            </a:r>
            <a:r>
              <a:rPr lang="en-US" dirty="0" err="1"/>
              <a:t>column_name</a:t>
            </a:r>
            <a:r>
              <a:rPr lang="en-US" dirty="0"/>
              <a:t>(s)</a:t>
            </a:r>
            <a:br>
              <a:rPr lang="en-US" dirty="0"/>
            </a:br>
            <a:r>
              <a:rPr lang="en-US" dirty="0"/>
              <a:t>FROM </a:t>
            </a:r>
            <a:r>
              <a:rPr lang="en-US" dirty="0" err="1"/>
              <a:t>table_name</a:t>
            </a:r>
            <a:br>
              <a:rPr lang="en-US" dirty="0"/>
            </a:br>
            <a:r>
              <a:rPr lang="en-US" dirty="0"/>
              <a:t>WHERE condition</a:t>
            </a:r>
          </a:p>
          <a:p>
            <a:endParaRPr lang="en-IN" dirty="0"/>
          </a:p>
        </p:txBody>
      </p:sp>
      <p:sp>
        <p:nvSpPr>
          <p:cNvPr id="3" name="Title 2">
            <a:extLst>
              <a:ext uri="{FF2B5EF4-FFF2-40B4-BE49-F238E27FC236}">
                <a16:creationId xmlns:a16="http://schemas.microsoft.com/office/drawing/2014/main" id="{CA06736C-E4FD-4DD7-AC21-3333CC7D704A}"/>
              </a:ext>
            </a:extLst>
          </p:cNvPr>
          <p:cNvSpPr>
            <a:spLocks noGrp="1"/>
          </p:cNvSpPr>
          <p:nvPr>
            <p:ph type="title"/>
          </p:nvPr>
        </p:nvSpPr>
        <p:spPr/>
        <p:txBody>
          <a:bodyPr/>
          <a:lstStyle/>
          <a:p>
            <a:r>
              <a:rPr lang="en-IN" dirty="0"/>
              <a:t>Views</a:t>
            </a:r>
          </a:p>
        </p:txBody>
      </p:sp>
    </p:spTree>
    <p:extLst>
      <p:ext uri="{BB962C8B-B14F-4D97-AF65-F5344CB8AC3E}">
        <p14:creationId xmlns:p14="http://schemas.microsoft.com/office/powerpoint/2010/main" val="14726221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CREATE VIEW [Current Product List] AS</a:t>
            </a:r>
            <a:br>
              <a:rPr lang="en-US" dirty="0"/>
            </a:br>
            <a:r>
              <a:rPr lang="en-US" dirty="0"/>
              <a:t>SELECT </a:t>
            </a:r>
            <a:r>
              <a:rPr lang="en-US" dirty="0" err="1"/>
              <a:t>ProductID,ProductName</a:t>
            </a:r>
            <a:br>
              <a:rPr lang="en-US" dirty="0"/>
            </a:br>
            <a:r>
              <a:rPr lang="en-US" dirty="0"/>
              <a:t>FROM Products</a:t>
            </a:r>
            <a:br>
              <a:rPr lang="en-US" dirty="0"/>
            </a:br>
            <a:r>
              <a:rPr lang="en-US" dirty="0"/>
              <a:t>WHERE Discontinued=No</a:t>
            </a:r>
          </a:p>
          <a:p>
            <a:endParaRPr lang="en-US" dirty="0"/>
          </a:p>
          <a:p>
            <a:r>
              <a:rPr lang="en-US" dirty="0"/>
              <a:t>SELECT * FROM [Current Product List]</a:t>
            </a:r>
          </a:p>
        </p:txBody>
      </p:sp>
      <p:sp>
        <p:nvSpPr>
          <p:cNvPr id="3" name="Title 2"/>
          <p:cNvSpPr>
            <a:spLocks noGrp="1"/>
          </p:cNvSpPr>
          <p:nvPr>
            <p:ph type="title"/>
          </p:nvPr>
        </p:nvSpPr>
        <p:spPr/>
        <p:txBody>
          <a:bodyPr>
            <a:normAutofit/>
          </a:bodyPr>
          <a:lstStyle/>
          <a:p>
            <a:r>
              <a:rPr lang="en-US" b="0" dirty="0"/>
              <a:t>CREATE VIEW Examples</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CREATE VIEW [Products Above Average Price] AS</a:t>
            </a:r>
            <a:br>
              <a:rPr lang="en-US" dirty="0"/>
            </a:br>
            <a:r>
              <a:rPr lang="en-US" dirty="0"/>
              <a:t>SELECT </a:t>
            </a:r>
            <a:r>
              <a:rPr lang="en-US" dirty="0" err="1"/>
              <a:t>ProductName,UnitPrice</a:t>
            </a:r>
            <a:br>
              <a:rPr lang="en-US" dirty="0"/>
            </a:br>
            <a:r>
              <a:rPr lang="en-US" dirty="0"/>
              <a:t>FROM Products</a:t>
            </a:r>
            <a:br>
              <a:rPr lang="en-US" dirty="0"/>
            </a:br>
            <a:r>
              <a:rPr lang="en-US" dirty="0"/>
              <a:t>WHERE </a:t>
            </a:r>
            <a:r>
              <a:rPr lang="en-US" dirty="0" err="1"/>
              <a:t>UnitPrice</a:t>
            </a:r>
            <a:r>
              <a:rPr lang="en-US" dirty="0"/>
              <a:t>&gt;(SELECT AVG(</a:t>
            </a:r>
            <a:r>
              <a:rPr lang="en-US" dirty="0" err="1"/>
              <a:t>UnitPrice</a:t>
            </a:r>
            <a:r>
              <a:rPr lang="en-US" dirty="0"/>
              <a:t>) FROM Products)</a:t>
            </a:r>
          </a:p>
          <a:p>
            <a:endParaRPr lang="en-US" dirty="0"/>
          </a:p>
          <a:p>
            <a:r>
              <a:rPr lang="en-US" dirty="0"/>
              <a:t>SELECT * FROM [Products Above Average Price]</a:t>
            </a:r>
          </a:p>
          <a:p>
            <a:r>
              <a:rPr lang="en-US" dirty="0"/>
              <a:t>DROP VIEW Syntax</a:t>
            </a:r>
          </a:p>
          <a:p>
            <a:pPr>
              <a:buNone/>
            </a:pPr>
            <a:r>
              <a:rPr lang="en-US" dirty="0"/>
              <a:t>                          DROP VIEW </a:t>
            </a:r>
            <a:r>
              <a:rPr lang="en-US" dirty="0" err="1"/>
              <a:t>view_name</a:t>
            </a:r>
            <a:endParaRPr lang="en-US" dirty="0"/>
          </a:p>
          <a:p>
            <a:endParaRPr lang="en-US" dirty="0"/>
          </a:p>
        </p:txBody>
      </p:sp>
      <p:sp>
        <p:nvSpPr>
          <p:cNvPr id="3" name="Title 2"/>
          <p:cNvSpPr>
            <a:spLocks noGrp="1"/>
          </p:cNvSpPr>
          <p:nvPr>
            <p:ph type="title"/>
          </p:nvPr>
        </p:nvSpPr>
        <p:spPr/>
        <p:txBody>
          <a:bodyPr/>
          <a:lstStyle/>
          <a:p>
            <a:r>
              <a:rPr lang="en-US" b="0" dirty="0"/>
              <a:t>CREATE VIEW Examples</a:t>
            </a:r>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CREATE INDEX statement is used to create indexes in tables.</a:t>
            </a:r>
          </a:p>
          <a:p>
            <a:r>
              <a:rPr lang="en-US" dirty="0"/>
              <a:t>Indexes allow the database application to find data fast; without reading the whole table.</a:t>
            </a:r>
          </a:p>
          <a:p>
            <a:r>
              <a:rPr lang="en-US" dirty="0"/>
              <a:t>An index can be created in a table to find data more quickly and efficiently.</a:t>
            </a:r>
          </a:p>
          <a:p>
            <a:r>
              <a:rPr lang="en-US" dirty="0"/>
              <a:t>The users cannot see the indexes, they are just used to speed up searches/queries.</a:t>
            </a:r>
          </a:p>
          <a:p>
            <a:endParaRPr lang="en-US" dirty="0"/>
          </a:p>
        </p:txBody>
      </p:sp>
      <p:sp>
        <p:nvSpPr>
          <p:cNvPr id="3" name="Title 2"/>
          <p:cNvSpPr>
            <a:spLocks noGrp="1"/>
          </p:cNvSpPr>
          <p:nvPr>
            <p:ph type="title"/>
          </p:nvPr>
        </p:nvSpPr>
        <p:spPr/>
        <p:txBody>
          <a:bodyPr>
            <a:normAutofit/>
          </a:bodyPr>
          <a:lstStyle/>
          <a:p>
            <a:r>
              <a:rPr lang="en-US" b="0" dirty="0"/>
              <a:t>SQL CREATE INDEX Statement</a:t>
            </a:r>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Creates an index on a table. Duplicate values are allowed:</a:t>
            </a:r>
          </a:p>
          <a:p>
            <a:pPr>
              <a:buNone/>
            </a:pPr>
            <a:r>
              <a:rPr lang="en-US" dirty="0"/>
              <a:t>  CREATE INDEX </a:t>
            </a:r>
            <a:r>
              <a:rPr lang="en-US" dirty="0" err="1"/>
              <a:t>index_name</a:t>
            </a:r>
            <a:br>
              <a:rPr lang="en-US" dirty="0"/>
            </a:br>
            <a:r>
              <a:rPr lang="en-US" dirty="0"/>
              <a:t>ON </a:t>
            </a:r>
            <a:r>
              <a:rPr lang="en-US" dirty="0" err="1"/>
              <a:t>table_name</a:t>
            </a:r>
            <a:r>
              <a:rPr lang="en-US" dirty="0"/>
              <a:t> (</a:t>
            </a:r>
            <a:r>
              <a:rPr lang="en-US" dirty="0" err="1"/>
              <a:t>column_name</a:t>
            </a:r>
            <a:r>
              <a:rPr lang="en-US" dirty="0"/>
              <a:t>)</a:t>
            </a:r>
          </a:p>
          <a:p>
            <a:pPr>
              <a:buNone/>
            </a:pPr>
            <a:r>
              <a:rPr lang="en-US" sz="2800" b="1" dirty="0"/>
              <a:t>UNIQUE INDEX Syntax</a:t>
            </a:r>
          </a:p>
          <a:p>
            <a:r>
              <a:rPr lang="en-US" dirty="0"/>
              <a:t>Creates a unique index on a table. Duplicate values are not allowed:</a:t>
            </a:r>
          </a:p>
          <a:p>
            <a:r>
              <a:rPr lang="en-US" dirty="0"/>
              <a:t>CREATE UNIQUE INDEX </a:t>
            </a:r>
            <a:r>
              <a:rPr lang="en-US" dirty="0" err="1"/>
              <a:t>index_name</a:t>
            </a:r>
            <a:br>
              <a:rPr lang="en-US" dirty="0"/>
            </a:br>
            <a:r>
              <a:rPr lang="en-US" dirty="0"/>
              <a:t>ON </a:t>
            </a:r>
            <a:r>
              <a:rPr lang="en-US" dirty="0" err="1"/>
              <a:t>table_name</a:t>
            </a:r>
            <a:r>
              <a:rPr lang="en-US" dirty="0"/>
              <a:t> (</a:t>
            </a:r>
            <a:r>
              <a:rPr lang="en-US" dirty="0" err="1"/>
              <a:t>column_name</a:t>
            </a:r>
            <a:r>
              <a:rPr lang="en-US" dirty="0"/>
              <a:t>)</a:t>
            </a:r>
          </a:p>
          <a:p>
            <a:pPr>
              <a:buNone/>
            </a:pPr>
            <a:endParaRPr lang="en-US" dirty="0"/>
          </a:p>
          <a:p>
            <a:endParaRPr lang="en-US" dirty="0"/>
          </a:p>
        </p:txBody>
      </p:sp>
      <p:sp>
        <p:nvSpPr>
          <p:cNvPr id="3" name="Title 2"/>
          <p:cNvSpPr>
            <a:spLocks noGrp="1"/>
          </p:cNvSpPr>
          <p:nvPr>
            <p:ph type="title"/>
          </p:nvPr>
        </p:nvSpPr>
        <p:spPr/>
        <p:txBody>
          <a:bodyPr>
            <a:normAutofit/>
          </a:bodyPr>
          <a:lstStyle/>
          <a:p>
            <a:r>
              <a:rPr lang="en-US" b="0" dirty="0"/>
              <a:t>SQL CREATE INDEX Syntax</a:t>
            </a:r>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a:t>The SQL statement below creates an index named "</a:t>
            </a:r>
            <a:r>
              <a:rPr lang="en-US" dirty="0" err="1"/>
              <a:t>PIndex</a:t>
            </a:r>
            <a:r>
              <a:rPr lang="en-US" dirty="0"/>
              <a:t>" on the "</a:t>
            </a:r>
            <a:r>
              <a:rPr lang="en-US" dirty="0" err="1"/>
              <a:t>LastName</a:t>
            </a:r>
            <a:r>
              <a:rPr lang="en-US" dirty="0"/>
              <a:t>" column in the "Persons" table:</a:t>
            </a:r>
          </a:p>
          <a:p>
            <a:pPr>
              <a:buNone/>
            </a:pPr>
            <a:r>
              <a:rPr lang="en-US" dirty="0"/>
              <a:t>   CREATE INDEX </a:t>
            </a:r>
            <a:r>
              <a:rPr lang="en-US" dirty="0" err="1"/>
              <a:t>PIndex</a:t>
            </a:r>
            <a:br>
              <a:rPr lang="en-US" dirty="0"/>
            </a:br>
            <a:r>
              <a:rPr lang="en-US" dirty="0"/>
              <a:t>ON Persons (</a:t>
            </a:r>
            <a:r>
              <a:rPr lang="en-US" dirty="0" err="1"/>
              <a:t>LastName</a:t>
            </a:r>
            <a:r>
              <a:rPr lang="en-US" dirty="0"/>
              <a:t>)</a:t>
            </a:r>
          </a:p>
          <a:p>
            <a:pPr>
              <a:buNone/>
            </a:pPr>
            <a:endParaRPr lang="en-US" dirty="0"/>
          </a:p>
          <a:p>
            <a:r>
              <a:rPr lang="en-US" dirty="0"/>
              <a:t>If you want to create an index on a combination of columns, you can list the column names within the parentheses, separated by commas:</a:t>
            </a:r>
            <a:br>
              <a:rPr lang="en-US" dirty="0"/>
            </a:br>
            <a:r>
              <a:rPr lang="en-US" dirty="0"/>
              <a:t>   CREATE INDEX </a:t>
            </a:r>
            <a:r>
              <a:rPr lang="en-US" dirty="0" err="1"/>
              <a:t>PIndex</a:t>
            </a:r>
            <a:br>
              <a:rPr lang="en-US" dirty="0"/>
            </a:br>
            <a:r>
              <a:rPr lang="en-US" dirty="0"/>
              <a:t>ON Persons (</a:t>
            </a:r>
            <a:r>
              <a:rPr lang="en-US" dirty="0" err="1"/>
              <a:t>LastName</a:t>
            </a:r>
            <a:r>
              <a:rPr lang="en-US" dirty="0"/>
              <a:t>, </a:t>
            </a:r>
            <a:r>
              <a:rPr lang="en-US" dirty="0" err="1"/>
              <a:t>FirstName</a:t>
            </a:r>
            <a:r>
              <a:rPr lang="en-US" dirty="0"/>
              <a:t>)</a:t>
            </a:r>
          </a:p>
          <a:p>
            <a:endParaRPr lang="en-US" dirty="0"/>
          </a:p>
        </p:txBody>
      </p:sp>
      <p:sp>
        <p:nvSpPr>
          <p:cNvPr id="3" name="Title 2"/>
          <p:cNvSpPr>
            <a:spLocks noGrp="1"/>
          </p:cNvSpPr>
          <p:nvPr>
            <p:ph type="title"/>
          </p:nvPr>
        </p:nvSpPr>
        <p:spPr/>
        <p:txBody>
          <a:bodyPr>
            <a:normAutofit/>
          </a:bodyPr>
          <a:lstStyle/>
          <a:p>
            <a:r>
              <a:rPr lang="en-US" b="0" dirty="0"/>
              <a:t>CREATE INDEX Example</a:t>
            </a:r>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767072"/>
          </a:xfrm>
        </p:spPr>
        <p:txBody>
          <a:bodyPr>
            <a:normAutofit fontScale="92500" lnSpcReduction="10000"/>
          </a:bodyPr>
          <a:lstStyle/>
          <a:p>
            <a:r>
              <a:rPr lang="en-US" dirty="0"/>
              <a:t>Indexes, tables, and databases can easily be deleted/removed with the DROP statement.</a:t>
            </a:r>
          </a:p>
          <a:p>
            <a:r>
              <a:rPr lang="en-US" dirty="0"/>
              <a:t>ALTER TABLE </a:t>
            </a:r>
            <a:r>
              <a:rPr lang="en-US" dirty="0" err="1"/>
              <a:t>table_name</a:t>
            </a:r>
            <a:r>
              <a:rPr lang="en-US" dirty="0"/>
              <a:t> DROP INDEX </a:t>
            </a:r>
            <a:r>
              <a:rPr lang="en-US" dirty="0" err="1"/>
              <a:t>index_name</a:t>
            </a:r>
            <a:endParaRPr lang="en-US" dirty="0"/>
          </a:p>
          <a:p>
            <a:r>
              <a:rPr lang="en-US" dirty="0"/>
              <a:t>DROP TABLE </a:t>
            </a:r>
            <a:r>
              <a:rPr lang="en-US" dirty="0" err="1"/>
              <a:t>table_name</a:t>
            </a:r>
            <a:endParaRPr lang="en-US" dirty="0"/>
          </a:p>
          <a:p>
            <a:r>
              <a:rPr lang="en-US" dirty="0"/>
              <a:t>DROP DATABASE </a:t>
            </a:r>
            <a:r>
              <a:rPr lang="en-US" dirty="0" err="1"/>
              <a:t>database_name</a:t>
            </a:r>
            <a:endParaRPr lang="en-US" dirty="0"/>
          </a:p>
          <a:p>
            <a:pPr>
              <a:buNone/>
            </a:pPr>
            <a:endParaRPr lang="en-US" dirty="0"/>
          </a:p>
          <a:p>
            <a:r>
              <a:rPr lang="en-US" dirty="0"/>
              <a:t>If we only want to delete the data inside the table, and not the table </a:t>
            </a:r>
            <a:r>
              <a:rPr lang="en-US" dirty="0" err="1"/>
              <a:t>itself?Then</a:t>
            </a:r>
            <a:r>
              <a:rPr lang="en-US" dirty="0"/>
              <a:t>, use the TRUNCATE TABLE statement:</a:t>
            </a:r>
          </a:p>
          <a:p>
            <a:endParaRPr lang="en-US" dirty="0"/>
          </a:p>
          <a:p>
            <a:r>
              <a:rPr lang="en-US" dirty="0"/>
              <a:t>TRUNCATE TABLE </a:t>
            </a:r>
            <a:r>
              <a:rPr lang="en-US" dirty="0" err="1"/>
              <a:t>table_name</a:t>
            </a:r>
            <a:endParaRPr lang="en-US" dirty="0"/>
          </a:p>
        </p:txBody>
      </p:sp>
      <p:sp>
        <p:nvSpPr>
          <p:cNvPr id="3" name="Title 2"/>
          <p:cNvSpPr>
            <a:spLocks noGrp="1"/>
          </p:cNvSpPr>
          <p:nvPr>
            <p:ph type="title"/>
          </p:nvPr>
        </p:nvSpPr>
        <p:spPr/>
        <p:txBody>
          <a:bodyPr>
            <a:normAutofit/>
          </a:bodyPr>
          <a:lstStyle/>
          <a:p>
            <a:r>
              <a:rPr lang="en-US" b="0" dirty="0"/>
              <a:t>SQL DROP</a:t>
            </a:r>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The ALTER TABLE statement is used to add, delete, or modify columns in an existing table.</a:t>
            </a:r>
          </a:p>
          <a:p>
            <a:r>
              <a:rPr lang="en-US" dirty="0"/>
              <a:t>Syntax</a:t>
            </a:r>
          </a:p>
          <a:p>
            <a:pPr>
              <a:buNone/>
            </a:pPr>
            <a:r>
              <a:rPr lang="en-US" dirty="0"/>
              <a:t>  ALTER TABLE </a:t>
            </a:r>
            <a:r>
              <a:rPr lang="en-US" dirty="0" err="1"/>
              <a:t>table_name</a:t>
            </a:r>
            <a:br>
              <a:rPr lang="en-US" dirty="0"/>
            </a:br>
            <a:r>
              <a:rPr lang="en-US" dirty="0"/>
              <a:t>MODIFY COLUMN </a:t>
            </a:r>
            <a:r>
              <a:rPr lang="en-US" dirty="0" err="1"/>
              <a:t>column_name</a:t>
            </a:r>
            <a:r>
              <a:rPr lang="en-US" dirty="0"/>
              <a:t> </a:t>
            </a:r>
            <a:r>
              <a:rPr lang="en-US" dirty="0" err="1"/>
              <a:t>datatype</a:t>
            </a:r>
            <a:endParaRPr lang="en-US" dirty="0"/>
          </a:p>
          <a:p>
            <a:pPr>
              <a:buNone/>
            </a:pPr>
            <a:endParaRPr lang="en-US" dirty="0"/>
          </a:p>
          <a:p>
            <a:pPr>
              <a:buNone/>
            </a:pPr>
            <a:r>
              <a:rPr lang="en-US" dirty="0"/>
              <a:t>ALTER TABLE Persons</a:t>
            </a:r>
            <a:br>
              <a:rPr lang="en-US" dirty="0"/>
            </a:br>
            <a:r>
              <a:rPr lang="en-US" dirty="0"/>
              <a:t>MODIFY </a:t>
            </a:r>
            <a:r>
              <a:rPr lang="en-US" dirty="0" err="1"/>
              <a:t>DateOfBirth</a:t>
            </a:r>
            <a:r>
              <a:rPr lang="en-US" dirty="0"/>
              <a:t> date</a:t>
            </a:r>
          </a:p>
          <a:p>
            <a:pPr>
              <a:buNone/>
            </a:pPr>
            <a:r>
              <a:rPr lang="en-US" dirty="0"/>
              <a:t>ALTER TABLE Persons</a:t>
            </a:r>
            <a:br>
              <a:rPr lang="en-US" dirty="0"/>
            </a:br>
            <a:r>
              <a:rPr lang="en-US" dirty="0"/>
              <a:t>DROP COLUMN </a:t>
            </a:r>
            <a:r>
              <a:rPr lang="en-US" dirty="0" err="1"/>
              <a:t>DateOfBirth</a:t>
            </a:r>
            <a:endParaRPr lang="en-US" dirty="0"/>
          </a:p>
          <a:p>
            <a:endParaRPr lang="en-US" dirty="0"/>
          </a:p>
        </p:txBody>
      </p:sp>
      <p:sp>
        <p:nvSpPr>
          <p:cNvPr id="3" name="Title 2"/>
          <p:cNvSpPr>
            <a:spLocks noGrp="1"/>
          </p:cNvSpPr>
          <p:nvPr>
            <p:ph type="title"/>
          </p:nvPr>
        </p:nvSpPr>
        <p:spPr/>
        <p:txBody>
          <a:bodyPr>
            <a:normAutofit/>
          </a:bodyPr>
          <a:lstStyle/>
          <a:p>
            <a:r>
              <a:rPr lang="en-US" b="0" dirty="0"/>
              <a:t>The ALTER TABLE Statement</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IN" dirty="0"/>
              <a:t>We can specify not only who can connect to the database server but also from which host that the user connects.</a:t>
            </a:r>
          </a:p>
          <a:p>
            <a:r>
              <a:rPr lang="en-IN" dirty="0"/>
              <a:t>A user account in MySQL consists of a username and a host name separated by the @ character.</a:t>
            </a:r>
          </a:p>
          <a:p>
            <a:r>
              <a:rPr lang="en-IN" dirty="0"/>
              <a:t>If the admin user connects to the MySQL database server from </a:t>
            </a:r>
            <a:r>
              <a:rPr lang="en-IN" dirty="0" err="1"/>
              <a:t>localhost</a:t>
            </a:r>
            <a:r>
              <a:rPr lang="en-IN" dirty="0"/>
              <a:t>, the user account is </a:t>
            </a:r>
            <a:r>
              <a:rPr lang="en-IN" dirty="0" err="1"/>
              <a:t>admin@localhost</a:t>
            </a:r>
            <a:r>
              <a:rPr lang="en-IN" dirty="0"/>
              <a:t>.</a:t>
            </a:r>
          </a:p>
          <a:p>
            <a:r>
              <a:rPr lang="en-IN" dirty="0"/>
              <a:t>This makes the MySQL database server even more secure.</a:t>
            </a:r>
          </a:p>
        </p:txBody>
      </p:sp>
      <p:sp>
        <p:nvSpPr>
          <p:cNvPr id="3" name="Title 2"/>
          <p:cNvSpPr>
            <a:spLocks noGrp="1"/>
          </p:cNvSpPr>
          <p:nvPr>
            <p:ph type="title"/>
          </p:nvPr>
        </p:nvSpPr>
        <p:spPr/>
        <p:txBody>
          <a:bodyPr>
            <a:normAutofit fontScale="90000"/>
          </a:bodyPr>
          <a:lstStyle/>
          <a:p>
            <a:r>
              <a:rPr lang="en-IN" b="0" dirty="0">
                <a:effectLst/>
              </a:rPr>
              <a:t>Create User Accounts Using MySQL</a:t>
            </a:r>
            <a:endParaRPr lang="en-IN" dirty="0"/>
          </a:p>
        </p:txBody>
      </p:sp>
    </p:spTree>
    <p:extLst>
      <p:ext uri="{BB962C8B-B14F-4D97-AF65-F5344CB8AC3E}">
        <p14:creationId xmlns:p14="http://schemas.microsoft.com/office/powerpoint/2010/main" val="116665114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1328"/>
            <a:ext cx="8686800" cy="4525963"/>
          </a:xfrm>
        </p:spPr>
        <p:txBody>
          <a:bodyPr/>
          <a:lstStyle/>
          <a:p>
            <a:r>
              <a:rPr lang="en-IN" dirty="0"/>
              <a:t>MySQL provides the CREATE USER  statement that allows you to create a new user account.</a:t>
            </a:r>
            <a:br>
              <a:rPr lang="en-IN" dirty="0"/>
            </a:br>
            <a:r>
              <a:rPr lang="en-IN" dirty="0"/>
              <a:t>Syntax :</a:t>
            </a:r>
          </a:p>
          <a:p>
            <a:pPr marL="109728" indent="0">
              <a:buNone/>
            </a:pPr>
            <a:r>
              <a:rPr lang="en-IN" sz="2400" b="1" dirty="0">
                <a:solidFill>
                  <a:srgbClr val="C00000"/>
                </a:solidFill>
              </a:rPr>
              <a:t>CREATE USER </a:t>
            </a:r>
            <a:r>
              <a:rPr lang="en-IN" sz="2400" b="1" dirty="0" err="1">
                <a:solidFill>
                  <a:srgbClr val="C00000"/>
                </a:solidFill>
              </a:rPr>
              <a:t>user_account</a:t>
            </a:r>
            <a:r>
              <a:rPr lang="en-IN" sz="2400" b="1" dirty="0">
                <a:solidFill>
                  <a:srgbClr val="C00000"/>
                </a:solidFill>
              </a:rPr>
              <a:t> IDENTIFIED BY password;</a:t>
            </a:r>
          </a:p>
          <a:p>
            <a:pPr marL="109728" indent="0">
              <a:buNone/>
            </a:pPr>
            <a:endParaRPr lang="en-IN" sz="2400" b="1" dirty="0">
              <a:solidFill>
                <a:srgbClr val="C00000"/>
              </a:solidFill>
            </a:endParaRPr>
          </a:p>
          <a:p>
            <a:pPr marL="109728" indent="0">
              <a:buNone/>
            </a:pPr>
            <a:r>
              <a:rPr lang="en-IN" dirty="0"/>
              <a:t>Example:</a:t>
            </a:r>
          </a:p>
          <a:p>
            <a:pPr marL="109728" indent="0" latinLnBrk="1">
              <a:buNone/>
            </a:pPr>
            <a:r>
              <a:rPr lang="en-IN" sz="2400" b="1" dirty="0">
                <a:solidFill>
                  <a:srgbClr val="C00000"/>
                </a:solidFill>
              </a:rPr>
              <a:t>CREATE USER </a:t>
            </a:r>
            <a:r>
              <a:rPr lang="en-IN" sz="2400" b="1" dirty="0" err="1">
                <a:solidFill>
                  <a:srgbClr val="C00000"/>
                </a:solidFill>
              </a:rPr>
              <a:t>dbadmin@localhost</a:t>
            </a:r>
            <a:r>
              <a:rPr lang="en-IN" sz="2400" b="1" dirty="0">
                <a:solidFill>
                  <a:srgbClr val="C00000"/>
                </a:solidFill>
              </a:rPr>
              <a:t> IDENTIFIED BY 'secret';</a:t>
            </a:r>
          </a:p>
          <a:p>
            <a:pPr marL="109728" indent="0">
              <a:buNone/>
            </a:pPr>
            <a:endParaRPr lang="en-IN" sz="2400" b="1" dirty="0">
              <a:solidFill>
                <a:srgbClr val="C00000"/>
              </a:solidFill>
            </a:endParaRPr>
          </a:p>
        </p:txBody>
      </p:sp>
      <p:sp>
        <p:nvSpPr>
          <p:cNvPr id="3" name="Title 2"/>
          <p:cNvSpPr>
            <a:spLocks noGrp="1"/>
          </p:cNvSpPr>
          <p:nvPr>
            <p:ph type="title"/>
          </p:nvPr>
        </p:nvSpPr>
        <p:spPr/>
        <p:txBody>
          <a:bodyPr/>
          <a:lstStyle/>
          <a:p>
            <a:r>
              <a:rPr lang="en-IN" dirty="0"/>
              <a:t>Create User</a:t>
            </a:r>
          </a:p>
        </p:txBody>
      </p:sp>
    </p:spTree>
    <p:extLst>
      <p:ext uri="{BB962C8B-B14F-4D97-AF65-F5344CB8AC3E}">
        <p14:creationId xmlns:p14="http://schemas.microsoft.com/office/powerpoint/2010/main" val="65019577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To view the privileges of a user account, you use the SHOW GRANTS statement.</a:t>
            </a:r>
          </a:p>
          <a:p>
            <a:pPr marL="109728" indent="0">
              <a:buNone/>
            </a:pPr>
            <a:r>
              <a:rPr lang="en-IN" dirty="0">
                <a:solidFill>
                  <a:srgbClr val="C00000"/>
                </a:solidFill>
              </a:rPr>
              <a:t>SHOW GRANTS FOR </a:t>
            </a:r>
            <a:r>
              <a:rPr lang="en-IN" dirty="0" err="1">
                <a:solidFill>
                  <a:srgbClr val="C00000"/>
                </a:solidFill>
              </a:rPr>
              <a:t>dbadmin@localhost</a:t>
            </a:r>
            <a:r>
              <a:rPr lang="en-IN" dirty="0">
                <a:solidFill>
                  <a:srgbClr val="C00000"/>
                </a:solidFill>
              </a:rPr>
              <a:t>;</a:t>
            </a:r>
          </a:p>
          <a:p>
            <a:r>
              <a:rPr lang="en-IN" dirty="0"/>
              <a:t>The *.* in the result shows that the </a:t>
            </a:r>
            <a:r>
              <a:rPr lang="en-IN" dirty="0" err="1"/>
              <a:t>dbadmin</a:t>
            </a:r>
            <a:r>
              <a:rPr lang="en-IN" dirty="0"/>
              <a:t> user account can only login to the database server and has no other privileges. </a:t>
            </a:r>
          </a:p>
          <a:p>
            <a:r>
              <a:rPr lang="en-IN" dirty="0"/>
              <a:t>To grant permission to the user, you use the GRANT statement.</a:t>
            </a:r>
          </a:p>
          <a:p>
            <a:pPr marL="109728" indent="0">
              <a:buNone/>
            </a:pPr>
            <a:endParaRPr lang="en-IN" dirty="0">
              <a:solidFill>
                <a:srgbClr val="C00000"/>
              </a:solidFill>
            </a:endParaRPr>
          </a:p>
        </p:txBody>
      </p:sp>
      <p:sp>
        <p:nvSpPr>
          <p:cNvPr id="3" name="Title 2"/>
          <p:cNvSpPr>
            <a:spLocks noGrp="1"/>
          </p:cNvSpPr>
          <p:nvPr>
            <p:ph type="title"/>
          </p:nvPr>
        </p:nvSpPr>
        <p:spPr/>
        <p:txBody>
          <a:bodyPr/>
          <a:lstStyle/>
          <a:p>
            <a:r>
              <a:rPr lang="en-IN" dirty="0"/>
              <a:t>SHOW GRANTS</a:t>
            </a:r>
          </a:p>
        </p:txBody>
      </p:sp>
    </p:spTree>
    <p:extLst>
      <p:ext uri="{BB962C8B-B14F-4D97-AF65-F5344CB8AC3E}">
        <p14:creationId xmlns:p14="http://schemas.microsoft.com/office/powerpoint/2010/main" val="169944649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382000" cy="4525963"/>
          </a:xfrm>
        </p:spPr>
        <p:txBody>
          <a:bodyPr/>
          <a:lstStyle/>
          <a:p>
            <a:r>
              <a:rPr lang="en-IN" dirty="0"/>
              <a:t>After creating a new user account, the user doesn’t have any privileges. </a:t>
            </a:r>
          </a:p>
          <a:p>
            <a:r>
              <a:rPr lang="en-IN" dirty="0"/>
              <a:t>To grant privileges to a user account, you use the GRANT statement.</a:t>
            </a:r>
          </a:p>
          <a:p>
            <a:pPr marL="109728" indent="0">
              <a:buNone/>
            </a:pPr>
            <a:endParaRPr lang="en-IN" dirty="0"/>
          </a:p>
          <a:p>
            <a:pPr marL="109728" indent="0">
              <a:buNone/>
            </a:pPr>
            <a:r>
              <a:rPr lang="en-IN" sz="2400" dirty="0">
                <a:solidFill>
                  <a:srgbClr val="C00000"/>
                </a:solidFill>
              </a:rPr>
              <a:t>GRANT ALL ON *.* TO 'super'@'</a:t>
            </a:r>
            <a:r>
              <a:rPr lang="en-IN" sz="2400" dirty="0" err="1">
                <a:solidFill>
                  <a:srgbClr val="C00000"/>
                </a:solidFill>
              </a:rPr>
              <a:t>localhost</a:t>
            </a:r>
            <a:r>
              <a:rPr lang="en-IN" sz="2400" dirty="0">
                <a:solidFill>
                  <a:srgbClr val="C00000"/>
                </a:solidFill>
              </a:rPr>
              <a:t>' WITH GRANT OPTION;</a:t>
            </a:r>
          </a:p>
          <a:p>
            <a:endParaRPr lang="en-IN" dirty="0"/>
          </a:p>
        </p:txBody>
      </p:sp>
      <p:sp>
        <p:nvSpPr>
          <p:cNvPr id="3" name="Title 2"/>
          <p:cNvSpPr>
            <a:spLocks noGrp="1"/>
          </p:cNvSpPr>
          <p:nvPr>
            <p:ph type="title"/>
          </p:nvPr>
        </p:nvSpPr>
        <p:spPr/>
        <p:txBody>
          <a:bodyPr/>
          <a:lstStyle/>
          <a:p>
            <a:r>
              <a:rPr lang="en-IN" dirty="0"/>
              <a:t>GRANT PRIVILAGES</a:t>
            </a:r>
          </a:p>
        </p:txBody>
      </p:sp>
    </p:spTree>
    <p:extLst>
      <p:ext uri="{BB962C8B-B14F-4D97-AF65-F5344CB8AC3E}">
        <p14:creationId xmlns:p14="http://schemas.microsoft.com/office/powerpoint/2010/main" val="335009794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1328"/>
            <a:ext cx="8534400" cy="4525963"/>
          </a:xfrm>
        </p:spPr>
        <p:txBody>
          <a:bodyPr/>
          <a:lstStyle/>
          <a:p>
            <a:r>
              <a:rPr lang="en-IN" dirty="0"/>
              <a:t>In order to revoke privileges from a user account, you use the MySQL REVOKE statement. </a:t>
            </a:r>
          </a:p>
          <a:p>
            <a:r>
              <a:rPr lang="en-IN" dirty="0"/>
              <a:t>MySQL allows you to revoke one or more privileges or all privileges from a user.</a:t>
            </a:r>
          </a:p>
          <a:p>
            <a:pPr marL="109728" indent="0">
              <a:buNone/>
            </a:pPr>
            <a:r>
              <a:rPr lang="en-IN" dirty="0"/>
              <a:t>Syntax:</a:t>
            </a:r>
          </a:p>
          <a:p>
            <a:pPr marL="109728" indent="0">
              <a:buNone/>
            </a:pPr>
            <a:r>
              <a:rPr lang="en-IN" b="1" dirty="0">
                <a:solidFill>
                  <a:srgbClr val="C00000"/>
                </a:solidFill>
              </a:rPr>
              <a:t>REVOKE ALL PRIVILEGES, GRANT OPTION FROM user [, user]…</a:t>
            </a:r>
          </a:p>
          <a:p>
            <a:pPr marL="109728" indent="0">
              <a:buNone/>
            </a:pPr>
            <a:r>
              <a:rPr lang="en-IN" dirty="0"/>
              <a:t>Syntax:</a:t>
            </a:r>
          </a:p>
          <a:p>
            <a:pPr marL="109728" indent="0">
              <a:buNone/>
            </a:pPr>
            <a:r>
              <a:rPr lang="en-IN" b="1" dirty="0">
                <a:solidFill>
                  <a:srgbClr val="C00000"/>
                </a:solidFill>
              </a:rPr>
              <a:t>REVOKE ALL PRIVILEGES, GRANT OPTION FROM </a:t>
            </a:r>
            <a:r>
              <a:rPr lang="en-IN" b="1" dirty="0" err="1">
                <a:solidFill>
                  <a:srgbClr val="C00000"/>
                </a:solidFill>
              </a:rPr>
              <a:t>rfc</a:t>
            </a:r>
            <a:r>
              <a:rPr lang="en-IN" b="1" dirty="0">
                <a:solidFill>
                  <a:srgbClr val="C00000"/>
                </a:solidFill>
              </a:rPr>
              <a:t>;</a:t>
            </a:r>
          </a:p>
          <a:p>
            <a:endParaRPr lang="en-IN" dirty="0"/>
          </a:p>
        </p:txBody>
      </p:sp>
      <p:sp>
        <p:nvSpPr>
          <p:cNvPr id="3" name="Title 2"/>
          <p:cNvSpPr>
            <a:spLocks noGrp="1"/>
          </p:cNvSpPr>
          <p:nvPr>
            <p:ph type="title"/>
          </p:nvPr>
        </p:nvSpPr>
        <p:spPr/>
        <p:txBody>
          <a:bodyPr/>
          <a:lstStyle/>
          <a:p>
            <a:r>
              <a:rPr lang="en-IN" dirty="0"/>
              <a:t>Revoking Privileges From Users</a:t>
            </a:r>
          </a:p>
        </p:txBody>
      </p:sp>
    </p:spTree>
    <p:extLst>
      <p:ext uri="{BB962C8B-B14F-4D97-AF65-F5344CB8AC3E}">
        <p14:creationId xmlns:p14="http://schemas.microsoft.com/office/powerpoint/2010/main" val="69149118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1328"/>
            <a:ext cx="8610600" cy="4690872"/>
          </a:xfrm>
        </p:spPr>
        <p:txBody>
          <a:bodyPr>
            <a:normAutofit fontScale="92500" lnSpcReduction="20000"/>
          </a:bodyPr>
          <a:lstStyle/>
          <a:p>
            <a:r>
              <a:rPr lang="en-IN" dirty="0"/>
              <a:t>MySQL provides a very useful tool for backing up or dumping MySQL databases locally on the server very fast. </a:t>
            </a:r>
          </a:p>
          <a:p>
            <a:r>
              <a:rPr lang="en-IN" dirty="0"/>
              <a:t>The backup file is stored in the file system in the server.</a:t>
            </a:r>
          </a:p>
          <a:p>
            <a:r>
              <a:rPr lang="en-IN" dirty="0"/>
              <a:t>The tool to backup MySQL databases is </a:t>
            </a:r>
            <a:r>
              <a:rPr lang="en-IN" dirty="0" err="1"/>
              <a:t>mysqldump</a:t>
            </a:r>
            <a:r>
              <a:rPr lang="en-IN" dirty="0"/>
              <a:t>. </a:t>
            </a:r>
          </a:p>
          <a:p>
            <a:r>
              <a:rPr lang="en-IN" dirty="0"/>
              <a:t>It is located in the root/bin folder of MySQL installation folder.</a:t>
            </a:r>
          </a:p>
          <a:p>
            <a:r>
              <a:rPr lang="en-IN" dirty="0"/>
              <a:t>The </a:t>
            </a:r>
            <a:r>
              <a:rPr lang="en-IN" b="1" dirty="0" err="1">
                <a:solidFill>
                  <a:srgbClr val="C00000"/>
                </a:solidFill>
              </a:rPr>
              <a:t>mysqldump</a:t>
            </a:r>
            <a:r>
              <a:rPr lang="en-IN" dirty="0"/>
              <a:t> is a program provided by MySQL that can be used to dump databases for backup or transfer database to another database server.</a:t>
            </a:r>
          </a:p>
          <a:p>
            <a:r>
              <a:rPr lang="en-IN" dirty="0"/>
              <a:t>The dump file contains a set of SQL statements to create database objects. </a:t>
            </a:r>
          </a:p>
          <a:p>
            <a:endParaRPr lang="en-IN" dirty="0"/>
          </a:p>
        </p:txBody>
      </p:sp>
      <p:sp>
        <p:nvSpPr>
          <p:cNvPr id="3" name="Title 2"/>
          <p:cNvSpPr>
            <a:spLocks noGrp="1"/>
          </p:cNvSpPr>
          <p:nvPr>
            <p:ph type="title"/>
          </p:nvPr>
        </p:nvSpPr>
        <p:spPr/>
        <p:txBody>
          <a:bodyPr>
            <a:normAutofit fontScale="90000"/>
          </a:bodyPr>
          <a:lstStyle/>
          <a:p>
            <a:r>
              <a:rPr lang="en-IN" dirty="0"/>
              <a:t>Backup &amp; Restore MySQL Database</a:t>
            </a:r>
          </a:p>
        </p:txBody>
      </p:sp>
    </p:spTree>
    <p:extLst>
      <p:ext uri="{BB962C8B-B14F-4D97-AF65-F5344CB8AC3E}">
        <p14:creationId xmlns:p14="http://schemas.microsoft.com/office/powerpoint/2010/main" val="204361094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dirty="0"/>
              <a:t>It creates a *.</a:t>
            </a:r>
            <a:r>
              <a:rPr lang="en-IN" dirty="0" err="1"/>
              <a:t>sql</a:t>
            </a:r>
            <a:r>
              <a:rPr lang="en-IN" dirty="0"/>
              <a:t> file with DROP table, CREATE table and INSERT into </a:t>
            </a:r>
            <a:r>
              <a:rPr lang="en-IN" dirty="0" err="1"/>
              <a:t>sql</a:t>
            </a:r>
            <a:r>
              <a:rPr lang="en-IN" dirty="0"/>
              <a:t>-statements of the source database. </a:t>
            </a:r>
          </a:p>
          <a:p>
            <a:r>
              <a:rPr lang="en-IN" dirty="0"/>
              <a:t>To restore the database,  execute the *.</a:t>
            </a:r>
            <a:r>
              <a:rPr lang="en-IN" dirty="0" err="1"/>
              <a:t>sql</a:t>
            </a:r>
            <a:r>
              <a:rPr lang="en-IN" dirty="0"/>
              <a:t> file on destination database.</a:t>
            </a:r>
          </a:p>
          <a:p>
            <a:r>
              <a:rPr lang="en-IN" dirty="0"/>
              <a:t>We can backup a local database and restore it on a remote database at the same time, using a single command.</a:t>
            </a:r>
          </a:p>
        </p:txBody>
      </p:sp>
      <p:sp>
        <p:nvSpPr>
          <p:cNvPr id="3" name="Title 2"/>
          <p:cNvSpPr>
            <a:spLocks noGrp="1"/>
          </p:cNvSpPr>
          <p:nvPr>
            <p:ph type="title"/>
          </p:nvPr>
        </p:nvSpPr>
        <p:spPr/>
        <p:txBody>
          <a:bodyPr/>
          <a:lstStyle/>
          <a:p>
            <a:r>
              <a:rPr lang="en-IN" dirty="0" err="1"/>
              <a:t>mysqldump</a:t>
            </a:r>
            <a:endParaRPr lang="en-IN" dirty="0"/>
          </a:p>
        </p:txBody>
      </p:sp>
    </p:spTree>
    <p:extLst>
      <p:ext uri="{BB962C8B-B14F-4D97-AF65-F5344CB8AC3E}">
        <p14:creationId xmlns:p14="http://schemas.microsoft.com/office/powerpoint/2010/main" val="300278249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backup: </a:t>
            </a:r>
          </a:p>
          <a:p>
            <a:pPr marL="109728" indent="0">
              <a:buNone/>
            </a:pPr>
            <a:r>
              <a:rPr lang="en-IN" dirty="0"/>
              <a:t># </a:t>
            </a:r>
            <a:r>
              <a:rPr lang="en-IN" b="1" dirty="0" err="1">
                <a:solidFill>
                  <a:srgbClr val="C00000"/>
                </a:solidFill>
              </a:rPr>
              <a:t>mysqldump</a:t>
            </a:r>
            <a:r>
              <a:rPr lang="en-IN" b="1" dirty="0">
                <a:solidFill>
                  <a:srgbClr val="C00000"/>
                </a:solidFill>
              </a:rPr>
              <a:t> -u root -p[</a:t>
            </a:r>
            <a:r>
              <a:rPr lang="en-IN" b="1" dirty="0" err="1">
                <a:solidFill>
                  <a:srgbClr val="C00000"/>
                </a:solidFill>
              </a:rPr>
              <a:t>root_password</a:t>
            </a:r>
            <a:r>
              <a:rPr lang="en-IN" b="1" dirty="0">
                <a:solidFill>
                  <a:srgbClr val="C00000"/>
                </a:solidFill>
              </a:rPr>
              <a:t>] [</a:t>
            </a:r>
            <a:r>
              <a:rPr lang="en-IN" b="1" dirty="0" err="1">
                <a:solidFill>
                  <a:srgbClr val="C00000"/>
                </a:solidFill>
              </a:rPr>
              <a:t>database_name</a:t>
            </a:r>
            <a:r>
              <a:rPr lang="en-IN" b="1" dirty="0">
                <a:solidFill>
                  <a:srgbClr val="C00000"/>
                </a:solidFill>
              </a:rPr>
              <a:t>] &gt; </a:t>
            </a:r>
            <a:r>
              <a:rPr lang="en-IN" b="1" dirty="0" err="1">
                <a:solidFill>
                  <a:srgbClr val="C00000"/>
                </a:solidFill>
              </a:rPr>
              <a:t>dumpfilename.sql</a:t>
            </a:r>
            <a:endParaRPr lang="en-IN" b="1" dirty="0">
              <a:solidFill>
                <a:srgbClr val="C00000"/>
              </a:solidFill>
            </a:endParaRPr>
          </a:p>
          <a:p>
            <a:pPr marL="109728" indent="0">
              <a:buNone/>
            </a:pPr>
            <a:endParaRPr lang="en-IN" b="1" dirty="0">
              <a:solidFill>
                <a:srgbClr val="C00000"/>
              </a:solidFill>
            </a:endParaRPr>
          </a:p>
          <a:p>
            <a:pPr marL="109728" indent="0">
              <a:buNone/>
            </a:pPr>
            <a:r>
              <a:rPr lang="en-IN" dirty="0"/>
              <a:t>restore:</a:t>
            </a:r>
          </a:p>
          <a:p>
            <a:pPr marL="109728" indent="0">
              <a:buNone/>
            </a:pPr>
            <a:r>
              <a:rPr lang="en-IN" dirty="0"/>
              <a:t># </a:t>
            </a:r>
            <a:r>
              <a:rPr lang="en-IN" b="1" dirty="0" err="1">
                <a:solidFill>
                  <a:srgbClr val="C00000"/>
                </a:solidFill>
              </a:rPr>
              <a:t>mysql</a:t>
            </a:r>
            <a:r>
              <a:rPr lang="en-IN" b="1" dirty="0">
                <a:solidFill>
                  <a:srgbClr val="C00000"/>
                </a:solidFill>
              </a:rPr>
              <a:t> -u root -p[</a:t>
            </a:r>
            <a:r>
              <a:rPr lang="en-IN" b="1" dirty="0" err="1">
                <a:solidFill>
                  <a:srgbClr val="C00000"/>
                </a:solidFill>
              </a:rPr>
              <a:t>root_password</a:t>
            </a:r>
            <a:r>
              <a:rPr lang="en-IN" b="1" dirty="0">
                <a:solidFill>
                  <a:srgbClr val="C00000"/>
                </a:solidFill>
              </a:rPr>
              <a:t>] [</a:t>
            </a:r>
            <a:r>
              <a:rPr lang="en-IN" b="1" dirty="0" err="1">
                <a:solidFill>
                  <a:srgbClr val="C00000"/>
                </a:solidFill>
              </a:rPr>
              <a:t>database_name</a:t>
            </a:r>
            <a:r>
              <a:rPr lang="en-IN" b="1" dirty="0">
                <a:solidFill>
                  <a:srgbClr val="C00000"/>
                </a:solidFill>
              </a:rPr>
              <a:t>] &lt; </a:t>
            </a:r>
            <a:r>
              <a:rPr lang="en-IN" b="1" dirty="0" err="1">
                <a:solidFill>
                  <a:srgbClr val="C00000"/>
                </a:solidFill>
              </a:rPr>
              <a:t>dumpfilename.sql</a:t>
            </a:r>
            <a:endParaRPr lang="en-IN" b="1" dirty="0">
              <a:solidFill>
                <a:srgbClr val="C00000"/>
              </a:solidFill>
            </a:endParaRPr>
          </a:p>
          <a:p>
            <a:endParaRPr lang="en-IN" dirty="0"/>
          </a:p>
        </p:txBody>
      </p:sp>
      <p:sp>
        <p:nvSpPr>
          <p:cNvPr id="3" name="Title 2"/>
          <p:cNvSpPr>
            <a:spLocks noGrp="1"/>
          </p:cNvSpPr>
          <p:nvPr>
            <p:ph type="title"/>
          </p:nvPr>
        </p:nvSpPr>
        <p:spPr/>
        <p:txBody>
          <a:bodyPr/>
          <a:lstStyle/>
          <a:p>
            <a:r>
              <a:rPr lang="en-IN" dirty="0" err="1"/>
              <a:t>mysqldump</a:t>
            </a:r>
            <a:endParaRPr lang="en-IN" dirty="0"/>
          </a:p>
        </p:txBody>
      </p:sp>
    </p:spTree>
    <p:extLst>
      <p:ext uri="{BB962C8B-B14F-4D97-AF65-F5344CB8AC3E}">
        <p14:creationId xmlns:p14="http://schemas.microsoft.com/office/powerpoint/2010/main" val="315283723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1328"/>
            <a:ext cx="8458200" cy="5071872"/>
          </a:xfrm>
        </p:spPr>
        <p:txBody>
          <a:bodyPr>
            <a:normAutofit fontScale="92500" lnSpcReduction="10000"/>
          </a:bodyPr>
          <a:lstStyle/>
          <a:p>
            <a:r>
              <a:rPr lang="en-IN" dirty="0"/>
              <a:t>Replication is used to create multiple copies of our database.</a:t>
            </a:r>
          </a:p>
          <a:p>
            <a:r>
              <a:rPr lang="en-IN" dirty="0"/>
              <a:t>These copies then can either be used as another database to run our queries on. Q</a:t>
            </a:r>
          </a:p>
          <a:p>
            <a:r>
              <a:rPr lang="en-IN" dirty="0"/>
              <a:t>Queries that might otherwise affect performance of master server like running some heavy analytics queries or we can just use them for data redundancy purposes or for both.</a:t>
            </a:r>
          </a:p>
          <a:p>
            <a:r>
              <a:rPr lang="en-IN" dirty="0"/>
              <a:t>We can automate the whole process i.e. data replication occurs automatically from master to slave. </a:t>
            </a:r>
          </a:p>
          <a:p>
            <a:r>
              <a:rPr lang="en-IN" dirty="0"/>
              <a:t>Backups are be done without affecting the write operations of the master</a:t>
            </a:r>
          </a:p>
        </p:txBody>
      </p:sp>
      <p:sp>
        <p:nvSpPr>
          <p:cNvPr id="3" name="Title 2"/>
          <p:cNvSpPr>
            <a:spLocks noGrp="1"/>
          </p:cNvSpPr>
          <p:nvPr>
            <p:ph type="title"/>
          </p:nvPr>
        </p:nvSpPr>
        <p:spPr/>
        <p:txBody>
          <a:bodyPr/>
          <a:lstStyle/>
          <a:p>
            <a:r>
              <a:rPr lang="en-IN" dirty="0"/>
              <a:t>MySQL Replication</a:t>
            </a:r>
          </a:p>
        </p:txBody>
      </p:sp>
    </p:spTree>
    <p:extLst>
      <p:ext uri="{BB962C8B-B14F-4D97-AF65-F5344CB8AC3E}">
        <p14:creationId xmlns:p14="http://schemas.microsoft.com/office/powerpoint/2010/main" val="9331482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PHP combined with </a:t>
            </a:r>
            <a:r>
              <a:rPr lang="en-US" dirty="0" err="1"/>
              <a:t>MySQL</a:t>
            </a:r>
            <a:r>
              <a:rPr lang="en-US" dirty="0"/>
              <a:t> are cross-platform (you can develop in Windows and serve on a Unix platform)</a:t>
            </a:r>
          </a:p>
          <a:p>
            <a:r>
              <a:rPr lang="en-US" dirty="0"/>
              <a:t>We can query a database for specific information and have a </a:t>
            </a:r>
            <a:r>
              <a:rPr lang="en-US" dirty="0" err="1"/>
              <a:t>recordset</a:t>
            </a:r>
            <a:r>
              <a:rPr lang="en-US" dirty="0"/>
              <a:t> returned.</a:t>
            </a:r>
          </a:p>
        </p:txBody>
      </p:sp>
      <p:sp>
        <p:nvSpPr>
          <p:cNvPr id="3" name="Title 2"/>
          <p:cNvSpPr>
            <a:spLocks noGrp="1"/>
          </p:cNvSpPr>
          <p:nvPr>
            <p:ph type="title"/>
          </p:nvPr>
        </p:nvSpPr>
        <p:spPr/>
        <p:txBody>
          <a:bodyPr>
            <a:normAutofit/>
          </a:bodyPr>
          <a:lstStyle/>
          <a:p>
            <a:r>
              <a:rPr lang="en-US" b="0" dirty="0"/>
              <a:t>PHP + </a:t>
            </a:r>
            <a:r>
              <a:rPr lang="en-US" b="0" dirty="0" err="1"/>
              <a:t>MySQL</a:t>
            </a:r>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&lt;html&gt;</a:t>
            </a:r>
          </a:p>
          <a:p>
            <a:r>
              <a:rPr lang="en-US" dirty="0"/>
              <a:t>&lt;head&gt;</a:t>
            </a:r>
          </a:p>
          <a:p>
            <a:r>
              <a:rPr lang="en-US" dirty="0"/>
              <a:t>&lt;title&gt;Variables - Some Practice&lt;/title&gt;</a:t>
            </a:r>
          </a:p>
          <a:p>
            <a:r>
              <a:rPr lang="en-US" dirty="0"/>
              <a:t>&lt;/head&gt;</a:t>
            </a:r>
          </a:p>
          <a:p>
            <a:r>
              <a:rPr lang="en-US" dirty="0"/>
              <a:t>&lt;body&gt;</a:t>
            </a:r>
          </a:p>
          <a:p>
            <a:endParaRPr lang="en-US" dirty="0"/>
          </a:p>
          <a:p>
            <a:r>
              <a:rPr lang="en-US" dirty="0"/>
              <a:t>&lt;?</a:t>
            </a:r>
            <a:r>
              <a:rPr lang="en-US" dirty="0" err="1"/>
              <a:t>php</a:t>
            </a:r>
            <a:r>
              <a:rPr lang="en-US" dirty="0"/>
              <a:t> print("It Worked!"); ?&gt;</a:t>
            </a:r>
          </a:p>
          <a:p>
            <a:endParaRPr lang="en-US" dirty="0"/>
          </a:p>
          <a:p>
            <a:r>
              <a:rPr lang="en-US" dirty="0"/>
              <a:t>&lt;/body&gt;</a:t>
            </a:r>
          </a:p>
          <a:p>
            <a:r>
              <a:rPr lang="en-US" dirty="0"/>
              <a:t>&lt;/html&gt;</a:t>
            </a:r>
          </a:p>
        </p:txBody>
      </p:sp>
      <p:sp>
        <p:nvSpPr>
          <p:cNvPr id="3" name="Title 2"/>
          <p:cNvSpPr>
            <a:spLocks noGrp="1"/>
          </p:cNvSpPr>
          <p:nvPr>
            <p:ph type="title"/>
          </p:nvPr>
        </p:nvSpPr>
        <p:spPr/>
        <p:txBody>
          <a:bodyPr/>
          <a:lstStyle/>
          <a:p>
            <a:r>
              <a:rPr lang="en-US" dirty="0"/>
              <a:t>A Sample PHP Code</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Use the PHP </a:t>
            </a:r>
            <a:r>
              <a:rPr lang="en-US" dirty="0" err="1"/>
              <a:t>mysqli_connect</a:t>
            </a:r>
            <a:r>
              <a:rPr lang="en-US" dirty="0"/>
              <a:t>() function to open a new connection to the </a:t>
            </a:r>
            <a:r>
              <a:rPr lang="en-US" dirty="0" err="1"/>
              <a:t>MySQL</a:t>
            </a:r>
            <a:r>
              <a:rPr lang="en-US" dirty="0"/>
              <a:t> server.</a:t>
            </a:r>
          </a:p>
          <a:p>
            <a:r>
              <a:rPr lang="en-US" dirty="0"/>
              <a:t>Before we can access data in a database, we must open a connection to the </a:t>
            </a:r>
            <a:r>
              <a:rPr lang="en-US" dirty="0" err="1"/>
              <a:t>MySQL</a:t>
            </a:r>
            <a:r>
              <a:rPr lang="en-US" dirty="0"/>
              <a:t> server.</a:t>
            </a:r>
          </a:p>
          <a:p>
            <a:r>
              <a:rPr lang="en-US" dirty="0" err="1"/>
              <a:t>mysqli_connect</a:t>
            </a:r>
            <a:r>
              <a:rPr lang="en-US" dirty="0"/>
              <a:t>()</a:t>
            </a:r>
          </a:p>
          <a:p>
            <a:pPr>
              <a:buNone/>
            </a:pPr>
            <a:r>
              <a:rPr lang="en-US" dirty="0"/>
              <a:t>Syntax</a:t>
            </a:r>
          </a:p>
          <a:p>
            <a:r>
              <a:rPr lang="en-US" dirty="0" err="1"/>
              <a:t>mysqli_connect</a:t>
            </a:r>
            <a:r>
              <a:rPr lang="en-US" dirty="0"/>
              <a:t>(</a:t>
            </a:r>
            <a:r>
              <a:rPr lang="en-US" dirty="0" err="1"/>
              <a:t>host,username,password,dbname</a:t>
            </a:r>
            <a:r>
              <a:rPr lang="en-US" dirty="0"/>
              <a:t>);</a:t>
            </a:r>
          </a:p>
          <a:p>
            <a:r>
              <a:rPr lang="en-US" dirty="0"/>
              <a:t>To close the connection before, use the </a:t>
            </a:r>
            <a:r>
              <a:rPr lang="en-US" dirty="0" err="1"/>
              <a:t>mysqli_close</a:t>
            </a:r>
            <a:r>
              <a:rPr lang="en-US" dirty="0"/>
              <a:t>() function:</a:t>
            </a:r>
          </a:p>
          <a:p>
            <a:endParaRPr lang="en-US" dirty="0"/>
          </a:p>
          <a:p>
            <a:endParaRPr lang="en-US" dirty="0"/>
          </a:p>
        </p:txBody>
      </p:sp>
      <p:sp>
        <p:nvSpPr>
          <p:cNvPr id="3" name="Title 2"/>
          <p:cNvSpPr>
            <a:spLocks noGrp="1"/>
          </p:cNvSpPr>
          <p:nvPr>
            <p:ph type="title"/>
          </p:nvPr>
        </p:nvSpPr>
        <p:spPr/>
        <p:txBody>
          <a:bodyPr>
            <a:normAutofit fontScale="90000"/>
          </a:bodyPr>
          <a:lstStyle/>
          <a:p>
            <a:r>
              <a:rPr lang="en-US" b="0" dirty="0"/>
              <a:t>PHP Connect to the </a:t>
            </a:r>
            <a:r>
              <a:rPr lang="en-US" b="0" dirty="0" err="1"/>
              <a:t>MySQL</a:t>
            </a:r>
            <a:r>
              <a:rPr lang="en-US" b="0" dirty="0"/>
              <a:t> Server</a:t>
            </a:r>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5071872"/>
          </a:xfrm>
        </p:spPr>
        <p:txBody>
          <a:bodyPr>
            <a:normAutofit fontScale="92500" lnSpcReduction="20000"/>
          </a:bodyPr>
          <a:lstStyle/>
          <a:p>
            <a:r>
              <a:rPr lang="en-US" dirty="0"/>
              <a:t>Create a table named "Persons", with three </a:t>
            </a:r>
            <a:r>
              <a:rPr lang="en-US" dirty="0" err="1"/>
              <a:t>columns:Serviceno</a:t>
            </a:r>
            <a:r>
              <a:rPr lang="en-US" dirty="0"/>
              <a:t> "</a:t>
            </a:r>
            <a:r>
              <a:rPr lang="en-US" dirty="0" err="1"/>
              <a:t>FirstName</a:t>
            </a:r>
            <a:r>
              <a:rPr lang="en-US" dirty="0"/>
              <a:t>", "</a:t>
            </a:r>
            <a:r>
              <a:rPr lang="en-US" dirty="0" err="1"/>
              <a:t>LastName</a:t>
            </a:r>
            <a:r>
              <a:rPr lang="en-US" dirty="0"/>
              <a:t>" and "Age“</a:t>
            </a:r>
          </a:p>
          <a:p>
            <a:pPr>
              <a:buNone/>
            </a:pPr>
            <a:r>
              <a:rPr lang="en-US" b="1" dirty="0"/>
              <a:t>HTML form:</a:t>
            </a:r>
          </a:p>
          <a:p>
            <a:r>
              <a:rPr lang="en-US" dirty="0"/>
              <a:t>&lt;html&gt;</a:t>
            </a:r>
            <a:br>
              <a:rPr lang="en-US" dirty="0"/>
            </a:br>
            <a:r>
              <a:rPr lang="en-US" dirty="0"/>
              <a:t>&lt;body&gt;</a:t>
            </a:r>
            <a:br>
              <a:rPr lang="en-US" dirty="0"/>
            </a:br>
            <a:r>
              <a:rPr lang="en-US" dirty="0"/>
              <a:t>&lt;form action="insert.php" method="post"&gt;</a:t>
            </a:r>
            <a:br>
              <a:rPr lang="en-US" dirty="0"/>
            </a:br>
            <a:r>
              <a:rPr lang="en-US" dirty="0" err="1"/>
              <a:t>Firstname</a:t>
            </a:r>
            <a:r>
              <a:rPr lang="en-US" dirty="0"/>
              <a:t>: &lt;input type="text" name="</a:t>
            </a:r>
            <a:r>
              <a:rPr lang="en-US" dirty="0" err="1"/>
              <a:t>firstname</a:t>
            </a:r>
            <a:r>
              <a:rPr lang="en-US" dirty="0"/>
              <a:t>"&gt;</a:t>
            </a:r>
            <a:br>
              <a:rPr lang="en-US" dirty="0"/>
            </a:br>
            <a:r>
              <a:rPr lang="en-US" dirty="0" err="1"/>
              <a:t>Lastname</a:t>
            </a:r>
            <a:r>
              <a:rPr lang="en-US" dirty="0"/>
              <a:t>: &lt;input type="text" name="</a:t>
            </a:r>
            <a:r>
              <a:rPr lang="en-US" dirty="0" err="1"/>
              <a:t>lastname</a:t>
            </a:r>
            <a:r>
              <a:rPr lang="en-US" dirty="0"/>
              <a:t>"&gt;</a:t>
            </a:r>
            <a:br>
              <a:rPr lang="en-US" dirty="0"/>
            </a:br>
            <a:r>
              <a:rPr lang="en-US" dirty="0"/>
              <a:t>Age: &lt;input type="text" name="age"&gt;</a:t>
            </a:r>
            <a:br>
              <a:rPr lang="en-US" dirty="0"/>
            </a:br>
            <a:r>
              <a:rPr lang="en-US" dirty="0"/>
              <a:t>&lt;input type="submit"&gt;</a:t>
            </a:r>
            <a:br>
              <a:rPr lang="en-US" dirty="0"/>
            </a:br>
            <a:r>
              <a:rPr lang="en-US" dirty="0"/>
              <a:t>&lt;/form&gt;</a:t>
            </a:r>
            <a:br>
              <a:rPr lang="en-US" dirty="0"/>
            </a:br>
            <a:r>
              <a:rPr lang="en-US" dirty="0"/>
              <a:t>&lt;/body&gt;</a:t>
            </a:r>
            <a:br>
              <a:rPr lang="en-US" dirty="0"/>
            </a:br>
            <a:r>
              <a:rPr lang="en-US" dirty="0"/>
              <a:t>&lt;/html&gt;</a:t>
            </a:r>
          </a:p>
          <a:p>
            <a:pPr>
              <a:buNone/>
            </a:pPr>
            <a:endParaRPr lang="en-US" dirty="0"/>
          </a:p>
        </p:txBody>
      </p:sp>
      <p:sp>
        <p:nvSpPr>
          <p:cNvPr id="3" name="Title 2"/>
          <p:cNvSpPr>
            <a:spLocks noGrp="1"/>
          </p:cNvSpPr>
          <p:nvPr>
            <p:ph type="title"/>
          </p:nvPr>
        </p:nvSpPr>
        <p:spPr/>
        <p:txBody>
          <a:bodyPr>
            <a:normAutofit fontScale="90000"/>
          </a:bodyPr>
          <a:lstStyle/>
          <a:p>
            <a:r>
              <a:rPr lang="en-US" b="0" dirty="0"/>
              <a:t>Insert Data From a Form Into a Database</a:t>
            </a:r>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5071872"/>
          </a:xfrm>
        </p:spPr>
        <p:txBody>
          <a:bodyPr>
            <a:normAutofit fontScale="70000" lnSpcReduction="20000"/>
          </a:bodyPr>
          <a:lstStyle/>
          <a:p>
            <a:r>
              <a:rPr lang="en-US" dirty="0"/>
              <a:t>&lt;?</a:t>
            </a:r>
            <a:r>
              <a:rPr lang="en-US" dirty="0" err="1"/>
              <a:t>php</a:t>
            </a:r>
            <a:br>
              <a:rPr lang="en-US" dirty="0"/>
            </a:br>
            <a:r>
              <a:rPr lang="en-US" dirty="0"/>
              <a:t>$con=</a:t>
            </a:r>
            <a:r>
              <a:rPr lang="en-US" dirty="0" err="1"/>
              <a:t>mysqli_connect</a:t>
            </a:r>
            <a:r>
              <a:rPr lang="en-US" dirty="0"/>
              <a:t>("example.com","peter","abc123","my_db");</a:t>
            </a:r>
            <a:br>
              <a:rPr lang="en-US" dirty="0"/>
            </a:br>
            <a:r>
              <a:rPr lang="en-US" dirty="0"/>
              <a:t>// Check connection</a:t>
            </a:r>
            <a:br>
              <a:rPr lang="en-US" dirty="0"/>
            </a:br>
            <a:r>
              <a:rPr lang="en-US" dirty="0"/>
              <a:t>if (</a:t>
            </a:r>
            <a:r>
              <a:rPr lang="en-US" dirty="0" err="1"/>
              <a:t>mysqli_connect_errno</a:t>
            </a:r>
            <a:r>
              <a:rPr lang="en-US" dirty="0"/>
              <a:t>())</a:t>
            </a:r>
            <a:br>
              <a:rPr lang="en-US" dirty="0"/>
            </a:br>
            <a:r>
              <a:rPr lang="en-US" dirty="0"/>
              <a:t>  {</a:t>
            </a:r>
            <a:br>
              <a:rPr lang="en-US" dirty="0"/>
            </a:br>
            <a:r>
              <a:rPr lang="en-US" dirty="0"/>
              <a:t>  echo "Failed to connect to </a:t>
            </a:r>
            <a:r>
              <a:rPr lang="en-US" dirty="0" err="1"/>
              <a:t>MySQL</a:t>
            </a:r>
            <a:r>
              <a:rPr lang="en-US" dirty="0"/>
              <a:t>: " . </a:t>
            </a:r>
            <a:r>
              <a:rPr lang="en-US" dirty="0" err="1"/>
              <a:t>mysqli_connect_error</a:t>
            </a:r>
            <a:r>
              <a:rPr lang="en-US" dirty="0"/>
              <a:t>();</a:t>
            </a:r>
            <a:br>
              <a:rPr lang="en-US" dirty="0"/>
            </a:br>
            <a:r>
              <a:rPr lang="en-US" dirty="0"/>
              <a:t>  }</a:t>
            </a:r>
            <a:br>
              <a:rPr lang="en-US" dirty="0"/>
            </a:br>
            <a:br>
              <a:rPr lang="en-US" dirty="0"/>
            </a:br>
            <a:r>
              <a:rPr lang="en-US" dirty="0"/>
              <a:t>$</a:t>
            </a:r>
            <a:r>
              <a:rPr lang="en-US" dirty="0" err="1"/>
              <a:t>sql</a:t>
            </a:r>
            <a:r>
              <a:rPr lang="en-US" dirty="0"/>
              <a:t>="INSERT INTO Persons (</a:t>
            </a:r>
            <a:r>
              <a:rPr lang="en-US" dirty="0" err="1"/>
              <a:t>FirstName</a:t>
            </a:r>
            <a:r>
              <a:rPr lang="en-US" dirty="0"/>
              <a:t>, </a:t>
            </a:r>
            <a:r>
              <a:rPr lang="en-US" dirty="0" err="1"/>
              <a:t>LastName</a:t>
            </a:r>
            <a:r>
              <a:rPr lang="en-US" dirty="0"/>
              <a:t>, Age)</a:t>
            </a:r>
            <a:br>
              <a:rPr lang="en-US" dirty="0"/>
            </a:br>
            <a:r>
              <a:rPr lang="en-US" dirty="0"/>
              <a:t>VALUES</a:t>
            </a:r>
            <a:br>
              <a:rPr lang="en-US" dirty="0"/>
            </a:br>
            <a:r>
              <a:rPr lang="en-US" dirty="0"/>
              <a:t>('$_POST[</a:t>
            </a:r>
            <a:r>
              <a:rPr lang="en-US" dirty="0" err="1"/>
              <a:t>firstname</a:t>
            </a:r>
            <a:r>
              <a:rPr lang="en-US" dirty="0"/>
              <a:t>]','$_POST[</a:t>
            </a:r>
            <a:r>
              <a:rPr lang="en-US" dirty="0" err="1"/>
              <a:t>lastname</a:t>
            </a:r>
            <a:r>
              <a:rPr lang="en-US" dirty="0"/>
              <a:t>]','$_POST[age]')";</a:t>
            </a:r>
            <a:br>
              <a:rPr lang="en-US" dirty="0"/>
            </a:br>
            <a:br>
              <a:rPr lang="en-US" dirty="0"/>
            </a:br>
            <a:r>
              <a:rPr lang="en-US" dirty="0"/>
              <a:t>if (!</a:t>
            </a:r>
            <a:r>
              <a:rPr lang="en-US" dirty="0" err="1"/>
              <a:t>mysqli_query</a:t>
            </a:r>
            <a:r>
              <a:rPr lang="en-US" dirty="0"/>
              <a:t>($</a:t>
            </a:r>
            <a:r>
              <a:rPr lang="en-US" dirty="0" err="1"/>
              <a:t>con,$sql</a:t>
            </a:r>
            <a:r>
              <a:rPr lang="en-US" dirty="0"/>
              <a:t>))</a:t>
            </a:r>
            <a:br>
              <a:rPr lang="en-US" dirty="0"/>
            </a:br>
            <a:r>
              <a:rPr lang="en-US" dirty="0"/>
              <a:t>  {</a:t>
            </a:r>
            <a:br>
              <a:rPr lang="en-US" dirty="0"/>
            </a:br>
            <a:r>
              <a:rPr lang="en-US" dirty="0"/>
              <a:t>  die('Error: ' . </a:t>
            </a:r>
            <a:r>
              <a:rPr lang="en-US" dirty="0" err="1"/>
              <a:t>mysqli_error</a:t>
            </a:r>
            <a:r>
              <a:rPr lang="en-US" dirty="0"/>
              <a:t>($con));</a:t>
            </a:r>
            <a:br>
              <a:rPr lang="en-US" dirty="0"/>
            </a:br>
            <a:r>
              <a:rPr lang="en-US" dirty="0"/>
              <a:t>  }</a:t>
            </a:r>
            <a:br>
              <a:rPr lang="en-US" dirty="0"/>
            </a:br>
            <a:r>
              <a:rPr lang="en-US" dirty="0"/>
              <a:t>echo "1 record added";</a:t>
            </a:r>
            <a:br>
              <a:rPr lang="en-US" dirty="0"/>
            </a:br>
            <a:br>
              <a:rPr lang="en-US" dirty="0"/>
            </a:br>
            <a:r>
              <a:rPr lang="en-US" dirty="0" err="1"/>
              <a:t>mysqli_close</a:t>
            </a:r>
            <a:r>
              <a:rPr lang="en-US" dirty="0"/>
              <a:t>($con);</a:t>
            </a:r>
            <a:br>
              <a:rPr lang="en-US" dirty="0"/>
            </a:br>
            <a:r>
              <a:rPr lang="en-US" dirty="0"/>
              <a:t>?&gt;</a:t>
            </a:r>
          </a:p>
        </p:txBody>
      </p:sp>
      <p:sp>
        <p:nvSpPr>
          <p:cNvPr id="3" name="Title 2"/>
          <p:cNvSpPr>
            <a:spLocks noGrp="1"/>
          </p:cNvSpPr>
          <p:nvPr>
            <p:ph type="title"/>
          </p:nvPr>
        </p:nvSpPr>
        <p:spPr/>
        <p:txBody>
          <a:bodyPr/>
          <a:lstStyle/>
          <a:p>
            <a:r>
              <a:rPr lang="en-US" dirty="0"/>
              <a:t>Inert.php</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5257800"/>
          </a:xfrm>
        </p:spPr>
        <p:txBody>
          <a:bodyPr>
            <a:normAutofit fontScale="47500" lnSpcReduction="20000"/>
          </a:bodyPr>
          <a:lstStyle/>
          <a:p>
            <a:r>
              <a:rPr lang="en-US" dirty="0"/>
              <a:t>&lt;?</a:t>
            </a:r>
            <a:r>
              <a:rPr lang="en-US" dirty="0" err="1"/>
              <a:t>php</a:t>
            </a:r>
            <a:br>
              <a:rPr lang="en-US" sz="3300" dirty="0"/>
            </a:br>
            <a:r>
              <a:rPr lang="en-US" sz="3300" dirty="0"/>
              <a:t>$con=</a:t>
            </a:r>
            <a:r>
              <a:rPr lang="en-US" sz="3300" dirty="0" err="1"/>
              <a:t>mysqli_connect</a:t>
            </a:r>
            <a:r>
              <a:rPr lang="en-US" sz="3300" dirty="0"/>
              <a:t>("example.com","peter","abc123","my_db");</a:t>
            </a:r>
            <a:br>
              <a:rPr lang="en-US" sz="3300" dirty="0"/>
            </a:br>
            <a:r>
              <a:rPr lang="en-US" sz="3300" dirty="0"/>
              <a:t>// Check connection</a:t>
            </a:r>
            <a:br>
              <a:rPr lang="en-US" sz="3300" dirty="0"/>
            </a:br>
            <a:r>
              <a:rPr lang="en-US" sz="3300" dirty="0"/>
              <a:t>if (</a:t>
            </a:r>
            <a:r>
              <a:rPr lang="en-US" sz="3300" dirty="0" err="1"/>
              <a:t>mysqli_connect_errno</a:t>
            </a:r>
            <a:r>
              <a:rPr lang="en-US" sz="3300" dirty="0"/>
              <a:t>())</a:t>
            </a:r>
            <a:br>
              <a:rPr lang="en-US" sz="3300" dirty="0"/>
            </a:br>
            <a:r>
              <a:rPr lang="en-US" sz="3300" dirty="0"/>
              <a:t>  {</a:t>
            </a:r>
            <a:br>
              <a:rPr lang="en-US" sz="3300" dirty="0"/>
            </a:br>
            <a:r>
              <a:rPr lang="en-US" sz="3300" dirty="0"/>
              <a:t>  echo "Failed to connect to </a:t>
            </a:r>
            <a:r>
              <a:rPr lang="en-US" sz="3300" dirty="0" err="1"/>
              <a:t>MySQL</a:t>
            </a:r>
            <a:r>
              <a:rPr lang="en-US" sz="3300" dirty="0"/>
              <a:t>: " . </a:t>
            </a:r>
            <a:r>
              <a:rPr lang="en-US" sz="3300" dirty="0" err="1"/>
              <a:t>mysqli_connect_error</a:t>
            </a:r>
            <a:r>
              <a:rPr lang="en-US" sz="3300" dirty="0"/>
              <a:t>();</a:t>
            </a:r>
            <a:br>
              <a:rPr lang="en-US" sz="3300" dirty="0"/>
            </a:br>
            <a:r>
              <a:rPr lang="en-US" sz="3300" dirty="0"/>
              <a:t>  }</a:t>
            </a:r>
            <a:br>
              <a:rPr lang="en-US" sz="3300" dirty="0"/>
            </a:br>
            <a:br>
              <a:rPr lang="en-US" sz="3300" dirty="0"/>
            </a:br>
            <a:r>
              <a:rPr lang="en-US" sz="3300" dirty="0"/>
              <a:t>$result = </a:t>
            </a:r>
            <a:r>
              <a:rPr lang="en-US" sz="3300" dirty="0" err="1"/>
              <a:t>mysqli_query</a:t>
            </a:r>
            <a:r>
              <a:rPr lang="en-US" sz="3300" dirty="0"/>
              <a:t>($</a:t>
            </a:r>
            <a:r>
              <a:rPr lang="en-US" sz="3300" dirty="0" err="1"/>
              <a:t>con,"SELECT</a:t>
            </a:r>
            <a:r>
              <a:rPr lang="en-US" sz="3300" dirty="0"/>
              <a:t> * FROM Persons");</a:t>
            </a:r>
            <a:br>
              <a:rPr lang="en-US" sz="3300" dirty="0"/>
            </a:br>
            <a:br>
              <a:rPr lang="en-US" sz="3300" dirty="0"/>
            </a:br>
            <a:r>
              <a:rPr lang="en-US" sz="3300" dirty="0"/>
              <a:t>echo </a:t>
            </a:r>
            <a:r>
              <a:rPr lang="en-US" sz="3300" b="1" dirty="0"/>
              <a:t>"</a:t>
            </a:r>
            <a:r>
              <a:rPr lang="en-US" sz="3300" dirty="0"/>
              <a:t>&lt;table border='1'&gt;</a:t>
            </a:r>
            <a:br>
              <a:rPr lang="en-US" sz="3300" b="1" dirty="0"/>
            </a:br>
            <a:r>
              <a:rPr lang="en-US" sz="3300" b="1" dirty="0"/>
              <a:t>&lt;</a:t>
            </a:r>
            <a:r>
              <a:rPr lang="en-US" sz="3300" dirty="0" err="1"/>
              <a:t>tr</a:t>
            </a:r>
            <a:r>
              <a:rPr lang="en-US" sz="3300" dirty="0"/>
              <a:t>&gt;</a:t>
            </a:r>
            <a:br>
              <a:rPr lang="en-US" sz="3300" dirty="0"/>
            </a:br>
            <a:r>
              <a:rPr lang="en-US" sz="3300" dirty="0"/>
              <a:t>&lt;</a:t>
            </a:r>
            <a:r>
              <a:rPr lang="en-US" sz="3300" dirty="0" err="1"/>
              <a:t>th</a:t>
            </a:r>
            <a:r>
              <a:rPr lang="en-US" sz="3300" dirty="0"/>
              <a:t>&gt;</a:t>
            </a:r>
            <a:r>
              <a:rPr lang="en-US" sz="3300" dirty="0" err="1"/>
              <a:t>Firstname</a:t>
            </a:r>
            <a:r>
              <a:rPr lang="en-US" sz="3300" dirty="0"/>
              <a:t>&lt;/</a:t>
            </a:r>
            <a:r>
              <a:rPr lang="en-US" sz="3300" dirty="0" err="1"/>
              <a:t>th</a:t>
            </a:r>
            <a:r>
              <a:rPr lang="en-US" sz="3300" dirty="0"/>
              <a:t>&gt;</a:t>
            </a:r>
            <a:br>
              <a:rPr lang="en-US" sz="3300" dirty="0"/>
            </a:br>
            <a:r>
              <a:rPr lang="en-US" sz="3300" dirty="0"/>
              <a:t>&lt;</a:t>
            </a:r>
            <a:r>
              <a:rPr lang="en-US" sz="3300" dirty="0" err="1"/>
              <a:t>th</a:t>
            </a:r>
            <a:r>
              <a:rPr lang="en-US" sz="3300" dirty="0"/>
              <a:t>&gt;</a:t>
            </a:r>
            <a:r>
              <a:rPr lang="en-US" sz="3300" dirty="0" err="1"/>
              <a:t>Lastname</a:t>
            </a:r>
            <a:r>
              <a:rPr lang="en-US" sz="3300" dirty="0"/>
              <a:t>&lt;/</a:t>
            </a:r>
            <a:r>
              <a:rPr lang="en-US" sz="3300" dirty="0" err="1"/>
              <a:t>th</a:t>
            </a:r>
            <a:r>
              <a:rPr lang="en-US" sz="3300" dirty="0"/>
              <a:t>&gt;</a:t>
            </a:r>
            <a:br>
              <a:rPr lang="en-US" sz="3300" dirty="0"/>
            </a:br>
            <a:r>
              <a:rPr lang="en-US" sz="3300" dirty="0"/>
              <a:t>&lt;/</a:t>
            </a:r>
            <a:r>
              <a:rPr lang="en-US" sz="3300" dirty="0" err="1"/>
              <a:t>tr</a:t>
            </a:r>
            <a:r>
              <a:rPr lang="en-US" sz="3300" dirty="0"/>
              <a:t>&gt;";</a:t>
            </a:r>
            <a:br>
              <a:rPr lang="en-US" sz="3300" dirty="0"/>
            </a:br>
            <a:br>
              <a:rPr lang="en-US" sz="3300" dirty="0"/>
            </a:br>
            <a:r>
              <a:rPr lang="en-US" sz="3300" dirty="0"/>
              <a:t>while($row = </a:t>
            </a:r>
            <a:r>
              <a:rPr lang="en-US" sz="3300" dirty="0" err="1"/>
              <a:t>mysqli_fetch_array</a:t>
            </a:r>
            <a:r>
              <a:rPr lang="en-US" sz="3300" dirty="0"/>
              <a:t>($result))</a:t>
            </a:r>
            <a:br>
              <a:rPr lang="en-US" sz="3300" dirty="0"/>
            </a:br>
            <a:r>
              <a:rPr lang="en-US" sz="3300" dirty="0"/>
              <a:t>  {</a:t>
            </a:r>
            <a:br>
              <a:rPr lang="en-US" sz="3300" dirty="0"/>
            </a:br>
            <a:r>
              <a:rPr lang="en-US" sz="3300" dirty="0"/>
              <a:t>  echo "&lt;</a:t>
            </a:r>
            <a:r>
              <a:rPr lang="en-US" sz="3300" dirty="0" err="1"/>
              <a:t>tr</a:t>
            </a:r>
            <a:r>
              <a:rPr lang="en-US" sz="3300" dirty="0"/>
              <a:t>&gt;";</a:t>
            </a:r>
            <a:br>
              <a:rPr lang="en-US" sz="3300" dirty="0"/>
            </a:br>
            <a:r>
              <a:rPr lang="en-US" sz="3300" dirty="0"/>
              <a:t>  echo "&lt;td&gt;" . $row['</a:t>
            </a:r>
            <a:r>
              <a:rPr lang="en-US" sz="3300" dirty="0" err="1"/>
              <a:t>FirstName</a:t>
            </a:r>
            <a:r>
              <a:rPr lang="en-US" sz="3300" dirty="0"/>
              <a:t>'] . "&lt;/td&gt;";</a:t>
            </a:r>
            <a:br>
              <a:rPr lang="en-US" sz="3300" dirty="0"/>
            </a:br>
            <a:r>
              <a:rPr lang="en-US" sz="3300" dirty="0"/>
              <a:t>  echo "&lt;td&gt;" . $row['</a:t>
            </a:r>
            <a:r>
              <a:rPr lang="en-US" sz="3300" dirty="0" err="1"/>
              <a:t>LastName</a:t>
            </a:r>
            <a:r>
              <a:rPr lang="en-US" sz="3300" dirty="0"/>
              <a:t>'] . "&lt;/td&gt;";</a:t>
            </a:r>
            <a:br>
              <a:rPr lang="en-US" sz="3300" dirty="0"/>
            </a:br>
            <a:r>
              <a:rPr lang="en-US" sz="3300" dirty="0"/>
              <a:t>  echo "&lt;/</a:t>
            </a:r>
            <a:r>
              <a:rPr lang="en-US" sz="3300" dirty="0" err="1"/>
              <a:t>tr</a:t>
            </a:r>
            <a:r>
              <a:rPr lang="en-US" sz="3300" dirty="0"/>
              <a:t>&gt;";</a:t>
            </a:r>
            <a:br>
              <a:rPr lang="en-US" sz="3300" dirty="0"/>
            </a:br>
            <a:r>
              <a:rPr lang="en-US" sz="3300" dirty="0"/>
              <a:t>  }</a:t>
            </a:r>
            <a:br>
              <a:rPr lang="en-US" sz="3300" dirty="0"/>
            </a:br>
            <a:r>
              <a:rPr lang="en-US" sz="3300" dirty="0"/>
              <a:t>echo "&lt;/table&gt;";</a:t>
            </a:r>
            <a:br>
              <a:rPr lang="en-US" sz="3300" dirty="0"/>
            </a:br>
            <a:br>
              <a:rPr lang="en-US" sz="3300" dirty="0"/>
            </a:br>
            <a:r>
              <a:rPr lang="en-US" sz="3300" dirty="0" err="1"/>
              <a:t>mysqli_close</a:t>
            </a:r>
            <a:r>
              <a:rPr lang="en-US" sz="3300" dirty="0"/>
              <a:t>($con);                ?&gt;</a:t>
            </a:r>
            <a:endParaRPr lang="en-US" dirty="0"/>
          </a:p>
        </p:txBody>
      </p:sp>
      <p:sp>
        <p:nvSpPr>
          <p:cNvPr id="3" name="Title 2"/>
          <p:cNvSpPr>
            <a:spLocks noGrp="1"/>
          </p:cNvSpPr>
          <p:nvPr>
            <p:ph type="title"/>
          </p:nvPr>
        </p:nvSpPr>
        <p:spPr/>
        <p:txBody>
          <a:bodyPr>
            <a:normAutofit fontScale="90000"/>
          </a:bodyPr>
          <a:lstStyle/>
          <a:p>
            <a:r>
              <a:rPr lang="en-US" b="0" dirty="0"/>
              <a:t>Display the Result in an HTML Table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6029</TotalTime>
  <Words>8654</Words>
  <Application>Microsoft Office PowerPoint</Application>
  <PresentationFormat>On-screen Show (4:3)</PresentationFormat>
  <Paragraphs>841</Paragraphs>
  <Slides>133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133</vt:i4>
      </vt:variant>
    </vt:vector>
  </HeadingPairs>
  <TitlesOfParts>
    <vt:vector size="142" baseType="lpstr">
      <vt:lpstr>Arial</vt:lpstr>
      <vt:lpstr>Courier New</vt:lpstr>
      <vt:lpstr>Google Sans</vt:lpstr>
      <vt:lpstr>Lucida Sans Unicode</vt:lpstr>
      <vt:lpstr>Verdana</vt:lpstr>
      <vt:lpstr>Verdana</vt:lpstr>
      <vt:lpstr>Wingdings 2</vt:lpstr>
      <vt:lpstr>Wingdings 3</vt:lpstr>
      <vt:lpstr>Concourse</vt:lpstr>
      <vt:lpstr>Structure Query Language</vt:lpstr>
      <vt:lpstr>Introduction to SQL</vt:lpstr>
      <vt:lpstr>PowerPoint Presentation</vt:lpstr>
      <vt:lpstr>What Can SQL do?</vt:lpstr>
      <vt:lpstr>Using SQL in Your Web Site</vt:lpstr>
      <vt:lpstr>Introduction to DBMS</vt:lpstr>
      <vt:lpstr>Advantages of Database Management System</vt:lpstr>
      <vt:lpstr>Database Management System Benefits..</vt:lpstr>
      <vt:lpstr>3-Tier Architecture</vt:lpstr>
      <vt:lpstr>RDBMS</vt:lpstr>
      <vt:lpstr>MySQL</vt:lpstr>
      <vt:lpstr>PowerPoint Presentation</vt:lpstr>
      <vt:lpstr>SQL</vt:lpstr>
      <vt:lpstr>PowerPoint Presentation</vt:lpstr>
      <vt:lpstr>Data Definition Language (DDL</vt:lpstr>
      <vt:lpstr>Data Manipulation Language (DML)</vt:lpstr>
      <vt:lpstr>Data Control Language (DCL)</vt:lpstr>
      <vt:lpstr>Some of The Most Important SQL Commands</vt:lpstr>
      <vt:lpstr>SQL SELECT Statement</vt:lpstr>
      <vt:lpstr>PowerPoint Presentation</vt:lpstr>
      <vt:lpstr>PowerPoint Presentation</vt:lpstr>
      <vt:lpstr>The SQL SELECT DISTINCT Statement</vt:lpstr>
      <vt:lpstr>The SQL WHERE Clause </vt:lpstr>
      <vt:lpstr>Operators in The WHERE Clause</vt:lpstr>
      <vt:lpstr>The SQL AND &amp; OR Operators</vt:lpstr>
      <vt:lpstr>AND Operator Example</vt:lpstr>
      <vt:lpstr>OR Operator Example</vt:lpstr>
      <vt:lpstr>Combining AND &amp; OR</vt:lpstr>
      <vt:lpstr>The SQL SELECT TOP Clause</vt:lpstr>
      <vt:lpstr>SQL LIKE Operator</vt:lpstr>
      <vt:lpstr>LIKE Operator….</vt:lpstr>
      <vt:lpstr>SQL Wildcards</vt:lpstr>
      <vt:lpstr>Using the SQL _ Wildcard</vt:lpstr>
      <vt:lpstr>Regular Expressions</vt:lpstr>
      <vt:lpstr>REGEXP operator Patterns</vt:lpstr>
      <vt:lpstr>REGEXP Examples</vt:lpstr>
      <vt:lpstr>SQL IN Operator</vt:lpstr>
      <vt:lpstr>SQL BETWEEN Operator</vt:lpstr>
      <vt:lpstr>SQL ORDER BY Keyword</vt:lpstr>
      <vt:lpstr>ORDER BY Examples</vt:lpstr>
      <vt:lpstr>SQL Functions</vt:lpstr>
      <vt:lpstr>Aggregate Functions</vt:lpstr>
      <vt:lpstr>AVG() Function</vt:lpstr>
      <vt:lpstr>SQL COUNT() Function</vt:lpstr>
      <vt:lpstr>SQL COUNT(*) Syntax</vt:lpstr>
      <vt:lpstr>SQL MAX() Function</vt:lpstr>
      <vt:lpstr>SQL MIN() Function</vt:lpstr>
      <vt:lpstr>SQL SUM() Function</vt:lpstr>
      <vt:lpstr>SQL GROUP BY Statement</vt:lpstr>
      <vt:lpstr>SQL GROUP BY Example</vt:lpstr>
      <vt:lpstr>Scalar functions</vt:lpstr>
      <vt:lpstr>SQL UCASE() Function</vt:lpstr>
      <vt:lpstr>SQL LCASE() Function</vt:lpstr>
      <vt:lpstr>SQL MID() Function</vt:lpstr>
      <vt:lpstr>SQL LEN() Function</vt:lpstr>
      <vt:lpstr>SQL ROUND() Function</vt:lpstr>
      <vt:lpstr>SQL NOW() Function</vt:lpstr>
      <vt:lpstr>SQL FORMAT() Function</vt:lpstr>
      <vt:lpstr>SQL Joins</vt:lpstr>
      <vt:lpstr>Different SQL JOINs</vt:lpstr>
      <vt:lpstr>SQL INNER JOIN</vt:lpstr>
      <vt:lpstr>INNER JOIN Example</vt:lpstr>
      <vt:lpstr>SQL LEFT JOIN Keyword</vt:lpstr>
      <vt:lpstr>SQL LEFT JOIN Example</vt:lpstr>
      <vt:lpstr>SQL RIGHT JOIN Keyword</vt:lpstr>
      <vt:lpstr>SQL FULL OUTER JOIN Keyword</vt:lpstr>
      <vt:lpstr>Self Join</vt:lpstr>
      <vt:lpstr>Self Join</vt:lpstr>
      <vt:lpstr>SQL SELECT INTO Statement</vt:lpstr>
      <vt:lpstr>Sub Queries</vt:lpstr>
      <vt:lpstr>Sub Queries</vt:lpstr>
      <vt:lpstr>Examples</vt:lpstr>
      <vt:lpstr>Manipulating Data</vt:lpstr>
      <vt:lpstr>SQL INSERT INTO Statement</vt:lpstr>
      <vt:lpstr>INSERT INTO Statement…</vt:lpstr>
      <vt:lpstr>SQL UPDATE Statement</vt:lpstr>
      <vt:lpstr>Update Warning!</vt:lpstr>
      <vt:lpstr>SQL DELETE Statement</vt:lpstr>
      <vt:lpstr>Delete All Data</vt:lpstr>
      <vt:lpstr>DDL</vt:lpstr>
      <vt:lpstr>DDL Commands</vt:lpstr>
      <vt:lpstr>DDL Commands</vt:lpstr>
      <vt:lpstr>SQL CREATE DATABASE Statement</vt:lpstr>
      <vt:lpstr>SQL CREATE TABLE Statement-DDL</vt:lpstr>
      <vt:lpstr>CREATE TABLE….</vt:lpstr>
      <vt:lpstr>SQL Data Types</vt:lpstr>
      <vt:lpstr>Data Types….</vt:lpstr>
      <vt:lpstr>PowerPoint Presentation</vt:lpstr>
      <vt:lpstr>PowerPoint Presentation</vt:lpstr>
      <vt:lpstr>SQL Constraints</vt:lpstr>
      <vt:lpstr>SQL Constraints….</vt:lpstr>
      <vt:lpstr>SQL Constraints….</vt:lpstr>
      <vt:lpstr>SQL NOT NULL Constraint</vt:lpstr>
      <vt:lpstr>SQL UNIQUE Constraint</vt:lpstr>
      <vt:lpstr>UNIQUE Constraint on CREATE TABLE</vt:lpstr>
      <vt:lpstr>SQL PRIMARY KEY Constraint</vt:lpstr>
      <vt:lpstr>PRIMARY KEY Constraint on CREATE TABLE</vt:lpstr>
      <vt:lpstr>Candidate Key</vt:lpstr>
      <vt:lpstr>Candidate Key – Key Characterstics</vt:lpstr>
      <vt:lpstr>Candidate Key – Example</vt:lpstr>
      <vt:lpstr>SQL FOREIGN KEY Constraint</vt:lpstr>
      <vt:lpstr>FOREIGN KEY Constraint…</vt:lpstr>
      <vt:lpstr>FOREIGN KEY Constraint Syntax</vt:lpstr>
      <vt:lpstr>SQL CHECK Constraint</vt:lpstr>
      <vt:lpstr>CHECK Constraint on CREATE TABLE</vt:lpstr>
      <vt:lpstr>SQL DEFAULT Constraint</vt:lpstr>
      <vt:lpstr>CASCADE</vt:lpstr>
      <vt:lpstr>ON UPDATE CASCADE</vt:lpstr>
      <vt:lpstr>Benefits of using CASCADE</vt:lpstr>
      <vt:lpstr>SQL Views</vt:lpstr>
      <vt:lpstr>Views</vt:lpstr>
      <vt:lpstr>CREATE VIEW Examples</vt:lpstr>
      <vt:lpstr>CREATE VIEW Examples</vt:lpstr>
      <vt:lpstr>SQL CREATE INDEX Statement</vt:lpstr>
      <vt:lpstr>SQL CREATE INDEX Syntax</vt:lpstr>
      <vt:lpstr>CREATE INDEX Example</vt:lpstr>
      <vt:lpstr>SQL DROP</vt:lpstr>
      <vt:lpstr>The ALTER TABLE Statement</vt:lpstr>
      <vt:lpstr>Create User Accounts Using MySQL</vt:lpstr>
      <vt:lpstr>Create User</vt:lpstr>
      <vt:lpstr>SHOW GRANTS</vt:lpstr>
      <vt:lpstr>GRANT PRIVILAGES</vt:lpstr>
      <vt:lpstr>Revoking Privileges From Users</vt:lpstr>
      <vt:lpstr>Backup &amp; Restore MySQL Database</vt:lpstr>
      <vt:lpstr>mysqldump</vt:lpstr>
      <vt:lpstr>mysqldump</vt:lpstr>
      <vt:lpstr>MySQL Replication</vt:lpstr>
      <vt:lpstr>PHP + MySQL</vt:lpstr>
      <vt:lpstr>A Sample PHP Code</vt:lpstr>
      <vt:lpstr>PHP Connect to the MySQL Server</vt:lpstr>
      <vt:lpstr>Insert Data From a Form Into a Database</vt:lpstr>
      <vt:lpstr>Inert.php</vt:lpstr>
      <vt:lpstr>Display the Result in an HTML 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raj</dc:creator>
  <cp:lastModifiedBy>Raj Gs</cp:lastModifiedBy>
  <cp:revision>99</cp:revision>
  <dcterms:created xsi:type="dcterms:W3CDTF">2013-10-24T00:14:38Z</dcterms:created>
  <dcterms:modified xsi:type="dcterms:W3CDTF">2026-07-02T10:39:20Z</dcterms:modified>
</cp:coreProperties>
</file>