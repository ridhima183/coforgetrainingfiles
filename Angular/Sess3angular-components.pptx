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4" r:id="rId9"/>
    <p:sldId id="285" r:id="rId10"/>
    <p:sldId id="286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1" r:id="rId29"/>
    <p:sldId id="282" r:id="rId30"/>
    <p:sldId id="283" r:id="rId31"/>
    <p:sldId id="280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5B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03" d="100"/>
          <a:sy n="103" d="100"/>
        </p:scale>
        <p:origin x="8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E62897-286D-4F91-AE9E-52DDEC7F1792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n-IN"/>
        </a:p>
      </dgm:t>
    </dgm:pt>
    <dgm:pt modelId="{877F52EB-FCA5-46D9-ABF7-720C9D168FF7}">
      <dgm:prSet/>
      <dgm:spPr/>
      <dgm:t>
        <a:bodyPr/>
        <a:lstStyle/>
        <a:p>
          <a:r>
            <a:rPr lang="en-IN" b="1"/>
            <a:t>The Component is the main building block of an Angular Application.</a:t>
          </a:r>
        </a:p>
      </dgm:t>
    </dgm:pt>
    <dgm:pt modelId="{E3B6538F-9F13-4E20-8D80-005F1A2CF302}" type="parTrans" cxnId="{AE192B0C-9F55-4E92-A1E9-2CDF4BDFFADA}">
      <dgm:prSet/>
      <dgm:spPr/>
      <dgm:t>
        <a:bodyPr/>
        <a:lstStyle/>
        <a:p>
          <a:endParaRPr lang="en-IN" b="1"/>
        </a:p>
      </dgm:t>
    </dgm:pt>
    <dgm:pt modelId="{8EC632F6-E655-45BD-93FD-2DB9E2A748C7}" type="sibTrans" cxnId="{AE192B0C-9F55-4E92-A1E9-2CDF4BDFFADA}">
      <dgm:prSet/>
      <dgm:spPr/>
      <dgm:t>
        <a:bodyPr/>
        <a:lstStyle/>
        <a:p>
          <a:endParaRPr lang="en-IN" b="1"/>
        </a:p>
      </dgm:t>
    </dgm:pt>
    <dgm:pt modelId="{7167C2CF-534B-4585-B53F-C31911D3A6D4}">
      <dgm:prSet/>
      <dgm:spPr/>
      <dgm:t>
        <a:bodyPr/>
        <a:lstStyle/>
        <a:p>
          <a:r>
            <a:rPr lang="en-IN" b="1" dirty="0"/>
            <a:t>The Component contains the data &amp; user interaction logic that defines how the View looks and behaves. </a:t>
          </a:r>
          <a:br>
            <a:rPr lang="en-IN" b="1" dirty="0"/>
          </a:br>
          <a:endParaRPr lang="en-IN" b="1" dirty="0"/>
        </a:p>
      </dgm:t>
    </dgm:pt>
    <dgm:pt modelId="{E30289B4-7DF1-4B79-BF7D-27D70A82BA7D}" type="parTrans" cxnId="{EA73A28D-C436-43C9-8920-DE98715ABBEA}">
      <dgm:prSet/>
      <dgm:spPr/>
      <dgm:t>
        <a:bodyPr/>
        <a:lstStyle/>
        <a:p>
          <a:endParaRPr lang="en-IN" b="1"/>
        </a:p>
      </dgm:t>
    </dgm:pt>
    <dgm:pt modelId="{A3F592DA-ED26-4131-8494-28B236535C75}" type="sibTrans" cxnId="{EA73A28D-C436-43C9-8920-DE98715ABBEA}">
      <dgm:prSet/>
      <dgm:spPr/>
      <dgm:t>
        <a:bodyPr/>
        <a:lstStyle/>
        <a:p>
          <a:endParaRPr lang="en-IN" b="1"/>
        </a:p>
      </dgm:t>
    </dgm:pt>
    <dgm:pt modelId="{42870C84-7266-4698-A3A8-136A268FA8D3}">
      <dgm:prSet/>
      <dgm:spPr/>
      <dgm:t>
        <a:bodyPr/>
        <a:lstStyle/>
        <a:p>
          <a:r>
            <a:rPr lang="en-IN" b="1"/>
            <a:t>A view in Angular refers to a template (HTML).</a:t>
          </a:r>
        </a:p>
      </dgm:t>
    </dgm:pt>
    <dgm:pt modelId="{DD7AD11E-7BA2-42F0-A304-74D048DB234A}" type="parTrans" cxnId="{9A85FE97-C9B8-479C-8A64-5129A52D6B1A}">
      <dgm:prSet/>
      <dgm:spPr/>
      <dgm:t>
        <a:bodyPr/>
        <a:lstStyle/>
        <a:p>
          <a:endParaRPr lang="en-IN" b="1"/>
        </a:p>
      </dgm:t>
    </dgm:pt>
    <dgm:pt modelId="{0E9F15F9-25FB-4CF9-8713-58FBFEF9884E}" type="sibTrans" cxnId="{9A85FE97-C9B8-479C-8A64-5129A52D6B1A}">
      <dgm:prSet/>
      <dgm:spPr/>
      <dgm:t>
        <a:bodyPr/>
        <a:lstStyle/>
        <a:p>
          <a:endParaRPr lang="en-IN" b="1"/>
        </a:p>
      </dgm:t>
    </dgm:pt>
    <dgm:pt modelId="{5DB7ABE8-D8E6-4AC7-9EBE-1F46AD17D5D7}">
      <dgm:prSet/>
      <dgm:spPr/>
      <dgm:t>
        <a:bodyPr/>
        <a:lstStyle/>
        <a:p>
          <a:r>
            <a:rPr lang="en-IN" b="1"/>
            <a:t>The Angular Components are plain JavaScript/Type Script classes and defined using @Component Decorator. </a:t>
          </a:r>
        </a:p>
      </dgm:t>
    </dgm:pt>
    <dgm:pt modelId="{6651C14E-2220-4F63-BAC6-D05645504BE9}" type="parTrans" cxnId="{68C79505-73D1-49B6-B5C2-1172D050C1F7}">
      <dgm:prSet/>
      <dgm:spPr/>
      <dgm:t>
        <a:bodyPr/>
        <a:lstStyle/>
        <a:p>
          <a:endParaRPr lang="en-IN" b="1"/>
        </a:p>
      </dgm:t>
    </dgm:pt>
    <dgm:pt modelId="{FFAD6E09-3940-4173-B16F-8AAA519A551A}" type="sibTrans" cxnId="{68C79505-73D1-49B6-B5C2-1172D050C1F7}">
      <dgm:prSet/>
      <dgm:spPr/>
      <dgm:t>
        <a:bodyPr/>
        <a:lstStyle/>
        <a:p>
          <a:endParaRPr lang="en-IN" b="1"/>
        </a:p>
      </dgm:t>
    </dgm:pt>
    <dgm:pt modelId="{31709E39-26FB-487B-A5F6-51B0F3301A49}">
      <dgm:prSet/>
      <dgm:spPr/>
      <dgm:t>
        <a:bodyPr/>
        <a:lstStyle/>
        <a:p>
          <a:r>
            <a:rPr lang="en-IN" b="1"/>
            <a:t>This Decorator provides the component with the View to display &amp; Metadata about the Component</a:t>
          </a:r>
        </a:p>
      </dgm:t>
    </dgm:pt>
    <dgm:pt modelId="{2AF2E41F-5BF9-4525-ABDB-698EFFEF6DF2}" type="parTrans" cxnId="{EF1050D3-2438-4676-91F3-C0D0DD67F326}">
      <dgm:prSet/>
      <dgm:spPr/>
      <dgm:t>
        <a:bodyPr/>
        <a:lstStyle/>
        <a:p>
          <a:endParaRPr lang="en-IN" b="1"/>
        </a:p>
      </dgm:t>
    </dgm:pt>
    <dgm:pt modelId="{06C19AB6-5FB9-46DF-ADA4-0011E0BBCEA7}" type="sibTrans" cxnId="{EF1050D3-2438-4676-91F3-C0D0DD67F326}">
      <dgm:prSet/>
      <dgm:spPr/>
      <dgm:t>
        <a:bodyPr/>
        <a:lstStyle/>
        <a:p>
          <a:endParaRPr lang="en-IN" b="1"/>
        </a:p>
      </dgm:t>
    </dgm:pt>
    <dgm:pt modelId="{6FCDA9A1-76E2-4E5C-BED5-815C3729A275}" type="pres">
      <dgm:prSet presAssocID="{DBE62897-286D-4F91-AE9E-52DDEC7F1792}" presName="linear" presStyleCnt="0">
        <dgm:presLayoutVars>
          <dgm:animLvl val="lvl"/>
          <dgm:resizeHandles val="exact"/>
        </dgm:presLayoutVars>
      </dgm:prSet>
      <dgm:spPr/>
    </dgm:pt>
    <dgm:pt modelId="{497147C7-30AC-48D7-A065-109556850F2B}" type="pres">
      <dgm:prSet presAssocID="{877F52EB-FCA5-46D9-ABF7-720C9D168FF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245F028-FB39-4A55-B97F-200753BAB845}" type="pres">
      <dgm:prSet presAssocID="{8EC632F6-E655-45BD-93FD-2DB9E2A748C7}" presName="spacer" presStyleCnt="0"/>
      <dgm:spPr/>
    </dgm:pt>
    <dgm:pt modelId="{B813B5DD-83C9-49DA-8976-1125C4567EF8}" type="pres">
      <dgm:prSet presAssocID="{7167C2CF-534B-4585-B53F-C31911D3A6D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0C3EAC1-BB84-4329-9C6D-7FCB5751873E}" type="pres">
      <dgm:prSet presAssocID="{A3F592DA-ED26-4131-8494-28B236535C75}" presName="spacer" presStyleCnt="0"/>
      <dgm:spPr/>
    </dgm:pt>
    <dgm:pt modelId="{186AF04C-92BA-4E66-B1A4-5E4635DB72BF}" type="pres">
      <dgm:prSet presAssocID="{42870C84-7266-4698-A3A8-136A268FA8D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E534943-FA1C-4C16-8BAA-B93230C65898}" type="pres">
      <dgm:prSet presAssocID="{0E9F15F9-25FB-4CF9-8713-58FBFEF9884E}" presName="spacer" presStyleCnt="0"/>
      <dgm:spPr/>
    </dgm:pt>
    <dgm:pt modelId="{DA3FEDF0-F1CB-4E24-B13F-43A9BA21CBE0}" type="pres">
      <dgm:prSet presAssocID="{5DB7ABE8-D8E6-4AC7-9EBE-1F46AD17D5D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7758C95-CEA4-4EB2-8992-B7DFE4F39D01}" type="pres">
      <dgm:prSet presAssocID="{FFAD6E09-3940-4173-B16F-8AAA519A551A}" presName="spacer" presStyleCnt="0"/>
      <dgm:spPr/>
    </dgm:pt>
    <dgm:pt modelId="{51E28D64-FA25-466B-8649-3741858BE6C5}" type="pres">
      <dgm:prSet presAssocID="{31709E39-26FB-487B-A5F6-51B0F3301A4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8C79505-73D1-49B6-B5C2-1172D050C1F7}" srcId="{DBE62897-286D-4F91-AE9E-52DDEC7F1792}" destId="{5DB7ABE8-D8E6-4AC7-9EBE-1F46AD17D5D7}" srcOrd="3" destOrd="0" parTransId="{6651C14E-2220-4F63-BAC6-D05645504BE9}" sibTransId="{FFAD6E09-3940-4173-B16F-8AAA519A551A}"/>
    <dgm:cxn modelId="{AE192B0C-9F55-4E92-A1E9-2CDF4BDFFADA}" srcId="{DBE62897-286D-4F91-AE9E-52DDEC7F1792}" destId="{877F52EB-FCA5-46D9-ABF7-720C9D168FF7}" srcOrd="0" destOrd="0" parTransId="{E3B6538F-9F13-4E20-8D80-005F1A2CF302}" sibTransId="{8EC632F6-E655-45BD-93FD-2DB9E2A748C7}"/>
    <dgm:cxn modelId="{764F7A16-9FFF-49E6-A5EE-C66C5C1C3E35}" type="presOf" srcId="{DBE62897-286D-4F91-AE9E-52DDEC7F1792}" destId="{6FCDA9A1-76E2-4E5C-BED5-815C3729A275}" srcOrd="0" destOrd="0" presId="urn:microsoft.com/office/officeart/2005/8/layout/vList2"/>
    <dgm:cxn modelId="{CDC7B089-BEF8-4F9E-B9A4-528182DE576C}" type="presOf" srcId="{7167C2CF-534B-4585-B53F-C31911D3A6D4}" destId="{B813B5DD-83C9-49DA-8976-1125C4567EF8}" srcOrd="0" destOrd="0" presId="urn:microsoft.com/office/officeart/2005/8/layout/vList2"/>
    <dgm:cxn modelId="{EA73A28D-C436-43C9-8920-DE98715ABBEA}" srcId="{DBE62897-286D-4F91-AE9E-52DDEC7F1792}" destId="{7167C2CF-534B-4585-B53F-C31911D3A6D4}" srcOrd="1" destOrd="0" parTransId="{E30289B4-7DF1-4B79-BF7D-27D70A82BA7D}" sibTransId="{A3F592DA-ED26-4131-8494-28B236535C75}"/>
    <dgm:cxn modelId="{9A85FE97-C9B8-479C-8A64-5129A52D6B1A}" srcId="{DBE62897-286D-4F91-AE9E-52DDEC7F1792}" destId="{42870C84-7266-4698-A3A8-136A268FA8D3}" srcOrd="2" destOrd="0" parTransId="{DD7AD11E-7BA2-42F0-A304-74D048DB234A}" sibTransId="{0E9F15F9-25FB-4CF9-8713-58FBFEF9884E}"/>
    <dgm:cxn modelId="{7665D2BD-5E67-4131-8495-B4252BB97E62}" type="presOf" srcId="{42870C84-7266-4698-A3A8-136A268FA8D3}" destId="{186AF04C-92BA-4E66-B1A4-5E4635DB72BF}" srcOrd="0" destOrd="0" presId="urn:microsoft.com/office/officeart/2005/8/layout/vList2"/>
    <dgm:cxn modelId="{EF1050D3-2438-4676-91F3-C0D0DD67F326}" srcId="{DBE62897-286D-4F91-AE9E-52DDEC7F1792}" destId="{31709E39-26FB-487B-A5F6-51B0F3301A49}" srcOrd="4" destOrd="0" parTransId="{2AF2E41F-5BF9-4525-ABDB-698EFFEF6DF2}" sibTransId="{06C19AB6-5FB9-46DF-ADA4-0011E0BBCEA7}"/>
    <dgm:cxn modelId="{A9D303D9-3E9A-4A6D-9072-8513185AC16F}" type="presOf" srcId="{31709E39-26FB-487B-A5F6-51B0F3301A49}" destId="{51E28D64-FA25-466B-8649-3741858BE6C5}" srcOrd="0" destOrd="0" presId="urn:microsoft.com/office/officeart/2005/8/layout/vList2"/>
    <dgm:cxn modelId="{E6048BD9-8001-4F71-A76F-A49ACE3DD0A1}" type="presOf" srcId="{877F52EB-FCA5-46D9-ABF7-720C9D168FF7}" destId="{497147C7-30AC-48D7-A065-109556850F2B}" srcOrd="0" destOrd="0" presId="urn:microsoft.com/office/officeart/2005/8/layout/vList2"/>
    <dgm:cxn modelId="{E1BE23EE-9ABF-4429-99FA-85E2A32EC385}" type="presOf" srcId="{5DB7ABE8-D8E6-4AC7-9EBE-1F46AD17D5D7}" destId="{DA3FEDF0-F1CB-4E24-B13F-43A9BA21CBE0}" srcOrd="0" destOrd="0" presId="urn:microsoft.com/office/officeart/2005/8/layout/vList2"/>
    <dgm:cxn modelId="{055814A6-B204-4AA5-86D8-62BC2F8DCF53}" type="presParOf" srcId="{6FCDA9A1-76E2-4E5C-BED5-815C3729A275}" destId="{497147C7-30AC-48D7-A065-109556850F2B}" srcOrd="0" destOrd="0" presId="urn:microsoft.com/office/officeart/2005/8/layout/vList2"/>
    <dgm:cxn modelId="{0C2C2325-04FB-44D8-AE6D-034AB7913F06}" type="presParOf" srcId="{6FCDA9A1-76E2-4E5C-BED5-815C3729A275}" destId="{D245F028-FB39-4A55-B97F-200753BAB845}" srcOrd="1" destOrd="0" presId="urn:microsoft.com/office/officeart/2005/8/layout/vList2"/>
    <dgm:cxn modelId="{49187E7E-D07D-4E31-AB93-B4C40AEC5873}" type="presParOf" srcId="{6FCDA9A1-76E2-4E5C-BED5-815C3729A275}" destId="{B813B5DD-83C9-49DA-8976-1125C4567EF8}" srcOrd="2" destOrd="0" presId="urn:microsoft.com/office/officeart/2005/8/layout/vList2"/>
    <dgm:cxn modelId="{FEBD21F9-7F5A-47C9-9174-20A9799D77DC}" type="presParOf" srcId="{6FCDA9A1-76E2-4E5C-BED5-815C3729A275}" destId="{40C3EAC1-BB84-4329-9C6D-7FCB5751873E}" srcOrd="3" destOrd="0" presId="urn:microsoft.com/office/officeart/2005/8/layout/vList2"/>
    <dgm:cxn modelId="{531A869D-8CF1-41E8-BC0E-5B1EC4F5F284}" type="presParOf" srcId="{6FCDA9A1-76E2-4E5C-BED5-815C3729A275}" destId="{186AF04C-92BA-4E66-B1A4-5E4635DB72BF}" srcOrd="4" destOrd="0" presId="urn:microsoft.com/office/officeart/2005/8/layout/vList2"/>
    <dgm:cxn modelId="{4E9DF146-153C-4019-AE9F-AFF1E027134C}" type="presParOf" srcId="{6FCDA9A1-76E2-4E5C-BED5-815C3729A275}" destId="{0E534943-FA1C-4C16-8BAA-B93230C65898}" srcOrd="5" destOrd="0" presId="urn:microsoft.com/office/officeart/2005/8/layout/vList2"/>
    <dgm:cxn modelId="{E96FD04A-7C54-47B3-AB6C-6AFCABEDD315}" type="presParOf" srcId="{6FCDA9A1-76E2-4E5C-BED5-815C3729A275}" destId="{DA3FEDF0-F1CB-4E24-B13F-43A9BA21CBE0}" srcOrd="6" destOrd="0" presId="urn:microsoft.com/office/officeart/2005/8/layout/vList2"/>
    <dgm:cxn modelId="{717813A2-08E3-4702-8518-74F59370AD3A}" type="presParOf" srcId="{6FCDA9A1-76E2-4E5C-BED5-815C3729A275}" destId="{17758C95-CEA4-4EB2-8992-B7DFE4F39D01}" srcOrd="7" destOrd="0" presId="urn:microsoft.com/office/officeart/2005/8/layout/vList2"/>
    <dgm:cxn modelId="{DD430791-EDA4-4EB0-841C-CA67F0C10E33}" type="presParOf" srcId="{6FCDA9A1-76E2-4E5C-BED5-815C3729A275}" destId="{51E28D64-FA25-466B-8649-3741858BE6C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C385147-6109-4E70-8C3A-03C2BD9493F9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IN"/>
        </a:p>
      </dgm:t>
    </dgm:pt>
    <dgm:pt modelId="{25043A1C-844E-4D26-B81F-AC301B800A2E}">
      <dgm:prSet/>
      <dgm:spPr/>
      <dgm:t>
        <a:bodyPr/>
        <a:lstStyle/>
        <a:p>
          <a:r>
            <a:rPr lang="en-IN" b="1" dirty="0"/>
            <a:t>The Component is responsible to provide the data to the view. </a:t>
          </a:r>
          <a:endParaRPr lang="en-IN" dirty="0"/>
        </a:p>
      </dgm:t>
    </dgm:pt>
    <dgm:pt modelId="{2EFD5951-A739-4F7F-97F2-0FE5235DABD4}" type="parTrans" cxnId="{3938E65C-3A4F-4993-8B5C-DC62E11819B4}">
      <dgm:prSet/>
      <dgm:spPr/>
      <dgm:t>
        <a:bodyPr/>
        <a:lstStyle/>
        <a:p>
          <a:endParaRPr lang="en-IN"/>
        </a:p>
      </dgm:t>
    </dgm:pt>
    <dgm:pt modelId="{6887CBF5-CB13-4A9E-89DC-3802B56834B2}" type="sibTrans" cxnId="{3938E65C-3A4F-4993-8B5C-DC62E11819B4}">
      <dgm:prSet/>
      <dgm:spPr/>
      <dgm:t>
        <a:bodyPr/>
        <a:lstStyle/>
        <a:p>
          <a:endParaRPr lang="en-IN"/>
        </a:p>
      </dgm:t>
    </dgm:pt>
    <dgm:pt modelId="{8C082D9F-138E-414C-9EEE-0A866AC9ACEF}">
      <dgm:prSet/>
      <dgm:spPr/>
      <dgm:t>
        <a:bodyPr/>
        <a:lstStyle/>
        <a:p>
          <a:r>
            <a:rPr lang="en-IN" b="1" dirty="0"/>
            <a:t>The Angular does this by using data binding to get the data from the Component to the View. </a:t>
          </a:r>
          <a:endParaRPr lang="en-IN" dirty="0"/>
        </a:p>
      </dgm:t>
    </dgm:pt>
    <dgm:pt modelId="{312F79E6-E2D0-4BD3-AA98-D9671EB43212}" type="parTrans" cxnId="{06BC3A7C-2DB6-4F5D-B80B-B33D76F2F647}">
      <dgm:prSet/>
      <dgm:spPr/>
      <dgm:t>
        <a:bodyPr/>
        <a:lstStyle/>
        <a:p>
          <a:endParaRPr lang="en-IN"/>
        </a:p>
      </dgm:t>
    </dgm:pt>
    <dgm:pt modelId="{473C65E3-4AE0-4359-BC3F-2F5D702A3B55}" type="sibTrans" cxnId="{06BC3A7C-2DB6-4F5D-B80B-B33D76F2F647}">
      <dgm:prSet/>
      <dgm:spPr/>
      <dgm:t>
        <a:bodyPr/>
        <a:lstStyle/>
        <a:p>
          <a:endParaRPr lang="en-IN"/>
        </a:p>
      </dgm:t>
    </dgm:pt>
    <dgm:pt modelId="{28DACE8F-8C77-4767-BBFE-DCAFCFCAFC2A}">
      <dgm:prSet/>
      <dgm:spPr/>
      <dgm:t>
        <a:bodyPr/>
        <a:lstStyle/>
        <a:p>
          <a:r>
            <a:rPr lang="en-IN" b="1" dirty="0"/>
            <a:t>This is done using the special HTML markup knows as the Angular Template Syntax. </a:t>
          </a:r>
          <a:endParaRPr lang="en-IN" dirty="0"/>
        </a:p>
      </dgm:t>
    </dgm:pt>
    <dgm:pt modelId="{698E0644-661F-4FCD-9D66-ADB354487D34}" type="parTrans" cxnId="{93C59955-BAB3-4F87-BDCB-BCA710D33AA0}">
      <dgm:prSet/>
      <dgm:spPr/>
      <dgm:t>
        <a:bodyPr/>
        <a:lstStyle/>
        <a:p>
          <a:endParaRPr lang="en-IN"/>
        </a:p>
      </dgm:t>
    </dgm:pt>
    <dgm:pt modelId="{A65F5B81-F620-4230-ACF2-29CF837E9A6C}" type="sibTrans" cxnId="{93C59955-BAB3-4F87-BDCB-BCA710D33AA0}">
      <dgm:prSet/>
      <dgm:spPr/>
      <dgm:t>
        <a:bodyPr/>
        <a:lstStyle/>
        <a:p>
          <a:endParaRPr lang="en-IN"/>
        </a:p>
      </dgm:t>
    </dgm:pt>
    <dgm:pt modelId="{F9526B40-E3CD-4628-BC6D-0947F6B6CDFD}">
      <dgm:prSet/>
      <dgm:spPr/>
      <dgm:t>
        <a:bodyPr/>
        <a:lstStyle/>
        <a:p>
          <a:r>
            <a:rPr lang="en-IN" b="1"/>
            <a:t>The Component can also get notified when the View Changes.</a:t>
          </a:r>
          <a:endParaRPr lang="en-IN"/>
        </a:p>
      </dgm:t>
    </dgm:pt>
    <dgm:pt modelId="{ABE446F8-29EE-48DC-AC12-987F7EC196D1}" type="parTrans" cxnId="{FE55B55B-DD53-4405-B747-80F9EF1B574C}">
      <dgm:prSet/>
      <dgm:spPr/>
      <dgm:t>
        <a:bodyPr/>
        <a:lstStyle/>
        <a:p>
          <a:endParaRPr lang="en-IN"/>
        </a:p>
      </dgm:t>
    </dgm:pt>
    <dgm:pt modelId="{C40ADE72-0C8B-4C80-B52A-F2AA5FC7A054}" type="sibTrans" cxnId="{FE55B55B-DD53-4405-B747-80F9EF1B574C}">
      <dgm:prSet/>
      <dgm:spPr/>
      <dgm:t>
        <a:bodyPr/>
        <a:lstStyle/>
        <a:p>
          <a:endParaRPr lang="en-IN"/>
        </a:p>
      </dgm:t>
    </dgm:pt>
    <dgm:pt modelId="{7B48978E-ADFF-4ECB-B999-6A446CAA9CF6}">
      <dgm:prSet/>
      <dgm:spPr/>
      <dgm:t>
        <a:bodyPr/>
        <a:lstStyle/>
        <a:p>
          <a:r>
            <a:rPr lang="en-IN" b="1"/>
            <a:t>The Angular applications will have lots of components. </a:t>
          </a:r>
          <a:endParaRPr lang="en-IN"/>
        </a:p>
      </dgm:t>
    </dgm:pt>
    <dgm:pt modelId="{ED228F89-680B-4E3D-9D4F-AEBCCCBEA035}" type="parTrans" cxnId="{0FB83E34-B715-449B-A4D2-3BCEB1806D67}">
      <dgm:prSet/>
      <dgm:spPr/>
      <dgm:t>
        <a:bodyPr/>
        <a:lstStyle/>
        <a:p>
          <a:endParaRPr lang="en-IN"/>
        </a:p>
      </dgm:t>
    </dgm:pt>
    <dgm:pt modelId="{9F33531E-EE0C-4895-A2F8-D3C1E5DA0973}" type="sibTrans" cxnId="{0FB83E34-B715-449B-A4D2-3BCEB1806D67}">
      <dgm:prSet/>
      <dgm:spPr/>
      <dgm:t>
        <a:bodyPr/>
        <a:lstStyle/>
        <a:p>
          <a:endParaRPr lang="en-IN"/>
        </a:p>
      </dgm:t>
    </dgm:pt>
    <dgm:pt modelId="{1EE75B65-B5FF-4B37-9664-34CB7AEACD97}">
      <dgm:prSet/>
      <dgm:spPr/>
      <dgm:t>
        <a:bodyPr/>
        <a:lstStyle/>
        <a:p>
          <a:r>
            <a:rPr lang="en-IN" b="1"/>
            <a:t>Each component handles a small part of UI. </a:t>
          </a:r>
          <a:endParaRPr lang="en-IN"/>
        </a:p>
      </dgm:t>
    </dgm:pt>
    <dgm:pt modelId="{96FAE6D8-F67A-4659-A8CB-124EB7F326F7}" type="parTrans" cxnId="{085D051E-7E89-4702-988D-7500A88BFF56}">
      <dgm:prSet/>
      <dgm:spPr/>
      <dgm:t>
        <a:bodyPr/>
        <a:lstStyle/>
        <a:p>
          <a:endParaRPr lang="en-IN"/>
        </a:p>
      </dgm:t>
    </dgm:pt>
    <dgm:pt modelId="{3145EF09-AC7B-4636-BA04-17401F6A2FCF}" type="sibTrans" cxnId="{085D051E-7E89-4702-988D-7500A88BFF56}">
      <dgm:prSet/>
      <dgm:spPr/>
      <dgm:t>
        <a:bodyPr/>
        <a:lstStyle/>
        <a:p>
          <a:endParaRPr lang="en-IN"/>
        </a:p>
      </dgm:t>
    </dgm:pt>
    <dgm:pt modelId="{14119844-7A9D-4DAA-AAA2-ECF410A50211}">
      <dgm:prSet/>
      <dgm:spPr/>
      <dgm:t>
        <a:bodyPr/>
        <a:lstStyle/>
        <a:p>
          <a:r>
            <a:rPr lang="en-IN" b="1"/>
            <a:t>These components work together to produce the complete user interface of the application</a:t>
          </a:r>
          <a:endParaRPr lang="en-IN"/>
        </a:p>
      </dgm:t>
    </dgm:pt>
    <dgm:pt modelId="{713EA8FD-D788-4374-AD05-3EEE632EA107}" type="parTrans" cxnId="{9E3377CB-C1A4-4DF0-9BBF-540C27CD2772}">
      <dgm:prSet/>
      <dgm:spPr/>
      <dgm:t>
        <a:bodyPr/>
        <a:lstStyle/>
        <a:p>
          <a:endParaRPr lang="en-IN"/>
        </a:p>
      </dgm:t>
    </dgm:pt>
    <dgm:pt modelId="{C6C364A5-D6A7-48B6-A9F1-8E0B2653C1AE}" type="sibTrans" cxnId="{9E3377CB-C1A4-4DF0-9BBF-540C27CD2772}">
      <dgm:prSet/>
      <dgm:spPr/>
      <dgm:t>
        <a:bodyPr/>
        <a:lstStyle/>
        <a:p>
          <a:endParaRPr lang="en-IN"/>
        </a:p>
      </dgm:t>
    </dgm:pt>
    <dgm:pt modelId="{9D5EC45C-78A6-4463-B65D-09BE21513393}" type="pres">
      <dgm:prSet presAssocID="{8C385147-6109-4E70-8C3A-03C2BD9493F9}" presName="linear" presStyleCnt="0">
        <dgm:presLayoutVars>
          <dgm:animLvl val="lvl"/>
          <dgm:resizeHandles val="exact"/>
        </dgm:presLayoutVars>
      </dgm:prSet>
      <dgm:spPr/>
    </dgm:pt>
    <dgm:pt modelId="{11D0AE32-2D07-49B6-B668-2CA27D7C0C7C}" type="pres">
      <dgm:prSet presAssocID="{25043A1C-844E-4D26-B81F-AC301B800A2E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4CB3F49B-52B4-4DB7-A36A-6DDACCD257BA}" type="pres">
      <dgm:prSet presAssocID="{6887CBF5-CB13-4A9E-89DC-3802B56834B2}" presName="spacer" presStyleCnt="0"/>
      <dgm:spPr/>
    </dgm:pt>
    <dgm:pt modelId="{85261309-9438-45C2-8B21-0DAB33B33803}" type="pres">
      <dgm:prSet presAssocID="{8C082D9F-138E-414C-9EEE-0A866AC9ACEF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0F827F47-374B-4CDA-B6B3-19BA3F8992B3}" type="pres">
      <dgm:prSet presAssocID="{473C65E3-4AE0-4359-BC3F-2F5D702A3B55}" presName="spacer" presStyleCnt="0"/>
      <dgm:spPr/>
    </dgm:pt>
    <dgm:pt modelId="{E1FBB418-049B-470E-B256-59ECC23BBFF3}" type="pres">
      <dgm:prSet presAssocID="{28DACE8F-8C77-4767-BBFE-DCAFCFCAFC2A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76D2D6F3-4AB0-4ACE-A255-AC993A991644}" type="pres">
      <dgm:prSet presAssocID="{A65F5B81-F620-4230-ACF2-29CF837E9A6C}" presName="spacer" presStyleCnt="0"/>
      <dgm:spPr/>
    </dgm:pt>
    <dgm:pt modelId="{21637914-F1AD-401C-BEE6-4F236C351C44}" type="pres">
      <dgm:prSet presAssocID="{F9526B40-E3CD-4628-BC6D-0947F6B6CDFD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BE36CD24-18BB-4375-BC6F-F0802E6DB1D7}" type="pres">
      <dgm:prSet presAssocID="{C40ADE72-0C8B-4C80-B52A-F2AA5FC7A054}" presName="spacer" presStyleCnt="0"/>
      <dgm:spPr/>
    </dgm:pt>
    <dgm:pt modelId="{AA328974-D07B-4A64-BBD2-8E0987C5B98C}" type="pres">
      <dgm:prSet presAssocID="{7B48978E-ADFF-4ECB-B999-6A446CAA9CF6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EC70E28A-0043-4B4C-BB0C-DF5119166C4D}" type="pres">
      <dgm:prSet presAssocID="{9F33531E-EE0C-4895-A2F8-D3C1E5DA0973}" presName="spacer" presStyleCnt="0"/>
      <dgm:spPr/>
    </dgm:pt>
    <dgm:pt modelId="{69BCDD07-392D-40A0-81B6-21CA8447206C}" type="pres">
      <dgm:prSet presAssocID="{1EE75B65-B5FF-4B37-9664-34CB7AEACD97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0081F63E-2520-4E21-9635-A6D508D9EAFE}" type="pres">
      <dgm:prSet presAssocID="{3145EF09-AC7B-4636-BA04-17401F6A2FCF}" presName="spacer" presStyleCnt="0"/>
      <dgm:spPr/>
    </dgm:pt>
    <dgm:pt modelId="{B47D6204-3FED-4875-98E0-5B21698AA294}" type="pres">
      <dgm:prSet presAssocID="{14119844-7A9D-4DAA-AAA2-ECF410A50211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AA4D9D01-8EDE-4E3F-8C99-4A608D7E1BB4}" type="presOf" srcId="{28DACE8F-8C77-4767-BBFE-DCAFCFCAFC2A}" destId="{E1FBB418-049B-470E-B256-59ECC23BBFF3}" srcOrd="0" destOrd="0" presId="urn:microsoft.com/office/officeart/2005/8/layout/vList2"/>
    <dgm:cxn modelId="{33F3761D-A0B9-48F2-BE32-9B15B833D872}" type="presOf" srcId="{14119844-7A9D-4DAA-AAA2-ECF410A50211}" destId="{B47D6204-3FED-4875-98E0-5B21698AA294}" srcOrd="0" destOrd="0" presId="urn:microsoft.com/office/officeart/2005/8/layout/vList2"/>
    <dgm:cxn modelId="{085D051E-7E89-4702-988D-7500A88BFF56}" srcId="{8C385147-6109-4E70-8C3A-03C2BD9493F9}" destId="{1EE75B65-B5FF-4B37-9664-34CB7AEACD97}" srcOrd="5" destOrd="0" parTransId="{96FAE6D8-F67A-4659-A8CB-124EB7F326F7}" sibTransId="{3145EF09-AC7B-4636-BA04-17401F6A2FCF}"/>
    <dgm:cxn modelId="{267E4624-9E97-4679-9E3B-70925FE7CBA5}" type="presOf" srcId="{F9526B40-E3CD-4628-BC6D-0947F6B6CDFD}" destId="{21637914-F1AD-401C-BEE6-4F236C351C44}" srcOrd="0" destOrd="0" presId="urn:microsoft.com/office/officeart/2005/8/layout/vList2"/>
    <dgm:cxn modelId="{48093128-A21F-4050-BF9B-C6ABD744F701}" type="presOf" srcId="{8C082D9F-138E-414C-9EEE-0A866AC9ACEF}" destId="{85261309-9438-45C2-8B21-0DAB33B33803}" srcOrd="0" destOrd="0" presId="urn:microsoft.com/office/officeart/2005/8/layout/vList2"/>
    <dgm:cxn modelId="{0FB83E34-B715-449B-A4D2-3BCEB1806D67}" srcId="{8C385147-6109-4E70-8C3A-03C2BD9493F9}" destId="{7B48978E-ADFF-4ECB-B999-6A446CAA9CF6}" srcOrd="4" destOrd="0" parTransId="{ED228F89-680B-4E3D-9D4F-AEBCCCBEA035}" sibTransId="{9F33531E-EE0C-4895-A2F8-D3C1E5DA0973}"/>
    <dgm:cxn modelId="{FE55B55B-DD53-4405-B747-80F9EF1B574C}" srcId="{8C385147-6109-4E70-8C3A-03C2BD9493F9}" destId="{F9526B40-E3CD-4628-BC6D-0947F6B6CDFD}" srcOrd="3" destOrd="0" parTransId="{ABE446F8-29EE-48DC-AC12-987F7EC196D1}" sibTransId="{C40ADE72-0C8B-4C80-B52A-F2AA5FC7A054}"/>
    <dgm:cxn modelId="{3938E65C-3A4F-4993-8B5C-DC62E11819B4}" srcId="{8C385147-6109-4E70-8C3A-03C2BD9493F9}" destId="{25043A1C-844E-4D26-B81F-AC301B800A2E}" srcOrd="0" destOrd="0" parTransId="{2EFD5951-A739-4F7F-97F2-0FE5235DABD4}" sibTransId="{6887CBF5-CB13-4A9E-89DC-3802B56834B2}"/>
    <dgm:cxn modelId="{EA4F8644-60FA-4602-AE0E-4621EA421DC8}" type="presOf" srcId="{1EE75B65-B5FF-4B37-9664-34CB7AEACD97}" destId="{69BCDD07-392D-40A0-81B6-21CA8447206C}" srcOrd="0" destOrd="0" presId="urn:microsoft.com/office/officeart/2005/8/layout/vList2"/>
    <dgm:cxn modelId="{E9749E4A-1726-41C7-928C-01905A17B124}" type="presOf" srcId="{7B48978E-ADFF-4ECB-B999-6A446CAA9CF6}" destId="{AA328974-D07B-4A64-BBD2-8E0987C5B98C}" srcOrd="0" destOrd="0" presId="urn:microsoft.com/office/officeart/2005/8/layout/vList2"/>
    <dgm:cxn modelId="{93C59955-BAB3-4F87-BDCB-BCA710D33AA0}" srcId="{8C385147-6109-4E70-8C3A-03C2BD9493F9}" destId="{28DACE8F-8C77-4767-BBFE-DCAFCFCAFC2A}" srcOrd="2" destOrd="0" parTransId="{698E0644-661F-4FCD-9D66-ADB354487D34}" sibTransId="{A65F5B81-F620-4230-ACF2-29CF837E9A6C}"/>
    <dgm:cxn modelId="{06BC3A7C-2DB6-4F5D-B80B-B33D76F2F647}" srcId="{8C385147-6109-4E70-8C3A-03C2BD9493F9}" destId="{8C082D9F-138E-414C-9EEE-0A866AC9ACEF}" srcOrd="1" destOrd="0" parTransId="{312F79E6-E2D0-4BD3-AA98-D9671EB43212}" sibTransId="{473C65E3-4AE0-4359-BC3F-2F5D702A3B55}"/>
    <dgm:cxn modelId="{189C21AA-EC0F-48C6-B12A-D0C94CB5A72A}" type="presOf" srcId="{8C385147-6109-4E70-8C3A-03C2BD9493F9}" destId="{9D5EC45C-78A6-4463-B65D-09BE21513393}" srcOrd="0" destOrd="0" presId="urn:microsoft.com/office/officeart/2005/8/layout/vList2"/>
    <dgm:cxn modelId="{9E3377CB-C1A4-4DF0-9BBF-540C27CD2772}" srcId="{8C385147-6109-4E70-8C3A-03C2BD9493F9}" destId="{14119844-7A9D-4DAA-AAA2-ECF410A50211}" srcOrd="6" destOrd="0" parTransId="{713EA8FD-D788-4374-AD05-3EEE632EA107}" sibTransId="{C6C364A5-D6A7-48B6-A9F1-8E0B2653C1AE}"/>
    <dgm:cxn modelId="{739A73F6-040E-4B5A-A864-0709D5AEE7FE}" type="presOf" srcId="{25043A1C-844E-4D26-B81F-AC301B800A2E}" destId="{11D0AE32-2D07-49B6-B668-2CA27D7C0C7C}" srcOrd="0" destOrd="0" presId="urn:microsoft.com/office/officeart/2005/8/layout/vList2"/>
    <dgm:cxn modelId="{42F505A5-AC23-4430-87D3-5B0D43591098}" type="presParOf" srcId="{9D5EC45C-78A6-4463-B65D-09BE21513393}" destId="{11D0AE32-2D07-49B6-B668-2CA27D7C0C7C}" srcOrd="0" destOrd="0" presId="urn:microsoft.com/office/officeart/2005/8/layout/vList2"/>
    <dgm:cxn modelId="{94524579-E470-425E-8625-965699DF90F5}" type="presParOf" srcId="{9D5EC45C-78A6-4463-B65D-09BE21513393}" destId="{4CB3F49B-52B4-4DB7-A36A-6DDACCD257BA}" srcOrd="1" destOrd="0" presId="urn:microsoft.com/office/officeart/2005/8/layout/vList2"/>
    <dgm:cxn modelId="{7C375ACC-F1B6-4863-90D9-4374192B024D}" type="presParOf" srcId="{9D5EC45C-78A6-4463-B65D-09BE21513393}" destId="{85261309-9438-45C2-8B21-0DAB33B33803}" srcOrd="2" destOrd="0" presId="urn:microsoft.com/office/officeart/2005/8/layout/vList2"/>
    <dgm:cxn modelId="{DF662774-01FD-42B4-9EA8-D44DDAD7000E}" type="presParOf" srcId="{9D5EC45C-78A6-4463-B65D-09BE21513393}" destId="{0F827F47-374B-4CDA-B6B3-19BA3F8992B3}" srcOrd="3" destOrd="0" presId="urn:microsoft.com/office/officeart/2005/8/layout/vList2"/>
    <dgm:cxn modelId="{8C802ED9-848B-4FE4-9B58-8E1282667E0C}" type="presParOf" srcId="{9D5EC45C-78A6-4463-B65D-09BE21513393}" destId="{E1FBB418-049B-470E-B256-59ECC23BBFF3}" srcOrd="4" destOrd="0" presId="urn:microsoft.com/office/officeart/2005/8/layout/vList2"/>
    <dgm:cxn modelId="{C618DB79-2F2D-4F07-BE2E-8E4550B4480A}" type="presParOf" srcId="{9D5EC45C-78A6-4463-B65D-09BE21513393}" destId="{76D2D6F3-4AB0-4ACE-A255-AC993A991644}" srcOrd="5" destOrd="0" presId="urn:microsoft.com/office/officeart/2005/8/layout/vList2"/>
    <dgm:cxn modelId="{9D6F664B-516F-4094-933A-B69D6ED025B2}" type="presParOf" srcId="{9D5EC45C-78A6-4463-B65D-09BE21513393}" destId="{21637914-F1AD-401C-BEE6-4F236C351C44}" srcOrd="6" destOrd="0" presId="urn:microsoft.com/office/officeart/2005/8/layout/vList2"/>
    <dgm:cxn modelId="{46A543D1-67A5-4A5D-8E29-D25D4654BC8B}" type="presParOf" srcId="{9D5EC45C-78A6-4463-B65D-09BE21513393}" destId="{BE36CD24-18BB-4375-BC6F-F0802E6DB1D7}" srcOrd="7" destOrd="0" presId="urn:microsoft.com/office/officeart/2005/8/layout/vList2"/>
    <dgm:cxn modelId="{7154A7A4-E412-4240-876E-D789842204D0}" type="presParOf" srcId="{9D5EC45C-78A6-4463-B65D-09BE21513393}" destId="{AA328974-D07B-4A64-BBD2-8E0987C5B98C}" srcOrd="8" destOrd="0" presId="urn:microsoft.com/office/officeart/2005/8/layout/vList2"/>
    <dgm:cxn modelId="{73E4C236-31A3-4670-ADCD-F0E270978FD4}" type="presParOf" srcId="{9D5EC45C-78A6-4463-B65D-09BE21513393}" destId="{EC70E28A-0043-4B4C-BB0C-DF5119166C4D}" srcOrd="9" destOrd="0" presId="urn:microsoft.com/office/officeart/2005/8/layout/vList2"/>
    <dgm:cxn modelId="{0B238056-5381-4A4B-848B-18538F2BB462}" type="presParOf" srcId="{9D5EC45C-78A6-4463-B65D-09BE21513393}" destId="{69BCDD07-392D-40A0-81B6-21CA8447206C}" srcOrd="10" destOrd="0" presId="urn:microsoft.com/office/officeart/2005/8/layout/vList2"/>
    <dgm:cxn modelId="{1566C41D-54BE-49CF-8A35-CD4E99609B81}" type="presParOf" srcId="{9D5EC45C-78A6-4463-B65D-09BE21513393}" destId="{0081F63E-2520-4E21-9635-A6D508D9EAFE}" srcOrd="11" destOrd="0" presId="urn:microsoft.com/office/officeart/2005/8/layout/vList2"/>
    <dgm:cxn modelId="{9E9583E3-9DEE-4177-85DA-3EE7DCBA38A4}" type="presParOf" srcId="{9D5EC45C-78A6-4463-B65D-09BE21513393}" destId="{B47D6204-3FED-4875-98E0-5B21698AA294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7147C7-30AC-48D7-A065-109556850F2B}">
      <dsp:nvSpPr>
        <dsp:cNvPr id="0" name=""/>
        <dsp:cNvSpPr/>
      </dsp:nvSpPr>
      <dsp:spPr>
        <a:xfrm>
          <a:off x="0" y="60458"/>
          <a:ext cx="7574844" cy="68445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/>
            <a:t>The Component is the main building block of an Angular Application.</a:t>
          </a:r>
        </a:p>
      </dsp:txBody>
      <dsp:txXfrm>
        <a:off x="33412" y="93870"/>
        <a:ext cx="7508020" cy="617626"/>
      </dsp:txXfrm>
    </dsp:sp>
    <dsp:sp modelId="{B813B5DD-83C9-49DA-8976-1125C4567EF8}">
      <dsp:nvSpPr>
        <dsp:cNvPr id="0" name=""/>
        <dsp:cNvSpPr/>
      </dsp:nvSpPr>
      <dsp:spPr>
        <a:xfrm>
          <a:off x="0" y="782348"/>
          <a:ext cx="7574844" cy="684450"/>
        </a:xfrm>
        <a:prstGeom prst="roundRect">
          <a:avLst/>
        </a:prstGeom>
        <a:solidFill>
          <a:schemeClr val="accent4">
            <a:hueOff val="-1116192"/>
            <a:satOff val="6725"/>
            <a:lumOff val="53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 dirty="0"/>
            <a:t>The Component contains the data &amp; user interaction logic that defines how the View looks and behaves. </a:t>
          </a:r>
          <a:br>
            <a:rPr lang="en-IN" sz="1300" b="1" kern="1200" dirty="0"/>
          </a:br>
          <a:endParaRPr lang="en-IN" sz="1300" b="1" kern="1200" dirty="0"/>
        </a:p>
      </dsp:txBody>
      <dsp:txXfrm>
        <a:off x="33412" y="815760"/>
        <a:ext cx="7508020" cy="617626"/>
      </dsp:txXfrm>
    </dsp:sp>
    <dsp:sp modelId="{186AF04C-92BA-4E66-B1A4-5E4635DB72BF}">
      <dsp:nvSpPr>
        <dsp:cNvPr id="0" name=""/>
        <dsp:cNvSpPr/>
      </dsp:nvSpPr>
      <dsp:spPr>
        <a:xfrm>
          <a:off x="0" y="1504238"/>
          <a:ext cx="7574844" cy="684450"/>
        </a:xfrm>
        <a:prstGeom prst="roundRect">
          <a:avLst/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/>
            <a:t>A view in Angular refers to a template (HTML).</a:t>
          </a:r>
        </a:p>
      </dsp:txBody>
      <dsp:txXfrm>
        <a:off x="33412" y="1537650"/>
        <a:ext cx="7508020" cy="617626"/>
      </dsp:txXfrm>
    </dsp:sp>
    <dsp:sp modelId="{DA3FEDF0-F1CB-4E24-B13F-43A9BA21CBE0}">
      <dsp:nvSpPr>
        <dsp:cNvPr id="0" name=""/>
        <dsp:cNvSpPr/>
      </dsp:nvSpPr>
      <dsp:spPr>
        <a:xfrm>
          <a:off x="0" y="2226128"/>
          <a:ext cx="7574844" cy="684450"/>
        </a:xfrm>
        <a:prstGeom prst="roundRect">
          <a:avLst/>
        </a:prstGeom>
        <a:solidFill>
          <a:schemeClr val="accent4">
            <a:hueOff val="-3348577"/>
            <a:satOff val="20174"/>
            <a:lumOff val="161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/>
            <a:t>The Angular Components are plain JavaScript/Type Script classes and defined using @Component Decorator. </a:t>
          </a:r>
        </a:p>
      </dsp:txBody>
      <dsp:txXfrm>
        <a:off x="33412" y="2259540"/>
        <a:ext cx="7508020" cy="617626"/>
      </dsp:txXfrm>
    </dsp:sp>
    <dsp:sp modelId="{51E28D64-FA25-466B-8649-3741858BE6C5}">
      <dsp:nvSpPr>
        <dsp:cNvPr id="0" name=""/>
        <dsp:cNvSpPr/>
      </dsp:nvSpPr>
      <dsp:spPr>
        <a:xfrm>
          <a:off x="0" y="2948018"/>
          <a:ext cx="7574844" cy="684450"/>
        </a:xfrm>
        <a:prstGeom prst="round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/>
            <a:t>This Decorator provides the component with the View to display &amp; Metadata about the Component</a:t>
          </a:r>
        </a:p>
      </dsp:txBody>
      <dsp:txXfrm>
        <a:off x="33412" y="2981430"/>
        <a:ext cx="7508020" cy="6176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D0AE32-2D07-49B6-B668-2CA27D7C0C7C}">
      <dsp:nvSpPr>
        <dsp:cNvPr id="0" name=""/>
        <dsp:cNvSpPr/>
      </dsp:nvSpPr>
      <dsp:spPr>
        <a:xfrm>
          <a:off x="0" y="104810"/>
          <a:ext cx="7969956" cy="5323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The Component is responsible to provide the data to the view. </a:t>
          </a:r>
          <a:endParaRPr lang="en-IN" sz="1400" kern="1200" dirty="0"/>
        </a:p>
      </dsp:txBody>
      <dsp:txXfrm>
        <a:off x="25987" y="130797"/>
        <a:ext cx="7917982" cy="480376"/>
      </dsp:txXfrm>
    </dsp:sp>
    <dsp:sp modelId="{85261309-9438-45C2-8B21-0DAB33B33803}">
      <dsp:nvSpPr>
        <dsp:cNvPr id="0" name=""/>
        <dsp:cNvSpPr/>
      </dsp:nvSpPr>
      <dsp:spPr>
        <a:xfrm>
          <a:off x="0" y="677480"/>
          <a:ext cx="7969956" cy="532350"/>
        </a:xfrm>
        <a:prstGeom prst="roundRect">
          <a:avLst/>
        </a:prstGeom>
        <a:solidFill>
          <a:schemeClr val="accent3">
            <a:hueOff val="1875044"/>
            <a:satOff val="-2813"/>
            <a:lumOff val="-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The Angular does this by using data binding to get the data from the Component to the View. </a:t>
          </a:r>
          <a:endParaRPr lang="en-IN" sz="1400" kern="1200" dirty="0"/>
        </a:p>
      </dsp:txBody>
      <dsp:txXfrm>
        <a:off x="25987" y="703467"/>
        <a:ext cx="7917982" cy="480376"/>
      </dsp:txXfrm>
    </dsp:sp>
    <dsp:sp modelId="{E1FBB418-049B-470E-B256-59ECC23BBFF3}">
      <dsp:nvSpPr>
        <dsp:cNvPr id="0" name=""/>
        <dsp:cNvSpPr/>
      </dsp:nvSpPr>
      <dsp:spPr>
        <a:xfrm>
          <a:off x="0" y="1250150"/>
          <a:ext cx="7969956" cy="532350"/>
        </a:xfrm>
        <a:prstGeom prst="roundRect">
          <a:avLst/>
        </a:prstGeom>
        <a:solidFill>
          <a:schemeClr val="accent3">
            <a:hueOff val="3750088"/>
            <a:satOff val="-5627"/>
            <a:lumOff val="-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This is done using the special HTML markup knows as the Angular Template Syntax. </a:t>
          </a:r>
          <a:endParaRPr lang="en-IN" sz="1400" kern="1200" dirty="0"/>
        </a:p>
      </dsp:txBody>
      <dsp:txXfrm>
        <a:off x="25987" y="1276137"/>
        <a:ext cx="7917982" cy="480376"/>
      </dsp:txXfrm>
    </dsp:sp>
    <dsp:sp modelId="{21637914-F1AD-401C-BEE6-4F236C351C44}">
      <dsp:nvSpPr>
        <dsp:cNvPr id="0" name=""/>
        <dsp:cNvSpPr/>
      </dsp:nvSpPr>
      <dsp:spPr>
        <a:xfrm>
          <a:off x="0" y="1822820"/>
          <a:ext cx="7969956" cy="532350"/>
        </a:xfrm>
        <a:prstGeom prst="roundRect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The Component can also get notified when the View Changes.</a:t>
          </a:r>
          <a:endParaRPr lang="en-IN" sz="1400" kern="1200"/>
        </a:p>
      </dsp:txBody>
      <dsp:txXfrm>
        <a:off x="25987" y="1848807"/>
        <a:ext cx="7917982" cy="480376"/>
      </dsp:txXfrm>
    </dsp:sp>
    <dsp:sp modelId="{AA328974-D07B-4A64-BBD2-8E0987C5B98C}">
      <dsp:nvSpPr>
        <dsp:cNvPr id="0" name=""/>
        <dsp:cNvSpPr/>
      </dsp:nvSpPr>
      <dsp:spPr>
        <a:xfrm>
          <a:off x="0" y="2395490"/>
          <a:ext cx="7969956" cy="532350"/>
        </a:xfrm>
        <a:prstGeom prst="roundRect">
          <a:avLst/>
        </a:prstGeom>
        <a:solidFill>
          <a:schemeClr val="accent3">
            <a:hueOff val="7500176"/>
            <a:satOff val="-11253"/>
            <a:lumOff val="-18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The Angular applications will have lots of components. </a:t>
          </a:r>
          <a:endParaRPr lang="en-IN" sz="1400" kern="1200"/>
        </a:p>
      </dsp:txBody>
      <dsp:txXfrm>
        <a:off x="25987" y="2421477"/>
        <a:ext cx="7917982" cy="480376"/>
      </dsp:txXfrm>
    </dsp:sp>
    <dsp:sp modelId="{69BCDD07-392D-40A0-81B6-21CA8447206C}">
      <dsp:nvSpPr>
        <dsp:cNvPr id="0" name=""/>
        <dsp:cNvSpPr/>
      </dsp:nvSpPr>
      <dsp:spPr>
        <a:xfrm>
          <a:off x="0" y="2968160"/>
          <a:ext cx="7969956" cy="532350"/>
        </a:xfrm>
        <a:prstGeom prst="roundRect">
          <a:avLst/>
        </a:prstGeom>
        <a:solidFill>
          <a:schemeClr val="accent3">
            <a:hueOff val="9375220"/>
            <a:satOff val="-14067"/>
            <a:lumOff val="-22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Each component handles a small part of UI. </a:t>
          </a:r>
          <a:endParaRPr lang="en-IN" sz="1400" kern="1200"/>
        </a:p>
      </dsp:txBody>
      <dsp:txXfrm>
        <a:off x="25987" y="2994147"/>
        <a:ext cx="7917982" cy="480376"/>
      </dsp:txXfrm>
    </dsp:sp>
    <dsp:sp modelId="{B47D6204-3FED-4875-98E0-5B21698AA294}">
      <dsp:nvSpPr>
        <dsp:cNvPr id="0" name=""/>
        <dsp:cNvSpPr/>
      </dsp:nvSpPr>
      <dsp:spPr>
        <a:xfrm>
          <a:off x="0" y="3540830"/>
          <a:ext cx="7969956" cy="532350"/>
        </a:xfrm>
        <a:prstGeom prst="roundRect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These components work together to produce the complete user interface of the application</a:t>
          </a:r>
          <a:endParaRPr lang="en-IN" sz="1400" kern="1200"/>
        </a:p>
      </dsp:txBody>
      <dsp:txXfrm>
        <a:off x="25987" y="3566817"/>
        <a:ext cx="7917982" cy="4803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244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F0177D6-B419-5FBD-EDE2-F8F419D94FBF}"/>
              </a:ext>
            </a:extLst>
          </p:cNvPr>
          <p:cNvGrpSpPr/>
          <p:nvPr/>
        </p:nvGrpSpPr>
        <p:grpSpPr>
          <a:xfrm>
            <a:off x="0" y="0"/>
            <a:ext cx="9753600" cy="5486400"/>
            <a:chOff x="0" y="0"/>
            <a:chExt cx="9753600" cy="5486400"/>
          </a:xfrm>
        </p:grpSpPr>
        <p:pic>
          <p:nvPicPr>
            <p:cNvPr id="2" name="Object 1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0" y="0"/>
              <a:ext cx="9753600" cy="54864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CB6ADF6-39D9-4626-696D-1C40EEA7B9ED}"/>
                </a:ext>
              </a:extLst>
            </p:cNvPr>
            <p:cNvSpPr/>
            <p:nvPr/>
          </p:nvSpPr>
          <p:spPr>
            <a:xfrm>
              <a:off x="3838222" y="1083733"/>
              <a:ext cx="2122311" cy="485423"/>
            </a:xfrm>
            <a:prstGeom prst="rect">
              <a:avLst/>
            </a:prstGeom>
            <a:solidFill>
              <a:srgbClr val="2A5B8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3CDC51-481D-4C4D-A15C-0C4E9C234BAD}"/>
              </a:ext>
            </a:extLst>
          </p:cNvPr>
          <p:cNvSpPr txBox="1"/>
          <p:nvPr/>
        </p:nvSpPr>
        <p:spPr>
          <a:xfrm>
            <a:off x="1789288" y="378935"/>
            <a:ext cx="63612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0070C0"/>
                </a:solidFill>
              </a:rPr>
              <a:t>What is an Angular Component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03095EF-2827-4FB9-8C32-4FE6364C2F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1744893"/>
              </p:ext>
            </p:extLst>
          </p:nvPr>
        </p:nvGraphicFramePr>
        <p:xfrm>
          <a:off x="903111" y="1095442"/>
          <a:ext cx="7574844" cy="36929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2372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BB3E915-7E56-31EC-C221-51354B7DB2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7086016"/>
              </p:ext>
            </p:extLst>
          </p:nvPr>
        </p:nvGraphicFramePr>
        <p:xfrm>
          <a:off x="579864" y="902155"/>
          <a:ext cx="7969956" cy="41779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458718E-ABB9-43D4-8740-85144480FF97}"/>
              </a:ext>
            </a:extLst>
          </p:cNvPr>
          <p:cNvSpPr txBox="1"/>
          <p:nvPr/>
        </p:nvSpPr>
        <p:spPr>
          <a:xfrm>
            <a:off x="1789288" y="378935"/>
            <a:ext cx="63612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0070C0"/>
                </a:solidFill>
              </a:rPr>
              <a:t>What is an Angular Component</a:t>
            </a:r>
          </a:p>
        </p:txBody>
      </p:sp>
    </p:spTree>
    <p:extLst>
      <p:ext uri="{BB962C8B-B14F-4D97-AF65-F5344CB8AC3E}">
        <p14:creationId xmlns:p14="http://schemas.microsoft.com/office/powerpoint/2010/main" val="986777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5498DD-99AF-45F0-808E-B700E4E98F4E}"/>
              </a:ext>
            </a:extLst>
          </p:cNvPr>
          <p:cNvSpPr txBox="1"/>
          <p:nvPr/>
        </p:nvSpPr>
        <p:spPr>
          <a:xfrm>
            <a:off x="632177" y="1717596"/>
            <a:ext cx="3036712" cy="203132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dirty="0"/>
              <a:t>The Components consists of three main building blocks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Template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MetaData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8718E-ABB9-43D4-8740-85144480FF97}"/>
              </a:ext>
            </a:extLst>
          </p:cNvPr>
          <p:cNvSpPr txBox="1"/>
          <p:nvPr/>
        </p:nvSpPr>
        <p:spPr>
          <a:xfrm>
            <a:off x="1789288" y="378935"/>
            <a:ext cx="63612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0070C0"/>
                </a:solidFill>
              </a:rPr>
              <a:t>What is an Angular Component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AB693E-6DEC-40A7-A434-C02F301AC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889" y="1078390"/>
            <a:ext cx="4733925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798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907" y="0"/>
            <a:ext cx="9753600" cy="5486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3F1E90-4B6A-D2A3-6923-89A02DFC8906}"/>
              </a:ext>
            </a:extLst>
          </p:cNvPr>
          <p:cNvSpPr txBox="1"/>
          <p:nvPr/>
        </p:nvSpPr>
        <p:spPr>
          <a:xfrm>
            <a:off x="4166839" y="1367882"/>
            <a:ext cx="1553736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App.config.ts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43" y="936171"/>
            <a:ext cx="4669971" cy="37406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148654" y="101964"/>
            <a:ext cx="38887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-apple-system"/>
              </a:rPr>
              <a:t>The Big Picture</a:t>
            </a:r>
            <a:endParaRPr lang="en-IN" sz="2400" b="1" i="0" dirty="0">
              <a:solidFill>
                <a:schemeClr val="accent1">
                  <a:lumMod val="50000"/>
                </a:schemeClr>
              </a:solidFill>
              <a:effectLst/>
              <a:latin typeface="-apple-syste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74029" y="1055914"/>
            <a:ext cx="43325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Angular modules are containers of code parts that implement related domain requirements.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They let developers create apps with modular architectures and reusable code just like components.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 Angular uses </a:t>
            </a:r>
            <a:r>
              <a:rPr lang="en-IN" dirty="0" err="1">
                <a:solidFill>
                  <a:srgbClr val="C00000"/>
                </a:solidFill>
              </a:rPr>
              <a:t>NgModules</a:t>
            </a:r>
            <a:r>
              <a:rPr lang="en-IN" dirty="0">
                <a:solidFill>
                  <a:srgbClr val="0070C0"/>
                </a:solidFill>
              </a:rPr>
              <a:t> to create modules and </a:t>
            </a:r>
            <a:r>
              <a:rPr lang="en-IN" dirty="0" err="1">
                <a:solidFill>
                  <a:srgbClr val="0070C0"/>
                </a:solidFill>
              </a:rPr>
              <a:t>submodules</a:t>
            </a:r>
            <a:r>
              <a:rPr lang="en-IN" dirty="0">
                <a:solidFill>
                  <a:srgbClr val="0070C0"/>
                </a:solidFill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8092914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20036" y="394999"/>
            <a:ext cx="45576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-apple-system"/>
              </a:rPr>
              <a:t>Components &amp; Modules — Overview</a:t>
            </a:r>
            <a:endParaRPr lang="en-IN" sz="2000" b="1" i="0" dirty="0">
              <a:solidFill>
                <a:schemeClr val="accent1">
                  <a:lumMod val="75000"/>
                </a:schemeClr>
              </a:solidFill>
              <a:effectLst/>
              <a:latin typeface="-apple-system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9937" r="16702"/>
          <a:stretch/>
        </p:blipFill>
        <p:spPr>
          <a:xfrm>
            <a:off x="141514" y="795109"/>
            <a:ext cx="3777343" cy="42767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419600" y="116324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  <a:latin typeface="Lato"/>
              </a:rPr>
              <a:t>Components are made up of code and HTML template and it can have a selector, so we can call it in our HTML.</a:t>
            </a:r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016828" y="2781857"/>
            <a:ext cx="4887686" cy="369332"/>
          </a:xfrm>
          <a:prstGeom prst="rect">
            <a:avLst/>
          </a:prstGeom>
          <a:solidFill>
            <a:srgbClr val="EEEE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inherit"/>
              </a:rPr>
              <a:t>&lt;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990055"/>
                </a:solidFill>
                <a:effectLst/>
                <a:latin typeface="inherit"/>
              </a:rPr>
              <a:t>appcomponent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inherit"/>
              </a:rPr>
              <a:t>&gt;&lt;/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990055"/>
                </a:solidFill>
                <a:effectLst/>
                <a:latin typeface="inherit"/>
              </a:rPr>
              <a:t>appcomponent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inherit"/>
              </a:rPr>
              <a:t>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4993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059997"/>
            <a:ext cx="7620000" cy="32194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481523" y="220826"/>
            <a:ext cx="387958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50000"/>
                  </a:schemeClr>
                </a:solidFill>
                <a:latin typeface="Lato"/>
              </a:rPr>
              <a:t>Component Structure</a:t>
            </a:r>
            <a:endParaRPr lang="en-IN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89408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993</TotalTime>
  <Words>295</Words>
  <Application>Microsoft Office PowerPoint</Application>
  <PresentationFormat>On-screen Show (16:9)</PresentationFormat>
  <Paragraphs>56</Paragraphs>
  <Slides>31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-apple-system</vt:lpstr>
      <vt:lpstr>Arial</vt:lpstr>
      <vt:lpstr>inherit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Raja</dc:creator>
  <cp:lastModifiedBy>Raj Gs</cp:lastModifiedBy>
  <cp:revision>9</cp:revision>
  <dcterms:created xsi:type="dcterms:W3CDTF">2019-03-30T04:47:59Z</dcterms:created>
  <dcterms:modified xsi:type="dcterms:W3CDTF">2025-12-04T03:36:31Z</dcterms:modified>
</cp:coreProperties>
</file>